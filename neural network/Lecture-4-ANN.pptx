
<file path=[Content_Types].xml><?xml version="1.0" encoding="utf-8"?>
<Types xmlns="http://schemas.openxmlformats.org/package/2006/content-types">
  <Default Extension="avif" ContentType="image/avi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webextensions/webextension1.xml" ContentType="application/vnd.ms-office.webextension+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50" r:id="rId1"/>
    <p:sldMasterId id="2147483666" r:id="rId2"/>
    <p:sldMasterId id="2147483678" r:id="rId3"/>
  </p:sldMasterIdLst>
  <p:notesMasterIdLst>
    <p:notesMasterId r:id="rId41"/>
  </p:notesMasterIdLst>
  <p:sldIdLst>
    <p:sldId id="262" r:id="rId4"/>
    <p:sldId id="263" r:id="rId5"/>
    <p:sldId id="264" r:id="rId6"/>
    <p:sldId id="265" r:id="rId7"/>
    <p:sldId id="266" r:id="rId8"/>
    <p:sldId id="324" r:id="rId9"/>
    <p:sldId id="325" r:id="rId10"/>
    <p:sldId id="298" r:id="rId11"/>
    <p:sldId id="302" r:id="rId12"/>
    <p:sldId id="299" r:id="rId13"/>
    <p:sldId id="290" r:id="rId14"/>
    <p:sldId id="293" r:id="rId15"/>
    <p:sldId id="301" r:id="rId16"/>
    <p:sldId id="303" r:id="rId17"/>
    <p:sldId id="304" r:id="rId18"/>
    <p:sldId id="305" r:id="rId19"/>
    <p:sldId id="317" r:id="rId20"/>
    <p:sldId id="300" r:id="rId21"/>
    <p:sldId id="306" r:id="rId22"/>
    <p:sldId id="307" r:id="rId23"/>
    <p:sldId id="310" r:id="rId24"/>
    <p:sldId id="309" r:id="rId25"/>
    <p:sldId id="308" r:id="rId26"/>
    <p:sldId id="311" r:id="rId27"/>
    <p:sldId id="312" r:id="rId28"/>
    <p:sldId id="313" r:id="rId29"/>
    <p:sldId id="314" r:id="rId30"/>
    <p:sldId id="315" r:id="rId31"/>
    <p:sldId id="316" r:id="rId32"/>
    <p:sldId id="318" r:id="rId33"/>
    <p:sldId id="326" r:id="rId34"/>
    <p:sldId id="327" r:id="rId35"/>
    <p:sldId id="319" r:id="rId36"/>
    <p:sldId id="328" r:id="rId37"/>
    <p:sldId id="320" r:id="rId38"/>
    <p:sldId id="322" r:id="rId39"/>
    <p:sldId id="323" r:id="rId40"/>
  </p:sldIdLst>
  <p:sldSz cx="12192000" cy="6858000"/>
  <p:notesSz cx="6858000" cy="9144000"/>
  <p:embeddedFontLst>
    <p:embeddedFont>
      <p:font typeface="Cambria Math" panose="02040503050406030204" pitchFamily="18" charset="0"/>
      <p:regular r:id="rId42"/>
    </p:embeddedFont>
    <p:embeddedFont>
      <p:font typeface="Century Gothic" panose="020B0502020202020204" pitchFamily="34" charset="0"/>
      <p:regular r:id="rId43"/>
      <p:bold r:id="rId44"/>
      <p:italic r:id="rId45"/>
      <p:boldItalic r:id="rId46"/>
    </p:embeddedFont>
    <p:embeddedFont>
      <p:font typeface="Work Sans" pitchFamily="2" charset="77"/>
      <p:regular r:id="rId47"/>
      <p:italic r:id="rId48"/>
    </p:embeddedFont>
    <p:embeddedFont>
      <p:font typeface="Work Sans Medium" pitchFamily="2" charset="77"/>
      <p:regular r:id="rId49"/>
      <p:italic r:id="rId50"/>
    </p:embeddedFont>
    <p:embeddedFont>
      <p:font typeface="Work Sans SemiBold" pitchFamily="2" charset="77"/>
      <p:regular r:id="rId51"/>
      <p:bold r:id="rId52"/>
      <p:italic r:id="rId53"/>
      <p:boldItalic r:id="rId54"/>
    </p:embeddedFont>
  </p:embeddedFontLst>
  <p:custDataLst>
    <p:tags r:id="rId55"/>
  </p:custData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344" userDrawn="1">
          <p15:clr>
            <a:srgbClr val="A4A3A4"/>
          </p15:clr>
        </p15:guide>
        <p15:guide id="4" pos="597" userDrawn="1">
          <p15:clr>
            <a:srgbClr val="A4A3A4"/>
          </p15:clr>
        </p15:guide>
        <p15:guide id="5" pos="3273" userDrawn="1">
          <p15:clr>
            <a:srgbClr val="A4A3A4"/>
          </p15:clr>
        </p15:guide>
        <p15:guide id="6" pos="3500" userDrawn="1">
          <p15:clr>
            <a:srgbClr val="A4A3A4"/>
          </p15:clr>
        </p15:guide>
        <p15:guide id="7" pos="6153" userDrawn="1">
          <p15:clr>
            <a:srgbClr val="A4A3A4"/>
          </p15:clr>
        </p15:guide>
        <p15:guide id="8" orient="horz" pos="10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73"/>
    <p:restoredTop sz="73954"/>
  </p:normalViewPr>
  <p:slideViewPr>
    <p:cSldViewPr snapToGrid="0" showGuides="1">
      <p:cViewPr varScale="1">
        <p:scale>
          <a:sx n="84" d="100"/>
          <a:sy n="84" d="100"/>
        </p:scale>
        <p:origin x="208" y="248"/>
      </p:cViewPr>
      <p:guideLst>
        <p:guide orient="horz" pos="2160"/>
        <p:guide pos="3840"/>
        <p:guide orient="horz" pos="1344"/>
        <p:guide pos="597"/>
        <p:guide pos="3273"/>
        <p:guide pos="3500"/>
        <p:guide pos="6153"/>
        <p:guide orient="horz" pos="1026"/>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tags" Target="tags/tag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font" Target="fonts/font10.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5.fntdata"/><Relationship Id="rId59"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notesMaster" Target="notesMasters/notesMaster1.xml"/><Relationship Id="rId54"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8.fntdata"/><Relationship Id="rId57" Type="http://schemas.openxmlformats.org/officeDocument/2006/relationships/viewProps" Target="view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3.fntdata"/><Relationship Id="rId5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E67863-098D-7443-8C24-5FBC4AB783A3}" type="datetimeFigureOut">
              <a:t>2/23/26</a:t>
            </a:fld>
            <a:endParaRPr lang="en-GB"/>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GB"/>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31592-3C66-914C-8F2B-350F777116DA}" type="slidenum">
              <a:t>‹#›</a:t>
            </a:fld>
            <a:endParaRPr lang="en-GB"/>
          </a:p>
        </p:txBody>
      </p:sp>
    </p:spTree>
    <p:extLst>
      <p:ext uri="{BB962C8B-B14F-4D97-AF65-F5344CB8AC3E}">
        <p14:creationId xmlns:p14="http://schemas.microsoft.com/office/powerpoint/2010/main" val="3567713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GB"/>
          </a:p>
        </p:txBody>
      </p:sp>
      <p:sp>
        <p:nvSpPr>
          <p:cNvPr id="4" name="Platshållare för bildnummer 3"/>
          <p:cNvSpPr>
            <a:spLocks noGrp="1"/>
          </p:cNvSpPr>
          <p:nvPr>
            <p:ph type="sldNum" sz="quarter" idx="5"/>
          </p:nvPr>
        </p:nvSpPr>
        <p:spPr/>
        <p:txBody>
          <a:bodyPr/>
          <a:lstStyle/>
          <a:p>
            <a:fld id="{FAD31592-3C66-914C-8F2B-350F777116DA}" type="slidenum">
              <a:t>1</a:t>
            </a:fld>
            <a:endParaRPr lang="en-GB"/>
          </a:p>
        </p:txBody>
      </p:sp>
    </p:spTree>
    <p:extLst>
      <p:ext uri="{BB962C8B-B14F-4D97-AF65-F5344CB8AC3E}">
        <p14:creationId xmlns:p14="http://schemas.microsoft.com/office/powerpoint/2010/main" val="2944327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"Going to a Party" Analogy</a:t>
            </a:r>
          </a:p>
          <a:p>
            <a:r>
              <a:rPr lang="en-US" sz="1200" b="1" kern="1200" dirty="0">
                <a:solidFill>
                  <a:schemeClr val="tx1"/>
                </a:solidFill>
                <a:effectLst/>
                <a:latin typeface="+mn-lt"/>
                <a:ea typeface="+mn-ea"/>
                <a:cs typeface="+mn-cs"/>
              </a:rPr>
              <a:t>Inputs ($x$):</a:t>
            </a:r>
            <a:r>
              <a:rPr lang="en-US" sz="1200" kern="1200" dirty="0">
                <a:solidFill>
                  <a:schemeClr val="tx1"/>
                </a:solidFill>
                <a:effectLst/>
                <a:latin typeface="+mn-lt"/>
                <a:ea typeface="+mn-ea"/>
                <a:cs typeface="+mn-cs"/>
              </a:rPr>
              <a:t> The raw facts of the situation (e.g., Is it raining? Are your friends going?).</a:t>
            </a:r>
          </a:p>
          <a:p>
            <a:r>
              <a:rPr lang="en-US" sz="1200" b="1" kern="1200" dirty="0">
                <a:solidFill>
                  <a:schemeClr val="tx1"/>
                </a:solidFill>
                <a:effectLst/>
                <a:latin typeface="+mn-lt"/>
                <a:ea typeface="+mn-ea"/>
                <a:cs typeface="+mn-cs"/>
              </a:rPr>
              <a:t>Weights ($w$):</a:t>
            </a:r>
            <a:r>
              <a:rPr lang="en-US" sz="1200" kern="1200" dirty="0">
                <a:solidFill>
                  <a:schemeClr val="tx1"/>
                </a:solidFill>
                <a:effectLst/>
                <a:latin typeface="+mn-lt"/>
                <a:ea typeface="+mn-ea"/>
                <a:cs typeface="+mn-cs"/>
              </a:rPr>
              <a:t> How much you personally care about each fact (e.g., You hate rain, so rain gets a large negative weight).</a:t>
            </a:r>
          </a:p>
          <a:p>
            <a:r>
              <a:rPr lang="en-US" sz="1200" b="1" kern="1200" dirty="0">
                <a:solidFill>
                  <a:schemeClr val="tx1"/>
                </a:solidFill>
                <a:effectLst/>
                <a:latin typeface="+mn-lt"/>
                <a:ea typeface="+mn-ea"/>
                <a:cs typeface="+mn-cs"/>
              </a:rPr>
              <a:t>Bias ($b$):</a:t>
            </a:r>
            <a:r>
              <a:rPr lang="en-US" sz="1200" kern="1200" dirty="0">
                <a:solidFill>
                  <a:schemeClr val="tx1"/>
                </a:solidFill>
                <a:effectLst/>
                <a:latin typeface="+mn-lt"/>
                <a:ea typeface="+mn-ea"/>
                <a:cs typeface="+mn-cs"/>
              </a:rPr>
              <a:t> Your baseline personality (e.g., An extrovert has a high positive bias and naturally wants to go out anyway; an introvert has a negative bias and needs a lot of strong positive input to be convinced to leave the house).</a:t>
            </a:r>
          </a:p>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7</a:t>
            </a:fld>
            <a:endParaRPr lang="en-US"/>
          </a:p>
        </p:txBody>
      </p:sp>
    </p:spTree>
    <p:extLst>
      <p:ext uri="{BB962C8B-B14F-4D97-AF65-F5344CB8AC3E}">
        <p14:creationId xmlns:p14="http://schemas.microsoft.com/office/powerpoint/2010/main" val="2806785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5a644d35c8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15a644d35c8_0_5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15a644d35c8_0_5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15a644d35c8_0_5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t>Cell State (Cᵗ)</a:t>
            </a:r>
            <a:r>
              <a:rPr lang="en-US" dirty="0"/>
              <a:t>: This represents the memory of the LSTM and can store information over long sequences. It can be updated, cleared, or read from at each time step.</a:t>
            </a:r>
          </a:p>
          <a:p>
            <a:r>
              <a:rPr lang="en-US" b="1" i="1" dirty="0"/>
              <a:t>Hidden State (Hᵗ)</a:t>
            </a:r>
            <a:r>
              <a:rPr lang="en-US" dirty="0"/>
              <a:t>: The hidden state serves as an intermediary between the cell state and the external world. It can selectively remember or forget information from the cell state and produce the output.</a:t>
            </a:r>
          </a:p>
          <a:p>
            <a:r>
              <a:rPr lang="en-US" b="1" i="1" dirty="0"/>
              <a:t>Input Gate (</a:t>
            </a:r>
            <a:r>
              <a:rPr lang="en-US" b="1" i="1" dirty="0" err="1"/>
              <a:t>i</a:t>
            </a:r>
            <a:r>
              <a:rPr lang="en-US" b="1" i="1" dirty="0"/>
              <a:t>ᵗ)</a:t>
            </a:r>
            <a:r>
              <a:rPr lang="en-US" dirty="0"/>
              <a:t>: The input gate controls the flow of information into the cell state. It can learn to accept or reject incoming data.</a:t>
            </a:r>
          </a:p>
          <a:p>
            <a:r>
              <a:rPr lang="en-US" b="1" i="1" dirty="0"/>
              <a:t>Forget Gate (fᵗ)</a:t>
            </a:r>
            <a:r>
              <a:rPr lang="en-US" dirty="0"/>
              <a:t>: The forget gate determines what information from the previous cell state should be retained and what should be discarded. It allows the LSTM to “forget” irrelevant information.</a:t>
            </a:r>
          </a:p>
          <a:p>
            <a:r>
              <a:rPr lang="en-US" b="1" i="1" dirty="0"/>
              <a:t>Output Gate (oᵗ)</a:t>
            </a:r>
            <a:r>
              <a:rPr lang="en-US" dirty="0"/>
              <a:t>: The output gate controls the information that is used to produce the output at each time step. It decides what part of the cell state should be revealed to the external world.</a:t>
            </a:r>
          </a:p>
          <a:p>
            <a:endParaRPr lang="en-US" dirty="0"/>
          </a:p>
          <a:p>
            <a:r>
              <a:rPr lang="en-US" sz="1200" b="1" kern="1200" dirty="0">
                <a:solidFill>
                  <a:schemeClr val="tx1"/>
                </a:solidFill>
                <a:effectLst/>
                <a:latin typeface="+mn-lt"/>
                <a:ea typeface="+mn-ea"/>
                <a:cs typeface="+mn-cs"/>
              </a:rPr>
              <a:t>1. Why Sigmoid for the Gates?</a:t>
            </a: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Sigmoid</a:t>
            </a:r>
            <a:r>
              <a:rPr lang="en-US" sz="1200" kern="1200" dirty="0">
                <a:solidFill>
                  <a:schemeClr val="tx1"/>
                </a:solidFill>
                <a:effectLst/>
                <a:latin typeface="+mn-lt"/>
                <a:ea typeface="+mn-ea"/>
                <a:cs typeface="+mn-cs"/>
              </a:rPr>
              <a:t> function ($\sigma$) outputs values strictly between </a:t>
            </a:r>
            <a:r>
              <a:rPr lang="en-US" sz="1200" b="1" kern="1200" dirty="0">
                <a:solidFill>
                  <a:schemeClr val="tx1"/>
                </a:solidFill>
                <a:effectLst/>
                <a:latin typeface="+mn-lt"/>
                <a:ea typeface="+mn-ea"/>
                <a:cs typeface="+mn-cs"/>
              </a:rPr>
              <a:t>0 and 1</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In the context of a "gate," this acts as a </a:t>
            </a:r>
            <a:r>
              <a:rPr lang="en-US" sz="1200" b="1" kern="1200" dirty="0">
                <a:solidFill>
                  <a:schemeClr val="tx1"/>
                </a:solidFill>
                <a:effectLst/>
                <a:latin typeface="+mn-lt"/>
                <a:ea typeface="+mn-ea"/>
                <a:cs typeface="+mn-cs"/>
              </a:rPr>
              <a:t>valve</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0:</a:t>
            </a:r>
            <a:r>
              <a:rPr lang="en-US" sz="1200" kern="1200" dirty="0">
                <a:solidFill>
                  <a:schemeClr val="tx1"/>
                </a:solidFill>
                <a:effectLst/>
                <a:latin typeface="+mn-lt"/>
                <a:ea typeface="+mn-ea"/>
                <a:cs typeface="+mn-cs"/>
              </a:rPr>
              <a:t> The gate is "closed"—no information passes through.</a:t>
            </a:r>
          </a:p>
          <a:p>
            <a:r>
              <a:rPr lang="en-US" sz="1200" b="1" kern="12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The gate is "open"—all information passes through.</a:t>
            </a:r>
          </a:p>
          <a:p>
            <a:r>
              <a:rPr lang="en-US" sz="1200" b="1" kern="1200" dirty="0">
                <a:solidFill>
                  <a:schemeClr val="tx1"/>
                </a:solidFill>
                <a:effectLst/>
                <a:latin typeface="+mn-lt"/>
                <a:ea typeface="+mn-ea"/>
                <a:cs typeface="+mn-cs"/>
              </a:rPr>
              <a:t>0.5:</a:t>
            </a:r>
            <a:r>
              <a:rPr lang="en-US" sz="1200" kern="1200" dirty="0">
                <a:solidFill>
                  <a:schemeClr val="tx1"/>
                </a:solidFill>
                <a:effectLst/>
                <a:latin typeface="+mn-lt"/>
                <a:ea typeface="+mn-ea"/>
                <a:cs typeface="+mn-cs"/>
              </a:rPr>
              <a:t> Half of the information passes through.</a:t>
            </a:r>
          </a:p>
          <a:p>
            <a:r>
              <a:rPr lang="en-US" sz="1200" kern="1200" dirty="0">
                <a:solidFill>
                  <a:schemeClr val="tx1"/>
                </a:solidFill>
                <a:effectLst/>
                <a:latin typeface="+mn-lt"/>
                <a:ea typeface="+mn-ea"/>
                <a:cs typeface="+mn-cs"/>
              </a:rPr>
              <a:t>Because the gates (Forget, Input, Output) are meant to </a:t>
            </a:r>
            <a:r>
              <a:rPr lang="en-US" sz="1200" b="1" kern="1200" dirty="0">
                <a:solidFill>
                  <a:schemeClr val="tx1"/>
                </a:solidFill>
                <a:effectLst/>
                <a:latin typeface="+mn-lt"/>
                <a:ea typeface="+mn-ea"/>
                <a:cs typeface="+mn-cs"/>
              </a:rPr>
              <a:t>filter</a:t>
            </a:r>
            <a:r>
              <a:rPr lang="en-US" sz="1200" kern="1200" dirty="0">
                <a:solidFill>
                  <a:schemeClr val="tx1"/>
                </a:solidFill>
                <a:effectLst/>
                <a:latin typeface="+mn-lt"/>
                <a:ea typeface="+mn-ea"/>
                <a:cs typeface="+mn-cs"/>
              </a:rPr>
              <a:t> or </a:t>
            </a:r>
            <a:r>
              <a:rPr lang="en-US" sz="1200" b="1" kern="1200" dirty="0">
                <a:solidFill>
                  <a:schemeClr val="tx1"/>
                </a:solidFill>
                <a:effectLst/>
                <a:latin typeface="+mn-lt"/>
                <a:ea typeface="+mn-ea"/>
                <a:cs typeface="+mn-cs"/>
              </a:rPr>
              <a:t>mask</a:t>
            </a:r>
            <a:r>
              <a:rPr lang="en-US" sz="1200" kern="1200" dirty="0">
                <a:solidFill>
                  <a:schemeClr val="tx1"/>
                </a:solidFill>
                <a:effectLst/>
                <a:latin typeface="+mn-lt"/>
                <a:ea typeface="+mn-ea"/>
                <a:cs typeface="+mn-cs"/>
              </a:rPr>
              <a:t> data, we need a function that can mathematically represent "how much" of something to keep. A function that goes negative (like Tanh) wouldn't make sense for a "percentage-based" filter.</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2. Why Tanh for the Cell and Hidden States?</a:t>
            </a: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Tanh</a:t>
            </a:r>
            <a:r>
              <a:rPr lang="en-US" sz="1200" kern="1200" dirty="0">
                <a:solidFill>
                  <a:schemeClr val="tx1"/>
                </a:solidFill>
                <a:effectLst/>
                <a:latin typeface="+mn-lt"/>
                <a:ea typeface="+mn-ea"/>
                <a:cs typeface="+mn-cs"/>
              </a:rPr>
              <a:t> function outputs values between </a:t>
            </a:r>
            <a:r>
              <a:rPr lang="en-US" sz="1200" b="1" kern="1200" dirty="0">
                <a:solidFill>
                  <a:schemeClr val="tx1"/>
                </a:solidFill>
                <a:effectLst/>
                <a:latin typeface="+mn-lt"/>
                <a:ea typeface="+mn-ea"/>
                <a:cs typeface="+mn-cs"/>
              </a:rPr>
              <a:t>-1 and 1</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LSTMs use Tanh for the </a:t>
            </a:r>
            <a:r>
              <a:rPr lang="en-US" sz="1200" b="1" kern="1200" dirty="0">
                <a:solidFill>
                  <a:schemeClr val="tx1"/>
                </a:solidFill>
                <a:effectLst/>
                <a:latin typeface="+mn-lt"/>
                <a:ea typeface="+mn-ea"/>
                <a:cs typeface="+mn-cs"/>
              </a:rPr>
              <a:t>Candidate Memory ($\tilde{C}_t$)</a:t>
            </a:r>
            <a:r>
              <a:rPr lang="en-US" sz="1200" kern="1200" dirty="0">
                <a:solidFill>
                  <a:schemeClr val="tx1"/>
                </a:solidFill>
                <a:effectLst/>
                <a:latin typeface="+mn-lt"/>
                <a:ea typeface="+mn-ea"/>
                <a:cs typeface="+mn-cs"/>
              </a:rPr>
              <a:t> and the </a:t>
            </a:r>
            <a:r>
              <a:rPr lang="en-US" sz="1200" b="1" kern="1200" dirty="0">
                <a:solidFill>
                  <a:schemeClr val="tx1"/>
                </a:solidFill>
                <a:effectLst/>
                <a:latin typeface="+mn-lt"/>
                <a:ea typeface="+mn-ea"/>
                <a:cs typeface="+mn-cs"/>
              </a:rPr>
              <a:t>Hidden State ($</a:t>
            </a:r>
            <a:r>
              <a:rPr lang="en-US" sz="1200" b="1" kern="1200" dirty="0" err="1">
                <a:solidFill>
                  <a:schemeClr val="tx1"/>
                </a:solidFill>
                <a:effectLst/>
                <a:latin typeface="+mn-lt"/>
                <a:ea typeface="+mn-ea"/>
                <a:cs typeface="+mn-cs"/>
              </a:rPr>
              <a:t>h_t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for two main reasons:</a:t>
            </a:r>
          </a:p>
          <a:p>
            <a:r>
              <a:rPr lang="en-US" sz="1200" b="1" kern="1200" dirty="0">
                <a:solidFill>
                  <a:schemeClr val="tx1"/>
                </a:solidFill>
                <a:effectLst/>
                <a:latin typeface="+mn-lt"/>
                <a:ea typeface="+mn-ea"/>
                <a:cs typeface="+mn-cs"/>
              </a:rPr>
              <a:t>A. Overcoming the "Exploding Gradient"</a:t>
            </a:r>
          </a:p>
          <a:p>
            <a:r>
              <a:rPr lang="en-US" sz="1200" kern="1200" dirty="0">
                <a:solidFill>
                  <a:schemeClr val="tx1"/>
                </a:solidFill>
                <a:effectLst/>
                <a:latin typeface="+mn-lt"/>
                <a:ea typeface="+mn-ea"/>
                <a:cs typeface="+mn-cs"/>
              </a:rPr>
              <a:t>As information flows through many time steps, the values in the cell state could grow infinitely large if we didn't regulate them. Tanh </a:t>
            </a:r>
            <a:r>
              <a:rPr lang="en-US" sz="1200" b="1" kern="1200" dirty="0">
                <a:solidFill>
                  <a:schemeClr val="tx1"/>
                </a:solidFill>
                <a:effectLst/>
                <a:latin typeface="+mn-lt"/>
                <a:ea typeface="+mn-ea"/>
                <a:cs typeface="+mn-cs"/>
              </a:rPr>
              <a:t>normalizes</a:t>
            </a:r>
            <a:r>
              <a:rPr lang="en-US" sz="1200" kern="1200" dirty="0">
                <a:solidFill>
                  <a:schemeClr val="tx1"/>
                </a:solidFill>
                <a:effectLst/>
                <a:latin typeface="+mn-lt"/>
                <a:ea typeface="+mn-ea"/>
                <a:cs typeface="+mn-cs"/>
              </a:rPr>
              <a:t> the data, squashing it back into a predictable range (-1 to 1). This keeps the math stable during long-sequence training.</a:t>
            </a:r>
          </a:p>
          <a:p>
            <a:r>
              <a:rPr lang="en-US" sz="1200" b="1" kern="1200" dirty="0">
                <a:solidFill>
                  <a:schemeClr val="tx1"/>
                </a:solidFill>
                <a:effectLst/>
                <a:latin typeface="+mn-lt"/>
                <a:ea typeface="+mn-ea"/>
                <a:cs typeface="+mn-cs"/>
              </a:rPr>
              <a:t>B. Allowing for Decreases (Negative Values)</a:t>
            </a:r>
          </a:p>
          <a:p>
            <a:r>
              <a:rPr lang="en-US" sz="1200" kern="1200" dirty="0">
                <a:solidFill>
                  <a:schemeClr val="tx1"/>
                </a:solidFill>
                <a:effectLst/>
                <a:latin typeface="+mn-lt"/>
                <a:ea typeface="+mn-ea"/>
                <a:cs typeface="+mn-cs"/>
              </a:rPr>
              <a:t>Unlike Sigmoid, Tanh can be negative. This is crucial for the cell state:</a:t>
            </a:r>
          </a:p>
          <a:p>
            <a:r>
              <a:rPr lang="en-US" sz="1200" kern="1200" dirty="0">
                <a:solidFill>
                  <a:schemeClr val="tx1"/>
                </a:solidFill>
                <a:effectLst/>
                <a:latin typeface="+mn-lt"/>
                <a:ea typeface="+mn-ea"/>
                <a:cs typeface="+mn-cs"/>
              </a:rPr>
              <a:t>If we want to </a:t>
            </a:r>
            <a:r>
              <a:rPr lang="en-US" sz="1200" b="1" kern="1200" dirty="0">
                <a:solidFill>
                  <a:schemeClr val="tx1"/>
                </a:solidFill>
                <a:effectLst/>
                <a:latin typeface="+mn-lt"/>
                <a:ea typeface="+mn-ea"/>
                <a:cs typeface="+mn-cs"/>
              </a:rPr>
              <a:t>subtract</a:t>
            </a:r>
            <a:r>
              <a:rPr lang="en-US" sz="1200" kern="1200" dirty="0">
                <a:solidFill>
                  <a:schemeClr val="tx1"/>
                </a:solidFill>
                <a:effectLst/>
                <a:latin typeface="+mn-lt"/>
                <a:ea typeface="+mn-ea"/>
                <a:cs typeface="+mn-cs"/>
              </a:rPr>
              <a:t> or "counteract" a certain feature from the memory, we need negative values.</a:t>
            </a:r>
          </a:p>
          <a:p>
            <a:r>
              <a:rPr lang="en-US" sz="1200" kern="1200" dirty="0">
                <a:solidFill>
                  <a:schemeClr val="tx1"/>
                </a:solidFill>
                <a:effectLst/>
                <a:latin typeface="+mn-lt"/>
                <a:ea typeface="+mn-ea"/>
                <a:cs typeface="+mn-cs"/>
              </a:rPr>
              <a:t>If we only used Sigmoid (0 to 1), we could only ever </a:t>
            </a:r>
            <a:r>
              <a:rPr lang="en-US" sz="1200" b="1" kern="1200" dirty="0">
                <a:solidFill>
                  <a:schemeClr val="tx1"/>
                </a:solidFill>
                <a:effectLst/>
                <a:latin typeface="+mn-lt"/>
                <a:ea typeface="+mn-ea"/>
                <a:cs typeface="+mn-cs"/>
              </a:rPr>
              <a:t>add</a:t>
            </a:r>
            <a:r>
              <a:rPr lang="en-US" sz="1200" kern="1200" dirty="0">
                <a:solidFill>
                  <a:schemeClr val="tx1"/>
                </a:solidFill>
                <a:effectLst/>
                <a:latin typeface="+mn-lt"/>
                <a:ea typeface="+mn-ea"/>
                <a:cs typeface="+mn-cs"/>
              </a:rPr>
              <a:t> to the memory, which would eventually saturate the network.</a:t>
            </a:r>
          </a:p>
          <a:p>
            <a:br>
              <a:rPr lang="en-US" dirty="0"/>
            </a:br>
            <a:endParaRPr lang="en-US" dirty="0"/>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32</a:t>
            </a:fld>
            <a:endParaRPr lang="en-US"/>
          </a:p>
        </p:txBody>
      </p:sp>
    </p:spTree>
    <p:extLst>
      <p:ext uri="{BB962C8B-B14F-4D97-AF65-F5344CB8AC3E}">
        <p14:creationId xmlns:p14="http://schemas.microsoft.com/office/powerpoint/2010/main" val="367735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Three Key Layers</a:t>
            </a:r>
          </a:p>
          <a:p>
            <a:r>
              <a:rPr lang="en-US" sz="1200" b="1" kern="1200" dirty="0">
                <a:solidFill>
                  <a:schemeClr val="tx1"/>
                </a:solidFill>
                <a:effectLst/>
                <a:latin typeface="+mn-lt"/>
                <a:ea typeface="+mn-ea"/>
                <a:cs typeface="+mn-cs"/>
              </a:rPr>
              <a:t>1. Convolutional Layer:</a:t>
            </a:r>
            <a:r>
              <a:rPr lang="en-US" sz="1200" kern="1200" dirty="0">
                <a:solidFill>
                  <a:schemeClr val="tx1"/>
                </a:solidFill>
                <a:effectLst/>
                <a:latin typeface="+mn-lt"/>
                <a:ea typeface="+mn-ea"/>
                <a:cs typeface="+mn-cs"/>
              </a:rPr>
              <a:t> It applies multiple filters to the input to extract features like edges, textures, and eventually complex shapes.</a:t>
            </a:r>
          </a:p>
          <a:p>
            <a:r>
              <a:rPr lang="en-US" sz="1200" b="1" kern="1200" dirty="0">
                <a:solidFill>
                  <a:schemeClr val="tx1"/>
                </a:solidFill>
                <a:effectLst/>
                <a:latin typeface="+mn-lt"/>
                <a:ea typeface="+mn-ea"/>
                <a:cs typeface="+mn-cs"/>
              </a:rPr>
              <a:t>2. Pooling Layer (Subsampling):</a:t>
            </a:r>
            <a:r>
              <a:rPr lang="en-US" sz="1200" kern="1200" dirty="0">
                <a:solidFill>
                  <a:schemeClr val="tx1"/>
                </a:solidFill>
                <a:effectLst/>
                <a:latin typeface="+mn-lt"/>
                <a:ea typeface="+mn-ea"/>
                <a:cs typeface="+mn-cs"/>
              </a:rPr>
              <a:t> Reduces the spatial size (Width x Height) of the data.</a:t>
            </a:r>
          </a:p>
          <a:p>
            <a:pPr lvl="1"/>
            <a:r>
              <a:rPr lang="en-US" sz="1200" b="1" kern="1200" dirty="0">
                <a:solidFill>
                  <a:schemeClr val="tx1"/>
                </a:solidFill>
                <a:effectLst/>
                <a:latin typeface="+mn-lt"/>
                <a:ea typeface="+mn-ea"/>
                <a:cs typeface="+mn-cs"/>
              </a:rPr>
              <a:t>Max Pooling:</a:t>
            </a:r>
            <a:r>
              <a:rPr lang="en-US" sz="1200" kern="1200" dirty="0">
                <a:solidFill>
                  <a:schemeClr val="tx1"/>
                </a:solidFill>
                <a:effectLst/>
                <a:latin typeface="+mn-lt"/>
                <a:ea typeface="+mn-ea"/>
                <a:cs typeface="+mn-cs"/>
              </a:rPr>
              <a:t> Keeps only the strongest signal in a region (e.g., $2 \times 2$ grid).</a:t>
            </a:r>
          </a:p>
          <a:p>
            <a:pPr lvl="1"/>
            <a:r>
              <a:rPr lang="en-US" sz="1200" b="1" kern="1200" dirty="0">
                <a:solidFill>
                  <a:schemeClr val="tx1"/>
                </a:solidFill>
                <a:effectLst/>
                <a:latin typeface="+mn-lt"/>
                <a:ea typeface="+mn-ea"/>
                <a:cs typeface="+mn-cs"/>
              </a:rPr>
              <a:t>Benefit:</a:t>
            </a:r>
            <a:r>
              <a:rPr lang="en-US" sz="1200" kern="1200" dirty="0">
                <a:solidFill>
                  <a:schemeClr val="tx1"/>
                </a:solidFill>
                <a:effectLst/>
                <a:latin typeface="+mn-lt"/>
                <a:ea typeface="+mn-ea"/>
                <a:cs typeface="+mn-cs"/>
              </a:rPr>
              <a:t> Reduces computation and helps prevent overfitting.</a:t>
            </a:r>
          </a:p>
          <a:p>
            <a:r>
              <a:rPr lang="en-US" sz="1200" b="1" kern="1200" dirty="0">
                <a:solidFill>
                  <a:schemeClr val="tx1"/>
                </a:solidFill>
                <a:effectLst/>
                <a:latin typeface="+mn-lt"/>
                <a:ea typeface="+mn-ea"/>
                <a:cs typeface="+mn-cs"/>
              </a:rPr>
              <a:t>3. Fully Connected (FC) Layer:</a:t>
            </a:r>
            <a:r>
              <a:rPr lang="en-US" sz="1200" kern="1200" dirty="0">
                <a:solidFill>
                  <a:schemeClr val="tx1"/>
                </a:solidFill>
                <a:effectLst/>
                <a:latin typeface="+mn-lt"/>
                <a:ea typeface="+mn-ea"/>
                <a:cs typeface="+mn-cs"/>
              </a:rPr>
              <a:t> After extracting features, the data is "flattened" and fed into a standard network to make the final classification (e.g., "Cat" vs "Dog").</a:t>
            </a:r>
          </a:p>
          <a:p>
            <a:endParaRPr lang="en-US" dirty="0"/>
          </a:p>
          <a:p>
            <a:r>
              <a:rPr lang="en-US" b="1" dirty="0"/>
              <a:t>Critical Hyperparameters</a:t>
            </a:r>
          </a:p>
          <a:p>
            <a:r>
              <a:rPr lang="en-US" b="1" dirty="0"/>
              <a:t>1. Stride:</a:t>
            </a:r>
            <a:r>
              <a:rPr lang="en-US" dirty="0"/>
              <a:t> The number of pixels the filter moves at each step. Stride 1 = detailed; Stride 2 = faster/smaller output.</a:t>
            </a:r>
          </a:p>
          <a:p>
            <a:r>
              <a:rPr lang="en-US" b="1" dirty="0"/>
              <a:t>2. Padding:</a:t>
            </a:r>
            <a:r>
              <a:rPr lang="en-US" dirty="0"/>
              <a:t> Adding "fake" zero-pixels around the border so the filter can scan edges without shrinking the image size.</a:t>
            </a:r>
          </a:p>
          <a:p>
            <a:r>
              <a:rPr lang="en-US" b="1" dirty="0"/>
              <a:t>3. Channels:</a:t>
            </a:r>
            <a:r>
              <a:rPr lang="en-US" dirty="0"/>
              <a:t> Images usually have 3 channels (</a:t>
            </a:r>
            <a:r>
              <a:rPr lang="en-US" b="1" dirty="0"/>
              <a:t>RGB</a:t>
            </a:r>
            <a:r>
              <a:rPr lang="en-US" dirty="0"/>
              <a:t>). Filters are 3D volumes that scan all colors simultaneously.</a:t>
            </a:r>
          </a:p>
          <a:p>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34</a:t>
            </a:fld>
            <a:endParaRPr lang="en-US"/>
          </a:p>
        </p:txBody>
      </p:sp>
    </p:spTree>
    <p:extLst>
      <p:ext uri="{BB962C8B-B14F-4D97-AF65-F5344CB8AC3E}">
        <p14:creationId xmlns:p14="http://schemas.microsoft.com/office/powerpoint/2010/main" val="3581789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tx1"/>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23459167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03857533-6E44-364D-9DC4-91A504C0FA02}"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634419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067F20-7BEA-294F-A608-49E47A61AECD}"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12190791"/>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BAEDAD8E-9BFC-EC4D-8922-9F268688CA22}"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759083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45DE4023-7DFC-784A-9A6D-17CF9289CA65}"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9134894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0D8EBABB-A41D-9247-8814-B50403F09EEB}"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US" noProof="0"/>
              <a:t>Click to edit Master text styles</a:t>
            </a:r>
          </a:p>
        </p:txBody>
      </p:sp>
    </p:spTree>
    <p:extLst>
      <p:ext uri="{BB962C8B-B14F-4D97-AF65-F5344CB8AC3E}">
        <p14:creationId xmlns:p14="http://schemas.microsoft.com/office/powerpoint/2010/main" val="2663736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10549ED1-B98F-1041-9C93-EAFF2C954013}"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US" noProof="0"/>
              <a:t>Click icon to add picture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US" noProof="0"/>
              <a:t>Click icon to add picture</a:t>
            </a:r>
            <a:endParaRPr lang="en-GB" noProof="0"/>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17275221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31B8A10B-3C7C-5D4F-94C3-7B006383AB7E}"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US" noProof="0"/>
              <a:t>Click icon to add picture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US" noProof="0"/>
              <a:t>Click icon to add picture</a:t>
            </a:r>
            <a:endParaRPr lang="en-GB" noProof="0"/>
          </a:p>
        </p:txBody>
      </p:sp>
    </p:spTree>
    <p:extLst>
      <p:ext uri="{BB962C8B-B14F-4D97-AF65-F5344CB8AC3E}">
        <p14:creationId xmlns:p14="http://schemas.microsoft.com/office/powerpoint/2010/main" val="21318011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318EDB5-1B82-7C4E-A474-6EB5B394FD36}"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US" noProof="0"/>
              <a:t>Click icon to add picture</a:t>
            </a:r>
            <a:endParaRPr lang="en-GB" noProof="0"/>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US" noProof="0"/>
              <a:t>Click icon to add picture</a:t>
            </a:r>
            <a:endParaRPr lang="en-GB" noProof="0"/>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US" noProof="0"/>
              <a:t>Click icon to add picture</a:t>
            </a:r>
            <a:endParaRPr lang="en-GB" noProof="0"/>
          </a:p>
        </p:txBody>
      </p:sp>
    </p:spTree>
    <p:extLst>
      <p:ext uri="{BB962C8B-B14F-4D97-AF65-F5344CB8AC3E}">
        <p14:creationId xmlns:p14="http://schemas.microsoft.com/office/powerpoint/2010/main" val="988021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1114122E-196F-034D-9A41-F5A510173108}"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US" noProof="0"/>
              <a:t>Click icon to add picture</a:t>
            </a:r>
            <a:endParaRPr lang="en-GB" noProof="0"/>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US" noProof="0"/>
              <a:t>Click icon to add picture</a:t>
            </a:r>
            <a:endParaRPr lang="en-GB" noProof="0"/>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US" noProof="0"/>
              <a:t>Click icon to add picture</a:t>
            </a:r>
            <a:endParaRPr lang="en-GB" noProof="0"/>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2925681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1215728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eparing your presentation">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73512C92-439E-A01A-D5DD-EECE63EE9B11}"/>
              </a:ext>
            </a:extLst>
          </p:cNvPr>
          <p:cNvSpPr txBox="1"/>
          <p:nvPr userDrawn="1"/>
        </p:nvSpPr>
        <p:spPr>
          <a:xfrm>
            <a:off x="947738" y="2544623"/>
            <a:ext cx="4559299"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The presentation is a visual aid and will be better if the written information is brief and punchy</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Use the presentation to illustrate your message – use figures, quotes, etc.</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Cues and bullet points are often useful</a:t>
            </a:r>
          </a:p>
        </p:txBody>
      </p:sp>
      <p:sp>
        <p:nvSpPr>
          <p:cNvPr id="7" name="textruta 6">
            <a:extLst>
              <a:ext uri="{FF2B5EF4-FFF2-40B4-BE49-F238E27FC236}">
                <a16:creationId xmlns:a16="http://schemas.microsoft.com/office/drawing/2014/main" id="{A3F9ED89-B1B8-9C3C-C691-E42F30F9DFE9}"/>
              </a:ext>
            </a:extLst>
          </p:cNvPr>
          <p:cNvSpPr txBox="1"/>
          <p:nvPr userDrawn="1"/>
        </p:nvSpPr>
        <p:spPr>
          <a:xfrm>
            <a:off x="6084515" y="2544623"/>
            <a:ext cx="4637273"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Choose images/photos carefully – the right picture reinforces the message, the wrong one spoils it</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If you can’t make a coherent slide, skip it – explain in your own words instead </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Keep the presentation short. Talk instead</a:t>
            </a:r>
          </a:p>
        </p:txBody>
      </p:sp>
      <p:sp>
        <p:nvSpPr>
          <p:cNvPr id="8" name="textruta 7">
            <a:extLst>
              <a:ext uri="{FF2B5EF4-FFF2-40B4-BE49-F238E27FC236}">
                <a16:creationId xmlns:a16="http://schemas.microsoft.com/office/drawing/2014/main" id="{FFB6DB86-71A6-8FB0-0835-66FC238AC4B9}"/>
              </a:ext>
            </a:extLst>
          </p:cNvPr>
          <p:cNvSpPr txBox="1"/>
          <p:nvPr userDrawn="1"/>
        </p:nvSpPr>
        <p:spPr>
          <a:xfrm>
            <a:off x="947738" y="1890199"/>
            <a:ext cx="4559299" cy="361637"/>
          </a:xfrm>
          <a:prstGeom prst="rect">
            <a:avLst/>
          </a:prstGeom>
          <a:noFill/>
        </p:spPr>
        <p:txBody>
          <a:bodyPr wrap="square" rtlCol="0">
            <a:spAutoFit/>
          </a:bodyPr>
          <a:lstStyle/>
          <a:p>
            <a:pPr lvl="0">
              <a:lnSpc>
                <a:spcPts val="2120"/>
              </a:lnSpc>
              <a:spcBef>
                <a:spcPts val="300"/>
              </a:spcBef>
            </a:pPr>
            <a:r>
              <a:rPr lang="en-GB" kern="100" noProof="0">
                <a:effectLst/>
                <a:latin typeface="Work Sans" pitchFamily="2" charset="77"/>
                <a:ea typeface="Calibri" panose="020F0502020204030204" pitchFamily="34" charset="0"/>
                <a:cs typeface="Times New Roman" panose="02020603050405020304" pitchFamily="18" charset="0"/>
              </a:rPr>
              <a:t>Bear in mind:</a:t>
            </a:r>
          </a:p>
        </p:txBody>
      </p:sp>
      <p:sp>
        <p:nvSpPr>
          <p:cNvPr id="9" name="textruta 8">
            <a:extLst>
              <a:ext uri="{FF2B5EF4-FFF2-40B4-BE49-F238E27FC236}">
                <a16:creationId xmlns:a16="http://schemas.microsoft.com/office/drawing/2014/main" id="{A24D50C7-2824-5A60-8126-6E551E176684}"/>
              </a:ext>
            </a:extLst>
          </p:cNvPr>
          <p:cNvSpPr txBox="1"/>
          <p:nvPr userDrawn="1"/>
        </p:nvSpPr>
        <p:spPr>
          <a:xfrm>
            <a:off x="947738" y="899447"/>
            <a:ext cx="7774921" cy="579646"/>
          </a:xfrm>
          <a:prstGeom prst="rect">
            <a:avLst/>
          </a:prstGeom>
          <a:noFill/>
        </p:spPr>
        <p:txBody>
          <a:bodyPr wrap="square" rtlCol="0">
            <a:spAutoFit/>
          </a:bodyPr>
          <a:lstStyle/>
          <a:p>
            <a:pPr lvl="0">
              <a:lnSpc>
                <a:spcPts val="3840"/>
              </a:lnSpc>
            </a:pPr>
            <a:r>
              <a:rPr lang="en-GB" sz="3200" kern="100" noProof="0">
                <a:effectLst/>
                <a:latin typeface="Work Sans" pitchFamily="2" charset="77"/>
                <a:ea typeface="Calibri" panose="020F0502020204030204" pitchFamily="34" charset="0"/>
                <a:cs typeface="Times New Roman" panose="02020603050405020304" pitchFamily="18" charset="0"/>
              </a:rPr>
              <a:t>Preparing your presentation</a:t>
            </a:r>
          </a:p>
        </p:txBody>
      </p:sp>
    </p:spTree>
    <p:extLst>
      <p:ext uri="{BB962C8B-B14F-4D97-AF65-F5344CB8AC3E}">
        <p14:creationId xmlns:p14="http://schemas.microsoft.com/office/powerpoint/2010/main" val="1345743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8EB50238-E622-CC4D-E865-CA7D7EF35C9E}"/>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46DB352F-69A9-1E92-AAD7-901A1A1F9054}"/>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2013/2016.</a:t>
            </a:r>
          </a:p>
        </p:txBody>
      </p:sp>
      <p:sp>
        <p:nvSpPr>
          <p:cNvPr id="8" name="textruta 7">
            <a:extLst>
              <a:ext uri="{FF2B5EF4-FFF2-40B4-BE49-F238E27FC236}">
                <a16:creationId xmlns:a16="http://schemas.microsoft.com/office/drawing/2014/main" id="{DA13882F-AF79-0DD9-0229-90F3341A13E5}"/>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4DBAB48A-0207-EBBB-5144-24A47388C7DA}"/>
              </a:ext>
            </a:extLst>
          </p:cNvPr>
          <p:cNvSpPr txBox="1"/>
          <p:nvPr userDrawn="1"/>
        </p:nvSpPr>
        <p:spPr>
          <a:xfrm>
            <a:off x="5549719" y="2600794"/>
            <a:ext cx="4234721" cy="3554819"/>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an object in the file.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Choosing the "Format" tab that appears on the right side of the ribbon.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"Selection Pane" in the "Arrange" group.</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one or more objects in the list.</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selection upward or downward, or clicking the "Up" button.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32D64C20-E0EC-50ED-8276-1342580DEAE9}"/>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E6A6CDBB-9355-D585-CAEB-E68FDC04C402}"/>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3503481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0A51E754-9C7A-11C0-D983-A8276233FD20}"/>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9AB3E6E3-4894-429E-071D-F50345A149E8}"/>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365 or Office 2019.</a:t>
            </a:r>
          </a:p>
        </p:txBody>
      </p:sp>
      <p:sp>
        <p:nvSpPr>
          <p:cNvPr id="8" name="textruta 7">
            <a:extLst>
              <a:ext uri="{FF2B5EF4-FFF2-40B4-BE49-F238E27FC236}">
                <a16:creationId xmlns:a16="http://schemas.microsoft.com/office/drawing/2014/main" id="{37E57577-6FE9-C8F8-56EA-64EB95087ADD}"/>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784D433E-62E1-750A-6876-97EF3EB623C3}"/>
              </a:ext>
            </a:extLst>
          </p:cNvPr>
          <p:cNvSpPr txBox="1"/>
          <p:nvPr userDrawn="1"/>
        </p:nvSpPr>
        <p:spPr>
          <a:xfrm>
            <a:off x="5549719" y="2600794"/>
            <a:ext cx="4234721" cy="2708434"/>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On the </a:t>
            </a:r>
            <a:r>
              <a:rPr lang="en-GB" sz="1000" i="1" noProof="0">
                <a:latin typeface="Work Sans" pitchFamily="2" charset="77"/>
              </a:rPr>
              <a:t>Home</a:t>
            </a:r>
            <a:r>
              <a:rPr lang="en-GB" sz="1000" noProof="0">
                <a:latin typeface="Work Sans" pitchFamily="2" charset="77"/>
              </a:rPr>
              <a:t> tab, select </a:t>
            </a:r>
            <a:r>
              <a:rPr lang="en-GB" sz="1000" i="1" noProof="0">
                <a:latin typeface="Work Sans" pitchFamily="2" charset="77"/>
              </a:rPr>
              <a:t>Arrange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From the </a:t>
            </a:r>
            <a:r>
              <a:rPr lang="en-GB" sz="1000" i="1" noProof="0">
                <a:latin typeface="Work Sans" pitchFamily="2" charset="77"/>
              </a:rPr>
              <a:t>Arrange </a:t>
            </a:r>
            <a:r>
              <a:rPr lang="en-GB" sz="1000" noProof="0">
                <a:latin typeface="Work Sans" pitchFamily="2" charset="77"/>
              </a:rPr>
              <a:t>menu, choose "Selection Pane.“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A tab will open on the right side of the window. Drag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428F5CB4-3C8B-C8B1-437D-FEBDF5863F8A}"/>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DD22A84C-EFA4-C49C-D348-83942967797F}"/>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1528221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2"/>
        <p:cNvGrpSpPr/>
        <p:nvPr/>
      </p:nvGrpSpPr>
      <p:grpSpPr>
        <a:xfrm>
          <a:off x="0" y="0"/>
          <a:ext cx="0" cy="0"/>
          <a:chOff x="0" y="0"/>
          <a:chExt cx="0" cy="0"/>
        </a:xfrm>
      </p:grpSpPr>
      <p:sp>
        <p:nvSpPr>
          <p:cNvPr id="33" name="Google Shape;33;p3"/>
          <p:cNvSpPr txBox="1">
            <a:spLocks noGrp="1"/>
          </p:cNvSpPr>
          <p:nvPr>
            <p:ph type="title"/>
          </p:nvPr>
        </p:nvSpPr>
        <p:spPr>
          <a:xfrm>
            <a:off x="669891" y="593367"/>
            <a:ext cx="11106509"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2800"/>
              <a:buFont typeface="Century Gothic"/>
              <a:buNone/>
              <a:defRPr/>
            </a:lvl1pPr>
            <a:lvl2pPr lvl="1" algn="l">
              <a:lnSpc>
                <a:spcPct val="100000"/>
              </a:lnSpc>
              <a:spcBef>
                <a:spcPts val="0"/>
              </a:spcBef>
              <a:spcAft>
                <a:spcPts val="0"/>
              </a:spcAft>
              <a:buClr>
                <a:schemeClr val="dk2"/>
              </a:buClr>
              <a:buSzPts val="2800"/>
              <a:buNone/>
              <a:defRPr/>
            </a:lvl2pPr>
            <a:lvl3pPr lvl="2" algn="l">
              <a:lnSpc>
                <a:spcPct val="100000"/>
              </a:lnSpc>
              <a:spcBef>
                <a:spcPts val="0"/>
              </a:spcBef>
              <a:spcAft>
                <a:spcPts val="0"/>
              </a:spcAft>
              <a:buClr>
                <a:schemeClr val="dk2"/>
              </a:buClr>
              <a:buSzPts val="2800"/>
              <a:buNone/>
              <a:defRPr/>
            </a:lvl3pPr>
            <a:lvl4pPr lvl="3" algn="l">
              <a:lnSpc>
                <a:spcPct val="100000"/>
              </a:lnSpc>
              <a:spcBef>
                <a:spcPts val="0"/>
              </a:spcBef>
              <a:spcAft>
                <a:spcPts val="0"/>
              </a:spcAft>
              <a:buClr>
                <a:schemeClr val="dk2"/>
              </a:buClr>
              <a:buSzPts val="2800"/>
              <a:buNone/>
              <a:defRPr/>
            </a:lvl4pPr>
            <a:lvl5pPr lvl="4" algn="l">
              <a:lnSpc>
                <a:spcPct val="100000"/>
              </a:lnSpc>
              <a:spcBef>
                <a:spcPts val="0"/>
              </a:spcBef>
              <a:spcAft>
                <a:spcPts val="0"/>
              </a:spcAft>
              <a:buClr>
                <a:schemeClr val="dk2"/>
              </a:buClr>
              <a:buSzPts val="2800"/>
              <a:buNone/>
              <a:defRPr/>
            </a:lvl5pPr>
            <a:lvl6pPr lvl="5" algn="l">
              <a:lnSpc>
                <a:spcPct val="100000"/>
              </a:lnSpc>
              <a:spcBef>
                <a:spcPts val="0"/>
              </a:spcBef>
              <a:spcAft>
                <a:spcPts val="0"/>
              </a:spcAft>
              <a:buClr>
                <a:schemeClr val="dk2"/>
              </a:buClr>
              <a:buSzPts val="2800"/>
              <a:buNone/>
              <a:defRPr/>
            </a:lvl6pPr>
            <a:lvl7pPr lvl="6" algn="l">
              <a:lnSpc>
                <a:spcPct val="100000"/>
              </a:lnSpc>
              <a:spcBef>
                <a:spcPts val="0"/>
              </a:spcBef>
              <a:spcAft>
                <a:spcPts val="0"/>
              </a:spcAft>
              <a:buClr>
                <a:schemeClr val="dk2"/>
              </a:buClr>
              <a:buSzPts val="2800"/>
              <a:buNone/>
              <a:defRPr/>
            </a:lvl7pPr>
            <a:lvl8pPr lvl="7" algn="l">
              <a:lnSpc>
                <a:spcPct val="100000"/>
              </a:lnSpc>
              <a:spcBef>
                <a:spcPts val="0"/>
              </a:spcBef>
              <a:spcAft>
                <a:spcPts val="0"/>
              </a:spcAft>
              <a:buClr>
                <a:schemeClr val="dk2"/>
              </a:buClr>
              <a:buSzPts val="2800"/>
              <a:buNone/>
              <a:defRPr/>
            </a:lvl8pPr>
            <a:lvl9pPr lvl="8" algn="l">
              <a:lnSpc>
                <a:spcPct val="100000"/>
              </a:lnSpc>
              <a:spcBef>
                <a:spcPts val="0"/>
              </a:spcBef>
              <a:spcAft>
                <a:spcPts val="0"/>
              </a:spcAft>
              <a:buClr>
                <a:schemeClr val="dk2"/>
              </a:buClr>
              <a:buSzPts val="2800"/>
              <a:buNone/>
              <a:defRPr/>
            </a:lvl9pPr>
          </a:lstStyle>
          <a:p>
            <a:endParaRPr/>
          </a:p>
        </p:txBody>
      </p:sp>
      <p:sp>
        <p:nvSpPr>
          <p:cNvPr id="34" name="Google Shape;34;p3"/>
          <p:cNvSpPr txBox="1">
            <a:spLocks noGrp="1"/>
          </p:cNvSpPr>
          <p:nvPr>
            <p:ph type="body" idx="1"/>
          </p:nvPr>
        </p:nvSpPr>
        <p:spPr>
          <a:xfrm>
            <a:off x="415600" y="2286000"/>
            <a:ext cx="11360800" cy="3805833"/>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35" name="Google Shape;35;p3"/>
          <p:cNvSpPr txBox="1">
            <a:spLocks noGrp="1"/>
          </p:cNvSpPr>
          <p:nvPr>
            <p:ph type="sldNum" idx="12"/>
          </p:nvPr>
        </p:nvSpPr>
        <p:spPr>
          <a:xfrm>
            <a:off x="10353600" y="297600"/>
            <a:ext cx="840000" cy="768000"/>
          </a:xfrm>
          <a:prstGeom prst="rect">
            <a:avLst/>
          </a:prstGeom>
          <a:noFill/>
          <a:ln>
            <a:noFill/>
          </a:ln>
        </p:spPr>
        <p:txBody>
          <a:bodyPr spcFirstLastPara="1" wrap="square" lIns="91425" tIns="91425" rIns="91425" bIns="91425" anchor="b" anchorCtr="0">
            <a:noAutofit/>
          </a:bodyPr>
          <a:lstStyle>
            <a:lvl1pPr marL="0" marR="0" lvl="0" indent="0" algn="r">
              <a:lnSpc>
                <a:spcPct val="100000"/>
              </a:lnSpc>
              <a:spcBef>
                <a:spcPts val="0"/>
              </a:spcBef>
              <a:spcAft>
                <a:spcPts val="0"/>
              </a:spcAft>
              <a:buClr>
                <a:srgbClr val="000000"/>
              </a:buClr>
              <a:buSzPts val="1000"/>
              <a:buFont typeface="Arial"/>
              <a:buNone/>
              <a:defRPr sz="280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00"/>
              <a:buFont typeface="Arial"/>
              <a:buNone/>
              <a:defRPr sz="280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00"/>
              <a:buFont typeface="Arial"/>
              <a:buNone/>
              <a:defRPr sz="280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00"/>
              <a:buFont typeface="Arial"/>
              <a:buNone/>
              <a:defRPr sz="280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00"/>
              <a:buFont typeface="Arial"/>
              <a:buNone/>
              <a:defRPr sz="280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00"/>
              <a:buFont typeface="Arial"/>
              <a:buNone/>
              <a:defRPr sz="280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00"/>
              <a:buFont typeface="Arial"/>
              <a:buNone/>
              <a:defRPr sz="280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00"/>
              <a:buFont typeface="Arial"/>
              <a:buNone/>
              <a:defRPr sz="280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00"/>
              <a:buFont typeface="Arial"/>
              <a:buNone/>
              <a:defRPr sz="2800" b="0" i="0" u="none" strike="noStrike" cap="none">
                <a:solidFill>
                  <a:schemeClr val="lt1"/>
                </a:solidFill>
                <a:latin typeface="Century Gothic"/>
                <a:ea typeface="Century Gothic"/>
                <a:cs typeface="Century Gothic"/>
                <a:sym typeface="Century Gothic"/>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236063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EDEDED"/>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12215714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1E4AD9CC-EA54-4246-9F02-056723362BC3}"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39140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A69525F5-C3CA-6E42-A3CB-6437C54FC065}"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664417730"/>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23DAE502-F830-B24B-A926-B97CECD7A717}"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7079833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A3868427-235A-5849-A94F-B9D2AB967A1A}"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1868265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28C431EA-92A7-BE47-94AB-D2A0266A9B67}"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25938142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3EFFAFB0-C167-0F46-A932-D47CE8CFE959}"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9888177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9C719794-0911-D345-9480-3FB3F17CBF69}"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29428853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1227C5DE-061A-6E4A-A2B1-C5F9EC7E8809}"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4326075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EF39F0F-3631-594F-AB0F-D73E0EC06EC7}"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610526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3344959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BFBFBF"/>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91058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254A795A-72D3-FD4D-83C7-031DAE9A59D4}"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668451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484165DC-B32C-AE43-AAB9-F44E24577DD0}"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658302844"/>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DF96F230-CA26-C443-A793-2099F129C77E}"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7672001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555D1F78-62E6-F447-B17A-593CC4892359}"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1455546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48AAB5EF-4B9B-DD44-A6D6-991096EC4290}"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1848961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F6C7B591-B5D2-9346-9C08-EBAC6D046458}"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2040206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1A3F2789-0459-A74E-91ED-DE7AEBDDC0B2}"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13184724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EAD53186-E36B-A549-9597-39D888A9F755}"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9624585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3019D0C5-B467-6B42-811D-BA28E38D94A0}" type="datetime1">
              <a:rPr lang="en-US" noProof="0" smtClean="0"/>
              <a:t>2/23/26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9849280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3351889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1.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67FB9D93-646F-4742-99B4-1FC46C4A79A4}" type="datetime1">
              <a:rPr lang="en-US" noProof="0" smtClean="0"/>
              <a:t>2/23/26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7"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34268216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5" r:id="rId12"/>
    <p:sldLayoutId id="2147483663" r:id="rId13"/>
    <p:sldLayoutId id="2147483664" r:id="rId14"/>
    <p:sldLayoutId id="2147483690" r:id="rId15"/>
  </p:sldLayoutIdLst>
  <p:hf hdr="0" ftr="0"/>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DEDED"/>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06F761F-72ED-2146-87B2-99E26337979B}" type="datetime1">
              <a:rPr lang="en-US" noProof="0" smtClean="0"/>
              <a:t>2/23/26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319938482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ftr="0"/>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BFBFBF"/>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11F15EED-DCD7-0042-B1F0-D5E36DA8EA32}" type="datetime1">
              <a:rPr lang="en-US" noProof="0" smtClean="0"/>
              <a:t>2/23/26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68017362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ftr="0"/>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avif"/><Relationship Id="rId1" Type="http://schemas.openxmlformats.org/officeDocument/2006/relationships/slideLayout" Target="../slideLayouts/slideLayout2.xml"/><Relationship Id="rId5" Type="http://schemas.openxmlformats.org/officeDocument/2006/relationships/hyperlink" Target="https://ml4a.github.io/ml4a/looking_inside_neural_nets/" TargetMode="External"/><Relationship Id="rId4" Type="http://schemas.openxmlformats.org/officeDocument/2006/relationships/hyperlink" Target="https://playground.tensorflow.org/#activation=tanh&amp;batchSize=10&amp;dataset=circle&amp;regDataset=reg-plane&amp;learningRate=0.03&amp;regularizationRate=0&amp;noise=0&amp;networkShape=4,2&amp;seed=0.45982&amp;showTestData=false&amp;discretize=false&amp;percTrainData=50&amp;x=true&amp;y=true&amp;xTimesY=false&amp;xSquared=false&amp;ySquared=false&amp;cosX=false&amp;sinX=false&amp;cosY=false&amp;sinY=false&amp;collectStats=false&amp;problem=classification&amp;initZero=false&amp;hideText=fals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0.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15.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png"/><Relationship Id="rId1" Type="http://schemas.openxmlformats.org/officeDocument/2006/relationships/slideLayout" Target="../slideLayouts/slideLayout15.xml"/><Relationship Id="rId5" Type="http://schemas.openxmlformats.org/officeDocument/2006/relationships/image" Target="../media/image49.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15.xml"/><Relationship Id="rId5" Type="http://schemas.openxmlformats.org/officeDocument/2006/relationships/image" Target="../media/image51.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0.png"/><Relationship Id="rId1" Type="http://schemas.openxmlformats.org/officeDocument/2006/relationships/slideLayout" Target="../slideLayouts/slideLayout15.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5.xml"/><Relationship Id="rId4" Type="http://schemas.openxmlformats.org/officeDocument/2006/relationships/image" Target="../media/image62.png"/></Relationships>
</file>

<file path=ppt/slides/_rels/slide32.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6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hyperlink" Target="mailto:sourasekhar.banerjee@it.uu.se" TargetMode="External"/><Relationship Id="rId2" Type="http://schemas.openxmlformats.org/officeDocument/2006/relationships/hyperlink" Target="https://sourasb05.github.io/" TargetMode="External"/><Relationship Id="rId1" Type="http://schemas.openxmlformats.org/officeDocument/2006/relationships/slideLayout" Target="../slideLayouts/slideLayout15.xml"/><Relationship Id="rId6" Type="http://schemas.openxmlformats.org/officeDocument/2006/relationships/hyperlink" Target="mailto:sourasb05@gmail.com" TargetMode="External"/><Relationship Id="rId5" Type="http://schemas.openxmlformats.org/officeDocument/2006/relationships/image" Target="../media/image72.png"/><Relationship Id="rId4" Type="http://schemas.openxmlformats.org/officeDocument/2006/relationships/hyperlink" Target="https://www.linkedin.com/in/sourasekhar-banerjee-7a7b707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05358F1-922A-C7F3-A6E9-0F6221082D49}"/>
              </a:ext>
            </a:extLst>
          </p:cNvPr>
          <p:cNvSpPr>
            <a:spLocks noGrp="1"/>
          </p:cNvSpPr>
          <p:nvPr>
            <p:ph type="ctrTitle"/>
          </p:nvPr>
        </p:nvSpPr>
        <p:spPr/>
        <p:txBody>
          <a:bodyPr/>
          <a:lstStyle/>
          <a:p>
            <a:r>
              <a:rPr lang="en-GB" dirty="0"/>
              <a:t>Artificial Neural Network</a:t>
            </a:r>
          </a:p>
        </p:txBody>
      </p:sp>
      <p:sp>
        <p:nvSpPr>
          <p:cNvPr id="3" name="Underrubrik 2">
            <a:extLst>
              <a:ext uri="{FF2B5EF4-FFF2-40B4-BE49-F238E27FC236}">
                <a16:creationId xmlns:a16="http://schemas.microsoft.com/office/drawing/2014/main" id="{10AEE97D-FBCF-C7E2-AC97-1B5EB152B3E6}"/>
              </a:ext>
            </a:extLst>
          </p:cNvPr>
          <p:cNvSpPr>
            <a:spLocks noGrp="1"/>
          </p:cNvSpPr>
          <p:nvPr>
            <p:ph type="subTitle" idx="1"/>
          </p:nvPr>
        </p:nvSpPr>
        <p:spPr/>
        <p:txBody>
          <a:bodyPr/>
          <a:lstStyle/>
          <a:p>
            <a:r>
              <a:rPr lang="en-GB" dirty="0" err="1"/>
              <a:t>Dr.</a:t>
            </a:r>
            <a:r>
              <a:rPr lang="en-GB" dirty="0"/>
              <a:t> Sourasekhar Banerjee (</a:t>
            </a:r>
            <a:r>
              <a:rPr lang="en-GB" dirty="0" err="1"/>
              <a:t>Ph.D</a:t>
            </a:r>
            <a:r>
              <a:rPr lang="en-GB" dirty="0">
                <a:sym typeface="Wingdings" pitchFamily="2" charset="2"/>
              </a:rPr>
              <a:t>)</a:t>
            </a:r>
            <a:endParaRPr lang="en-GB" dirty="0"/>
          </a:p>
        </p:txBody>
      </p:sp>
    </p:spTree>
    <p:extLst>
      <p:ext uri="{BB962C8B-B14F-4D97-AF65-F5344CB8AC3E}">
        <p14:creationId xmlns:p14="http://schemas.microsoft.com/office/powerpoint/2010/main" val="3407965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38F2919-2991-D02F-FB06-1F4EAB2A55E0}"/>
              </a:ext>
            </a:extLst>
          </p:cNvPr>
          <p:cNvSpPr>
            <a:spLocks noGrp="1"/>
          </p:cNvSpPr>
          <p:nvPr>
            <p:ph type="title"/>
          </p:nvPr>
        </p:nvSpPr>
        <p:spPr/>
        <p:txBody>
          <a:bodyPr/>
          <a:lstStyle/>
          <a:p>
            <a:r>
              <a:rPr lang="en-GB" dirty="0"/>
              <a:t>Learning Outcome</a:t>
            </a:r>
          </a:p>
        </p:txBody>
      </p:sp>
      <p:sp>
        <p:nvSpPr>
          <p:cNvPr id="3" name="Platshållare för innehåll 2">
            <a:extLst>
              <a:ext uri="{FF2B5EF4-FFF2-40B4-BE49-F238E27FC236}">
                <a16:creationId xmlns:a16="http://schemas.microsoft.com/office/drawing/2014/main" id="{66B1E56E-D645-D1CC-B120-5A691FEC5592}"/>
              </a:ext>
            </a:extLst>
          </p:cNvPr>
          <p:cNvSpPr>
            <a:spLocks noGrp="1"/>
          </p:cNvSpPr>
          <p:nvPr>
            <p:ph sz="quarter" idx="13"/>
          </p:nvPr>
        </p:nvSpPr>
        <p:spPr/>
        <p:txBody>
          <a:bodyPr/>
          <a:lstStyle/>
          <a:p>
            <a:pPr>
              <a:lnSpc>
                <a:spcPct val="150000"/>
              </a:lnSpc>
            </a:pPr>
            <a:r>
              <a:rPr lang="en-US" sz="2800" dirty="0">
                <a:latin typeface="+mn-lt"/>
              </a:rPr>
              <a:t>By the end of this presentation, you will be able to:</a:t>
            </a:r>
          </a:p>
          <a:p>
            <a:pPr lvl="1">
              <a:lnSpc>
                <a:spcPct val="150000"/>
              </a:lnSpc>
              <a:buFont typeface="+mj-lt"/>
              <a:buAutoNum type="arabicPeriod"/>
            </a:pPr>
            <a:r>
              <a:rPr lang="en-US" sz="2800" dirty="0">
                <a:latin typeface="+mn-lt"/>
              </a:rPr>
              <a:t> Basics of Artificial Neural Networks </a:t>
            </a:r>
          </a:p>
          <a:p>
            <a:pPr lvl="1">
              <a:lnSpc>
                <a:spcPct val="150000"/>
              </a:lnSpc>
              <a:buFont typeface="+mj-lt"/>
              <a:buAutoNum type="arabicPeriod"/>
            </a:pPr>
            <a:r>
              <a:rPr lang="en-US" sz="2800" dirty="0">
                <a:latin typeface="+mn-lt"/>
              </a:rPr>
              <a:t> Understand the Multi-layer Perceptron</a:t>
            </a:r>
          </a:p>
          <a:p>
            <a:pPr lvl="1">
              <a:lnSpc>
                <a:spcPct val="150000"/>
              </a:lnSpc>
              <a:buFont typeface="+mj-lt"/>
              <a:buAutoNum type="arabicPeriod"/>
            </a:pPr>
            <a:r>
              <a:rPr lang="en-US" sz="2800" dirty="0">
                <a:latin typeface="+mn-lt"/>
              </a:rPr>
              <a:t> Discussion on Complex ANN models (RNN, LSTM, CNN)</a:t>
            </a:r>
            <a:endParaRPr lang="en-GB" sz="2800" dirty="0"/>
          </a:p>
        </p:txBody>
      </p:sp>
      <p:sp>
        <p:nvSpPr>
          <p:cNvPr id="4" name="Date Placeholder 3">
            <a:extLst>
              <a:ext uri="{FF2B5EF4-FFF2-40B4-BE49-F238E27FC236}">
                <a16:creationId xmlns:a16="http://schemas.microsoft.com/office/drawing/2014/main" id="{569C2EB8-09C3-9C4F-AF20-F2B59FA2A373}"/>
              </a:ext>
            </a:extLst>
          </p:cNvPr>
          <p:cNvSpPr>
            <a:spLocks noGrp="1"/>
          </p:cNvSpPr>
          <p:nvPr>
            <p:ph type="dt" sz="half" idx="10"/>
          </p:nvPr>
        </p:nvSpPr>
        <p:spPr/>
        <p:txBody>
          <a:bodyPr/>
          <a:lstStyle/>
          <a:p>
            <a:fld id="{E97C33B1-32C1-5F44-ABB4-B7FF30B5383F}" type="datetime1">
              <a:rPr lang="en-US" noProof="0" smtClean="0"/>
              <a:t>2/23/26</a:t>
            </a:fld>
            <a:endParaRPr lang="en-GB" noProof="0"/>
          </a:p>
        </p:txBody>
      </p:sp>
      <p:sp>
        <p:nvSpPr>
          <p:cNvPr id="5" name="Slide Number Placeholder 4">
            <a:extLst>
              <a:ext uri="{FF2B5EF4-FFF2-40B4-BE49-F238E27FC236}">
                <a16:creationId xmlns:a16="http://schemas.microsoft.com/office/drawing/2014/main" id="{D577359F-9B6A-487A-49B5-B6825B383A2C}"/>
              </a:ext>
            </a:extLst>
          </p:cNvPr>
          <p:cNvSpPr>
            <a:spLocks noGrp="1"/>
          </p:cNvSpPr>
          <p:nvPr>
            <p:ph type="sldNum" sz="quarter" idx="12"/>
          </p:nvPr>
        </p:nvSpPr>
        <p:spPr/>
        <p:txBody>
          <a:bodyPr/>
          <a:lstStyle/>
          <a:p>
            <a:fld id="{B716C8F4-20CD-364A-8A8E-DE130115B178}" type="slidenum">
              <a:rPr lang="en-GB" noProof="0" smtClean="0"/>
              <a:pPr/>
              <a:t>2</a:t>
            </a:fld>
            <a:endParaRPr lang="en-GB" noProof="0"/>
          </a:p>
        </p:txBody>
      </p:sp>
    </p:spTree>
    <p:extLst>
      <p:ext uri="{BB962C8B-B14F-4D97-AF65-F5344CB8AC3E}">
        <p14:creationId xmlns:p14="http://schemas.microsoft.com/office/powerpoint/2010/main" val="3956364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C431-F9CE-93E6-FC46-1C007A39454F}"/>
              </a:ext>
            </a:extLst>
          </p:cNvPr>
          <p:cNvSpPr>
            <a:spLocks noGrp="1"/>
          </p:cNvSpPr>
          <p:nvPr>
            <p:ph type="title"/>
          </p:nvPr>
        </p:nvSpPr>
        <p:spPr/>
        <p:txBody>
          <a:bodyPr/>
          <a:lstStyle/>
          <a:p>
            <a:r>
              <a:rPr lang="en-US" dirty="0"/>
              <a:t>Introduction and Motivations</a:t>
            </a:r>
          </a:p>
        </p:txBody>
      </p:sp>
      <p:sp>
        <p:nvSpPr>
          <p:cNvPr id="3" name="Content Placeholder 2">
            <a:extLst>
              <a:ext uri="{FF2B5EF4-FFF2-40B4-BE49-F238E27FC236}">
                <a16:creationId xmlns:a16="http://schemas.microsoft.com/office/drawing/2014/main" id="{1BBB331A-D3A9-CB30-25E7-018ABD853F04}"/>
              </a:ext>
            </a:extLst>
          </p:cNvPr>
          <p:cNvSpPr>
            <a:spLocks noGrp="1"/>
          </p:cNvSpPr>
          <p:nvPr>
            <p:ph sz="quarter" idx="13"/>
          </p:nvPr>
        </p:nvSpPr>
        <p:spPr>
          <a:xfrm>
            <a:off x="947738" y="1776413"/>
            <a:ext cx="7775848" cy="4244974"/>
          </a:xfrm>
        </p:spPr>
        <p:txBody>
          <a:bodyPr/>
          <a:lstStyle/>
          <a:p>
            <a:r>
              <a:rPr lang="en-US" sz="2600" dirty="0">
                <a:latin typeface="+mn-lt"/>
              </a:rPr>
              <a:t>Nonlinear modelling capability</a:t>
            </a:r>
            <a:endParaRPr lang="en-US" sz="2400" dirty="0">
              <a:latin typeface="+mn-lt"/>
            </a:endParaRPr>
          </a:p>
          <a:p>
            <a:endParaRPr lang="en-US" dirty="0"/>
          </a:p>
        </p:txBody>
      </p:sp>
      <p:pic>
        <p:nvPicPr>
          <p:cNvPr id="1026" name="Picture 2" descr="Output image">
            <a:extLst>
              <a:ext uri="{FF2B5EF4-FFF2-40B4-BE49-F238E27FC236}">
                <a16:creationId xmlns:a16="http://schemas.microsoft.com/office/drawing/2014/main" id="{43422565-21A1-2D61-090A-A0D2CE7424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5578" y="1503217"/>
            <a:ext cx="4916347" cy="3278577"/>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B0677F6C-DD71-CEDF-AE8B-373A0D00DE60}"/>
              </a:ext>
            </a:extLst>
          </p:cNvPr>
          <p:cNvSpPr>
            <a:spLocks noGrp="1"/>
          </p:cNvSpPr>
          <p:nvPr>
            <p:ph type="dt" sz="half" idx="10"/>
          </p:nvPr>
        </p:nvSpPr>
        <p:spPr/>
        <p:txBody>
          <a:bodyPr/>
          <a:lstStyle/>
          <a:p>
            <a:fld id="{F112747D-0239-EA4A-8400-B0D2377062BD}" type="datetime1">
              <a:rPr lang="en-US" noProof="0" smtClean="0"/>
              <a:t>2/23/26</a:t>
            </a:fld>
            <a:endParaRPr lang="en-GB" noProof="0"/>
          </a:p>
        </p:txBody>
      </p:sp>
      <p:sp>
        <p:nvSpPr>
          <p:cNvPr id="5" name="Slide Number Placeholder 4">
            <a:extLst>
              <a:ext uri="{FF2B5EF4-FFF2-40B4-BE49-F238E27FC236}">
                <a16:creationId xmlns:a16="http://schemas.microsoft.com/office/drawing/2014/main" id="{A7C8CAC6-036B-4F02-70AF-0E574F26A5BF}"/>
              </a:ext>
            </a:extLst>
          </p:cNvPr>
          <p:cNvSpPr>
            <a:spLocks noGrp="1"/>
          </p:cNvSpPr>
          <p:nvPr>
            <p:ph type="sldNum" sz="quarter" idx="12"/>
          </p:nvPr>
        </p:nvSpPr>
        <p:spPr/>
        <p:txBody>
          <a:bodyPr/>
          <a:lstStyle/>
          <a:p>
            <a:fld id="{B716C8F4-20CD-364A-8A8E-DE130115B178}" type="slidenum">
              <a:rPr lang="en-GB" noProof="0" smtClean="0"/>
              <a:pPr/>
              <a:t>3</a:t>
            </a:fld>
            <a:endParaRPr lang="en-GB" noProof="0"/>
          </a:p>
        </p:txBody>
      </p:sp>
    </p:spTree>
    <p:extLst>
      <p:ext uri="{BB962C8B-B14F-4D97-AF65-F5344CB8AC3E}">
        <p14:creationId xmlns:p14="http://schemas.microsoft.com/office/powerpoint/2010/main" val="4131245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E592E-D3D4-4CB1-92DE-877096D750D7}"/>
              </a:ext>
            </a:extLst>
          </p:cNvPr>
          <p:cNvSpPr>
            <a:spLocks noGrp="1"/>
          </p:cNvSpPr>
          <p:nvPr>
            <p:ph type="title"/>
          </p:nvPr>
        </p:nvSpPr>
        <p:spPr/>
        <p:txBody>
          <a:bodyPr/>
          <a:lstStyle/>
          <a:p>
            <a:r>
              <a:rPr lang="en-US" b="1" dirty="0"/>
              <a:t>How ANNs Speed Up R&amp;D?</a:t>
            </a:r>
          </a:p>
        </p:txBody>
      </p:sp>
      <p:sp>
        <p:nvSpPr>
          <p:cNvPr id="3" name="Content Placeholder 2">
            <a:extLst>
              <a:ext uri="{FF2B5EF4-FFF2-40B4-BE49-F238E27FC236}">
                <a16:creationId xmlns:a16="http://schemas.microsoft.com/office/drawing/2014/main" id="{6797C065-0AF4-3725-F10E-DB4D628BE714}"/>
              </a:ext>
            </a:extLst>
          </p:cNvPr>
          <p:cNvSpPr>
            <a:spLocks noGrp="1"/>
          </p:cNvSpPr>
          <p:nvPr>
            <p:ph sz="quarter" idx="13"/>
          </p:nvPr>
        </p:nvSpPr>
        <p:spPr/>
        <p:txBody>
          <a:bodyPr/>
          <a:lstStyle/>
          <a:p>
            <a:r>
              <a:rPr lang="en-US" sz="1800" b="1" dirty="0">
                <a:latin typeface="+mn-lt"/>
              </a:rPr>
              <a:t>Accelerated Material Discovery</a:t>
            </a:r>
          </a:p>
          <a:p>
            <a:pPr lvl="1"/>
            <a:r>
              <a:rPr lang="en-US" sz="1800" dirty="0">
                <a:latin typeface="+mn-lt"/>
              </a:rPr>
              <a:t>ANNs can </a:t>
            </a:r>
            <a:r>
              <a:rPr lang="en-US" sz="1800" b="1" dirty="0">
                <a:latin typeface="+mn-lt"/>
              </a:rPr>
              <a:t>predict the electrochemical properties of new materials</a:t>
            </a:r>
            <a:r>
              <a:rPr lang="en-US" sz="1800" dirty="0">
                <a:latin typeface="+mn-lt"/>
              </a:rPr>
              <a:t> without requiring full-scale synthesis and testing.</a:t>
            </a:r>
          </a:p>
          <a:p>
            <a:pPr lvl="1"/>
            <a:r>
              <a:rPr lang="en-US" sz="1800" b="1" dirty="0">
                <a:latin typeface="+mn-lt"/>
              </a:rPr>
              <a:t>Example: New cathode materials for Li-ion batteries</a:t>
            </a:r>
            <a:r>
              <a:rPr lang="en-US" sz="1800" dirty="0">
                <a:latin typeface="+mn-lt"/>
              </a:rPr>
              <a:t> can be screened via ANNs before lab experiments</a:t>
            </a:r>
          </a:p>
          <a:p>
            <a:pPr marL="457200" lvl="1" indent="0">
              <a:buNone/>
            </a:pPr>
            <a:endParaRPr lang="en-US" sz="1800" dirty="0">
              <a:latin typeface="+mn-lt"/>
            </a:endParaRPr>
          </a:p>
          <a:p>
            <a:r>
              <a:rPr lang="en-US" sz="1800" b="1" dirty="0">
                <a:latin typeface="+mn-lt"/>
              </a:rPr>
              <a:t>Fast Performance Prediction</a:t>
            </a:r>
            <a:endParaRPr lang="en-US" sz="1800" dirty="0">
              <a:latin typeface="+mn-lt"/>
            </a:endParaRPr>
          </a:p>
          <a:p>
            <a:pPr lvl="1"/>
            <a:r>
              <a:rPr lang="en-US" sz="1800" dirty="0">
                <a:latin typeface="+mn-lt"/>
              </a:rPr>
              <a:t>ANNs analyze </a:t>
            </a:r>
            <a:r>
              <a:rPr lang="en-US" sz="1800" b="1" dirty="0">
                <a:latin typeface="+mn-lt"/>
              </a:rPr>
              <a:t>historical data</a:t>
            </a:r>
            <a:r>
              <a:rPr lang="en-US" sz="1800" dirty="0">
                <a:latin typeface="+mn-lt"/>
              </a:rPr>
              <a:t> and provide </a:t>
            </a:r>
            <a:r>
              <a:rPr lang="en-US" sz="1800" b="1" dirty="0">
                <a:latin typeface="+mn-lt"/>
              </a:rPr>
              <a:t>instant predictions</a:t>
            </a:r>
            <a:r>
              <a:rPr lang="en-US" sz="1800" dirty="0">
                <a:latin typeface="+mn-lt"/>
              </a:rPr>
              <a:t> about battery lifetime, efficiency, and degradation.</a:t>
            </a:r>
          </a:p>
          <a:p>
            <a:pPr lvl="1"/>
            <a:r>
              <a:rPr lang="en-US" sz="1800" b="1" dirty="0">
                <a:latin typeface="+mn-lt"/>
              </a:rPr>
              <a:t>Example: </a:t>
            </a:r>
            <a:r>
              <a:rPr lang="en-US" sz="1800" dirty="0">
                <a:latin typeface="+mn-lt"/>
              </a:rPr>
              <a:t>Instead of </a:t>
            </a:r>
            <a:r>
              <a:rPr lang="en-US" sz="1800" b="1" dirty="0">
                <a:latin typeface="+mn-lt"/>
              </a:rPr>
              <a:t>running a 6-month battery cycling test</a:t>
            </a:r>
            <a:r>
              <a:rPr lang="en-US" sz="1800" dirty="0">
                <a:latin typeface="+mn-lt"/>
              </a:rPr>
              <a:t>, an ANN can </a:t>
            </a:r>
            <a:r>
              <a:rPr lang="en-US" sz="1800" b="1" dirty="0">
                <a:latin typeface="+mn-lt"/>
              </a:rPr>
              <a:t>predict the failure point in seconds</a:t>
            </a:r>
          </a:p>
          <a:p>
            <a:pPr marL="457200" lvl="1" indent="0">
              <a:buNone/>
            </a:pPr>
            <a:endParaRPr lang="en-US" sz="1800" dirty="0">
              <a:latin typeface="+mn-lt"/>
            </a:endParaRPr>
          </a:p>
          <a:p>
            <a:r>
              <a:rPr lang="en-US" sz="1800" b="1" dirty="0">
                <a:latin typeface="+mn-lt"/>
              </a:rPr>
              <a:t>Real-Time Optimization</a:t>
            </a:r>
            <a:endParaRPr lang="en-US" sz="1800" dirty="0">
              <a:latin typeface="+mn-lt"/>
            </a:endParaRPr>
          </a:p>
          <a:p>
            <a:pPr lvl="1"/>
            <a:r>
              <a:rPr lang="en-US" sz="1800" dirty="0">
                <a:latin typeface="+mn-lt"/>
              </a:rPr>
              <a:t>ANNs can </a:t>
            </a:r>
            <a:r>
              <a:rPr lang="en-US" sz="1800" b="1" dirty="0">
                <a:latin typeface="+mn-lt"/>
              </a:rPr>
              <a:t>adjust battery charging strategies dynamically</a:t>
            </a:r>
            <a:r>
              <a:rPr lang="en-US" sz="1800" dirty="0">
                <a:latin typeface="+mn-lt"/>
              </a:rPr>
              <a:t> to improve longevity.</a:t>
            </a:r>
          </a:p>
          <a:p>
            <a:pPr lvl="1"/>
            <a:r>
              <a:rPr lang="en-US" sz="1800" b="1" dirty="0">
                <a:latin typeface="+mn-lt"/>
              </a:rPr>
              <a:t>Example: </a:t>
            </a:r>
            <a:r>
              <a:rPr lang="en-US" sz="1800" dirty="0">
                <a:latin typeface="+mn-lt"/>
              </a:rPr>
              <a:t>In </a:t>
            </a:r>
            <a:r>
              <a:rPr lang="en-US" sz="1800" b="1" dirty="0">
                <a:latin typeface="+mn-lt"/>
              </a:rPr>
              <a:t>electric vehicles (EVs)</a:t>
            </a:r>
            <a:r>
              <a:rPr lang="en-US" sz="1800" dirty="0">
                <a:latin typeface="+mn-lt"/>
              </a:rPr>
              <a:t>, an ANN-based </a:t>
            </a:r>
            <a:r>
              <a:rPr lang="en-US" sz="1800" b="1" dirty="0">
                <a:latin typeface="+mn-lt"/>
              </a:rPr>
              <a:t>Battery Management System (BMS)</a:t>
            </a:r>
            <a:r>
              <a:rPr lang="en-US" sz="1800" dirty="0">
                <a:latin typeface="+mn-lt"/>
              </a:rPr>
              <a:t> can </a:t>
            </a:r>
            <a:r>
              <a:rPr lang="en-US" sz="1800" b="1" dirty="0">
                <a:latin typeface="+mn-lt"/>
              </a:rPr>
              <a:t>optimize fast charging protocols</a:t>
            </a:r>
            <a:r>
              <a:rPr lang="en-US" sz="1800" dirty="0">
                <a:latin typeface="+mn-lt"/>
              </a:rPr>
              <a:t> without extensive real-world testing.</a:t>
            </a:r>
          </a:p>
          <a:p>
            <a:pPr marL="0" indent="0">
              <a:buNone/>
            </a:pPr>
            <a:endParaRPr lang="en-US" dirty="0"/>
          </a:p>
        </p:txBody>
      </p:sp>
      <p:sp>
        <p:nvSpPr>
          <p:cNvPr id="4" name="Date Placeholder 3">
            <a:extLst>
              <a:ext uri="{FF2B5EF4-FFF2-40B4-BE49-F238E27FC236}">
                <a16:creationId xmlns:a16="http://schemas.microsoft.com/office/drawing/2014/main" id="{C08C3CE4-1A15-AF55-D961-1497283004D0}"/>
              </a:ext>
            </a:extLst>
          </p:cNvPr>
          <p:cNvSpPr>
            <a:spLocks noGrp="1"/>
          </p:cNvSpPr>
          <p:nvPr>
            <p:ph type="dt" sz="half" idx="10"/>
          </p:nvPr>
        </p:nvSpPr>
        <p:spPr/>
        <p:txBody>
          <a:bodyPr/>
          <a:lstStyle/>
          <a:p>
            <a:fld id="{28836D0B-E0F0-534B-8C10-74E409F4F921}" type="datetime1">
              <a:rPr lang="en-US" noProof="0" smtClean="0"/>
              <a:t>2/23/26</a:t>
            </a:fld>
            <a:endParaRPr lang="en-GB" noProof="0"/>
          </a:p>
        </p:txBody>
      </p:sp>
      <p:sp>
        <p:nvSpPr>
          <p:cNvPr id="5" name="Slide Number Placeholder 4">
            <a:extLst>
              <a:ext uri="{FF2B5EF4-FFF2-40B4-BE49-F238E27FC236}">
                <a16:creationId xmlns:a16="http://schemas.microsoft.com/office/drawing/2014/main" id="{3410C255-1A7D-52A0-45B3-24B63196AB07}"/>
              </a:ext>
            </a:extLst>
          </p:cNvPr>
          <p:cNvSpPr>
            <a:spLocks noGrp="1"/>
          </p:cNvSpPr>
          <p:nvPr>
            <p:ph type="sldNum" sz="quarter" idx="12"/>
          </p:nvPr>
        </p:nvSpPr>
        <p:spPr/>
        <p:txBody>
          <a:bodyPr/>
          <a:lstStyle/>
          <a:p>
            <a:fld id="{B716C8F4-20CD-364A-8A8E-DE130115B178}" type="slidenum">
              <a:rPr lang="en-GB" noProof="0" smtClean="0"/>
              <a:pPr/>
              <a:t>4</a:t>
            </a:fld>
            <a:endParaRPr lang="en-GB" noProof="0"/>
          </a:p>
        </p:txBody>
      </p:sp>
    </p:spTree>
    <p:extLst>
      <p:ext uri="{BB962C8B-B14F-4D97-AF65-F5344CB8AC3E}">
        <p14:creationId xmlns:p14="http://schemas.microsoft.com/office/powerpoint/2010/main" val="808680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86C2F-67B7-D7F0-67D8-69219FE4BF0C}"/>
              </a:ext>
            </a:extLst>
          </p:cNvPr>
          <p:cNvSpPr>
            <a:spLocks noGrp="1"/>
          </p:cNvSpPr>
          <p:nvPr>
            <p:ph type="title"/>
          </p:nvPr>
        </p:nvSpPr>
        <p:spPr/>
        <p:txBody>
          <a:bodyPr/>
          <a:lstStyle/>
          <a:p>
            <a:r>
              <a:rPr lang="en-US" dirty="0"/>
              <a:t>What is an ANN ?</a:t>
            </a:r>
          </a:p>
        </p:txBody>
      </p:sp>
      <p:sp>
        <p:nvSpPr>
          <p:cNvPr id="3" name="Content Placeholder 2">
            <a:extLst>
              <a:ext uri="{FF2B5EF4-FFF2-40B4-BE49-F238E27FC236}">
                <a16:creationId xmlns:a16="http://schemas.microsoft.com/office/drawing/2014/main" id="{2B03EF73-0229-380D-FE51-BB7AE017BC96}"/>
              </a:ext>
            </a:extLst>
          </p:cNvPr>
          <p:cNvSpPr>
            <a:spLocks noGrp="1"/>
          </p:cNvSpPr>
          <p:nvPr>
            <p:ph sz="quarter" idx="13"/>
          </p:nvPr>
        </p:nvSpPr>
        <p:spPr/>
        <p:txBody>
          <a:bodyPr/>
          <a:lstStyle/>
          <a:p>
            <a:r>
              <a:rPr lang="en-US" sz="2400" dirty="0">
                <a:latin typeface="+mn-lt"/>
              </a:rPr>
              <a:t>A computational model inspired by the structure and function of the human brain, consisting of interconnected “neurons” (nodes) organized in layers.</a:t>
            </a:r>
          </a:p>
          <a:p>
            <a:r>
              <a:rPr lang="en-US" sz="2400" b="1" dirty="0">
                <a:latin typeface="+mn-lt"/>
              </a:rPr>
              <a:t>Key Characteristics</a:t>
            </a:r>
            <a:r>
              <a:rPr lang="en-US" sz="2400" dirty="0">
                <a:latin typeface="+mn-lt"/>
              </a:rPr>
              <a:t>:</a:t>
            </a:r>
          </a:p>
          <a:p>
            <a:pPr lvl="1">
              <a:buFont typeface="+mj-lt"/>
              <a:buAutoNum type="arabicPeriod"/>
            </a:pPr>
            <a:r>
              <a:rPr lang="en-US" sz="2400" b="1" dirty="0">
                <a:latin typeface="+mn-lt"/>
              </a:rPr>
              <a:t>Layers</a:t>
            </a:r>
            <a:r>
              <a:rPr lang="en-US" sz="2400" dirty="0">
                <a:latin typeface="+mn-lt"/>
              </a:rPr>
              <a:t>: Input layer, one or more hidden layers, and an output layer.</a:t>
            </a:r>
          </a:p>
          <a:p>
            <a:pPr lvl="1">
              <a:buFont typeface="+mj-lt"/>
              <a:buAutoNum type="arabicPeriod"/>
            </a:pPr>
            <a:r>
              <a:rPr lang="en-US" sz="2400" b="1" dirty="0">
                <a:latin typeface="+mn-lt"/>
              </a:rPr>
              <a:t>Weights &amp; Biases</a:t>
            </a:r>
            <a:r>
              <a:rPr lang="en-US" sz="2400" dirty="0">
                <a:latin typeface="+mn-lt"/>
              </a:rPr>
              <a:t>: Each connection has parameters adjusted during training.</a:t>
            </a:r>
          </a:p>
          <a:p>
            <a:pPr lvl="1">
              <a:buFont typeface="+mj-lt"/>
              <a:buAutoNum type="arabicPeriod"/>
            </a:pPr>
            <a:r>
              <a:rPr lang="en-US" sz="2400" b="1" dirty="0">
                <a:latin typeface="+mn-lt"/>
              </a:rPr>
              <a:t>Activation Functions</a:t>
            </a:r>
            <a:r>
              <a:rPr lang="en-US" sz="2400" dirty="0">
                <a:latin typeface="+mn-lt"/>
              </a:rPr>
              <a:t>: Nonlinear transformations (e.g., </a:t>
            </a:r>
            <a:r>
              <a:rPr lang="en-US" sz="2400" dirty="0" err="1">
                <a:latin typeface="+mn-lt"/>
              </a:rPr>
              <a:t>ReLU</a:t>
            </a:r>
            <a:r>
              <a:rPr lang="en-US" sz="2400" dirty="0">
                <a:latin typeface="+mn-lt"/>
              </a:rPr>
              <a:t>, Sigmoid) allow the network to learn complex patterns.</a:t>
            </a:r>
          </a:p>
          <a:p>
            <a:pPr lvl="1">
              <a:buFont typeface="+mj-lt"/>
              <a:buAutoNum type="arabicPeriod"/>
            </a:pPr>
            <a:r>
              <a:rPr lang="en-US" sz="2400" b="1" dirty="0">
                <a:latin typeface="+mn-lt"/>
              </a:rPr>
              <a:t>Learning</a:t>
            </a:r>
            <a:r>
              <a:rPr lang="en-US" sz="2400" dirty="0">
                <a:latin typeface="+mn-lt"/>
              </a:rPr>
              <a:t>: Backpropagation algorithm uses loss gradients to update weights, iteratively improving performance.</a:t>
            </a:r>
          </a:p>
          <a:p>
            <a:endParaRPr lang="en-US" dirty="0"/>
          </a:p>
        </p:txBody>
      </p:sp>
      <p:sp>
        <p:nvSpPr>
          <p:cNvPr id="4" name="Date Placeholder 3">
            <a:extLst>
              <a:ext uri="{FF2B5EF4-FFF2-40B4-BE49-F238E27FC236}">
                <a16:creationId xmlns:a16="http://schemas.microsoft.com/office/drawing/2014/main" id="{68E108A6-DE4B-357D-B6BD-FA8754AC6BE9}"/>
              </a:ext>
            </a:extLst>
          </p:cNvPr>
          <p:cNvSpPr>
            <a:spLocks noGrp="1"/>
          </p:cNvSpPr>
          <p:nvPr>
            <p:ph type="dt" sz="half" idx="10"/>
          </p:nvPr>
        </p:nvSpPr>
        <p:spPr/>
        <p:txBody>
          <a:bodyPr/>
          <a:lstStyle/>
          <a:p>
            <a:fld id="{F933E773-48A8-B743-8BE0-E99BDEA425EA}" type="datetime1">
              <a:rPr lang="en-US" noProof="0" smtClean="0"/>
              <a:t>2/23/26</a:t>
            </a:fld>
            <a:endParaRPr lang="en-GB" noProof="0"/>
          </a:p>
        </p:txBody>
      </p:sp>
      <p:sp>
        <p:nvSpPr>
          <p:cNvPr id="5" name="Slide Number Placeholder 4">
            <a:extLst>
              <a:ext uri="{FF2B5EF4-FFF2-40B4-BE49-F238E27FC236}">
                <a16:creationId xmlns:a16="http://schemas.microsoft.com/office/drawing/2014/main" id="{4A2C97A8-12BC-24FE-FDB5-765D242C3D4C}"/>
              </a:ext>
            </a:extLst>
          </p:cNvPr>
          <p:cNvSpPr>
            <a:spLocks noGrp="1"/>
          </p:cNvSpPr>
          <p:nvPr>
            <p:ph type="sldNum" sz="quarter" idx="12"/>
          </p:nvPr>
        </p:nvSpPr>
        <p:spPr/>
        <p:txBody>
          <a:bodyPr/>
          <a:lstStyle/>
          <a:p>
            <a:fld id="{B716C8F4-20CD-364A-8A8E-DE130115B178}" type="slidenum">
              <a:rPr lang="en-GB" noProof="0" smtClean="0"/>
              <a:pPr/>
              <a:t>5</a:t>
            </a:fld>
            <a:endParaRPr lang="en-GB" noProof="0"/>
          </a:p>
        </p:txBody>
      </p:sp>
    </p:spTree>
    <p:extLst>
      <p:ext uri="{BB962C8B-B14F-4D97-AF65-F5344CB8AC3E}">
        <p14:creationId xmlns:p14="http://schemas.microsoft.com/office/powerpoint/2010/main" val="373679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8543E-71DE-1518-CE48-82DEFCC0624A}"/>
              </a:ext>
            </a:extLst>
          </p:cNvPr>
          <p:cNvSpPr>
            <a:spLocks noGrp="1"/>
          </p:cNvSpPr>
          <p:nvPr>
            <p:ph type="title"/>
          </p:nvPr>
        </p:nvSpPr>
        <p:spPr/>
        <p:txBody>
          <a:bodyPr/>
          <a:lstStyle/>
          <a:p>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Content Placeholder 5">
                <a:extLst>
                  <a:ext uri="{FF2B5EF4-FFF2-40B4-BE49-F238E27FC236}">
                    <a16:creationId xmlns:a16="http://schemas.microsoft.com/office/drawing/2014/main" id="{BE177C6F-F753-8F8A-1A5D-DB4E5983161C}"/>
                  </a:ext>
                </a:extLst>
              </p:cNvPr>
              <p:cNvGraphicFramePr>
                <a:graphicFrameLocks noGrp="1"/>
              </p:cNvGraphicFramePr>
              <p:nvPr>
                <p:ph sz="quarter" idx="13"/>
              </p:nvPr>
            </p:nvGraphicFramePr>
            <p:xfrm>
              <a:off x="947738" y="1776413"/>
              <a:ext cx="9472612" cy="424497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6" name="Content Placeholder 5">
                <a:extLst>
                  <a:ext uri="{FF2B5EF4-FFF2-40B4-BE49-F238E27FC236}">
                    <a16:creationId xmlns:a16="http://schemas.microsoft.com/office/drawing/2014/main" id="{BE177C6F-F753-8F8A-1A5D-DB4E5983161C}"/>
                  </a:ext>
                </a:extLst>
              </p:cNvPr>
              <p:cNvPicPr>
                <a:picLocks noGrp="1" noRot="1" noChangeAspect="1" noMove="1" noResize="1" noEditPoints="1" noAdjustHandles="1" noChangeArrowheads="1" noChangeShapeType="1"/>
              </p:cNvPicPr>
              <p:nvPr/>
            </p:nvPicPr>
            <p:blipFill>
              <a:blip r:embed="rId3"/>
              <a:stretch>
                <a:fillRect/>
              </a:stretch>
            </p:blipFill>
            <p:spPr>
              <a:xfrm>
                <a:off x="947738" y="1776413"/>
                <a:ext cx="9472612" cy="4244975"/>
              </a:xfrm>
              <a:prstGeom prst="rect">
                <a:avLst/>
              </a:prstGeom>
            </p:spPr>
          </p:pic>
        </mc:Fallback>
      </mc:AlternateContent>
      <p:sp>
        <p:nvSpPr>
          <p:cNvPr id="4" name="Date Placeholder 3">
            <a:extLst>
              <a:ext uri="{FF2B5EF4-FFF2-40B4-BE49-F238E27FC236}">
                <a16:creationId xmlns:a16="http://schemas.microsoft.com/office/drawing/2014/main" id="{09F81D7C-DD00-E4A3-4FE8-2D9044E991C4}"/>
              </a:ext>
            </a:extLst>
          </p:cNvPr>
          <p:cNvSpPr>
            <a:spLocks noGrp="1"/>
          </p:cNvSpPr>
          <p:nvPr>
            <p:ph type="dt" sz="half" idx="10"/>
          </p:nvPr>
        </p:nvSpPr>
        <p:spPr/>
        <p:txBody>
          <a:bodyPr/>
          <a:lstStyle/>
          <a:p>
            <a:fld id="{99FCECF3-C5A5-3147-AC14-7C8B1D3C3A9F}" type="datetime1">
              <a:rPr lang="en-US" noProof="0" smtClean="0"/>
              <a:t>2/23/26</a:t>
            </a:fld>
            <a:endParaRPr lang="en-GB" noProof="0"/>
          </a:p>
        </p:txBody>
      </p:sp>
      <p:sp>
        <p:nvSpPr>
          <p:cNvPr id="5" name="Slide Number Placeholder 4">
            <a:extLst>
              <a:ext uri="{FF2B5EF4-FFF2-40B4-BE49-F238E27FC236}">
                <a16:creationId xmlns:a16="http://schemas.microsoft.com/office/drawing/2014/main" id="{AC31A3DB-8383-EB8C-D5DE-DF0872603B90}"/>
              </a:ext>
            </a:extLst>
          </p:cNvPr>
          <p:cNvSpPr>
            <a:spLocks noGrp="1"/>
          </p:cNvSpPr>
          <p:nvPr>
            <p:ph type="sldNum" sz="quarter" idx="12"/>
          </p:nvPr>
        </p:nvSpPr>
        <p:spPr/>
        <p:txBody>
          <a:bodyPr/>
          <a:lstStyle/>
          <a:p>
            <a:fld id="{B716C8F4-20CD-364A-8A8E-DE130115B178}" type="slidenum">
              <a:rPr lang="en-GB" noProof="0" smtClean="0"/>
              <a:pPr/>
              <a:t>6</a:t>
            </a:fld>
            <a:endParaRPr lang="en-GB" noProof="0"/>
          </a:p>
        </p:txBody>
      </p:sp>
    </p:spTree>
    <p:extLst>
      <p:ext uri="{BB962C8B-B14F-4D97-AF65-F5344CB8AC3E}">
        <p14:creationId xmlns:p14="http://schemas.microsoft.com/office/powerpoint/2010/main" val="1040416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BABFAB-6E40-57EF-BADA-BE7E8C23011E}"/>
              </a:ext>
            </a:extLst>
          </p:cNvPr>
          <p:cNvSpPr>
            <a:spLocks noGrp="1"/>
          </p:cNvSpPr>
          <p:nvPr>
            <p:ph type="dt" sz="half" idx="10"/>
          </p:nvPr>
        </p:nvSpPr>
        <p:spPr/>
        <p:txBody>
          <a:bodyPr/>
          <a:lstStyle/>
          <a:p>
            <a:fld id="{03857533-6E44-364D-9DC4-91A504C0FA02}" type="datetime1">
              <a:rPr lang="en-US" noProof="0" smtClean="0"/>
              <a:t>2/23/26</a:t>
            </a:fld>
            <a:endParaRPr lang="en-GB" noProof="0"/>
          </a:p>
        </p:txBody>
      </p:sp>
      <p:sp>
        <p:nvSpPr>
          <p:cNvPr id="3" name="Slide Number Placeholder 2">
            <a:extLst>
              <a:ext uri="{FF2B5EF4-FFF2-40B4-BE49-F238E27FC236}">
                <a16:creationId xmlns:a16="http://schemas.microsoft.com/office/drawing/2014/main" id="{3AB7D5E4-3874-6B30-A350-4A7283D45F69}"/>
              </a:ext>
            </a:extLst>
          </p:cNvPr>
          <p:cNvSpPr>
            <a:spLocks noGrp="1"/>
          </p:cNvSpPr>
          <p:nvPr>
            <p:ph type="sldNum" sz="quarter" idx="12"/>
          </p:nvPr>
        </p:nvSpPr>
        <p:spPr/>
        <p:txBody>
          <a:bodyPr/>
          <a:lstStyle/>
          <a:p>
            <a:fld id="{B716C8F4-20CD-364A-8A8E-DE130115B178}" type="slidenum">
              <a:rPr lang="en-GB" noProof="0" smtClean="0"/>
              <a:pPr/>
              <a:t>7</a:t>
            </a:fld>
            <a:endParaRPr lang="en-GB" noProof="0"/>
          </a:p>
        </p:txBody>
      </p:sp>
      <p:sp>
        <p:nvSpPr>
          <p:cNvPr id="4" name="Title 3">
            <a:extLst>
              <a:ext uri="{FF2B5EF4-FFF2-40B4-BE49-F238E27FC236}">
                <a16:creationId xmlns:a16="http://schemas.microsoft.com/office/drawing/2014/main" id="{473B9078-4976-E6C5-5F37-B1606BD96EF0}"/>
              </a:ext>
            </a:extLst>
          </p:cNvPr>
          <p:cNvSpPr>
            <a:spLocks noGrp="1"/>
          </p:cNvSpPr>
          <p:nvPr>
            <p:ph type="title"/>
          </p:nvPr>
        </p:nvSpPr>
        <p:spPr/>
        <p:txBody>
          <a:bodyPr/>
          <a:lstStyle/>
          <a:p>
            <a:r>
              <a:rPr lang="en-US" dirty="0"/>
              <a:t>Answer</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938EA2AE-2957-9EBB-410B-F11F43901452}"/>
                  </a:ext>
                </a:extLst>
              </p:cNvPr>
              <p:cNvSpPr>
                <a:spLocks noGrp="1"/>
              </p:cNvSpPr>
              <p:nvPr>
                <p:ph sz="quarter" idx="13"/>
              </p:nvPr>
            </p:nvSpPr>
            <p:spPr/>
            <p:txBody>
              <a:bodyPr/>
              <a:lstStyle/>
              <a:p>
                <a:r>
                  <a:rPr lang="en-US" sz="1800" dirty="0"/>
                  <a:t>the neuron's equation: </a:t>
                </a:r>
                <a14:m>
                  <m:oMath xmlns:m="http://schemas.openxmlformats.org/officeDocument/2006/math">
                    <m:r>
                      <a:rPr lang="sv-SE" sz="1800" b="1" i="1" smtClean="0">
                        <a:latin typeface="Cambria Math" panose="02040503050406030204" pitchFamily="18" charset="0"/>
                      </a:rPr>
                      <m:t>𝒛</m:t>
                    </m:r>
                    <m:r>
                      <a:rPr lang="sv-SE" sz="1800" b="1" i="1" smtClean="0">
                        <a:latin typeface="Cambria Math" panose="02040503050406030204" pitchFamily="18" charset="0"/>
                      </a:rPr>
                      <m:t>=</m:t>
                    </m:r>
                    <m:r>
                      <a:rPr lang="sv-SE" sz="1800" b="1" i="1" smtClean="0">
                        <a:latin typeface="Cambria Math" panose="02040503050406030204" pitchFamily="18" charset="0"/>
                      </a:rPr>
                      <m:t>𝒘</m:t>
                    </m:r>
                    <m:r>
                      <a:rPr lang="sv-SE" sz="1800" b="1" i="1" smtClean="0">
                        <a:latin typeface="Cambria Math" panose="02040503050406030204" pitchFamily="18" charset="0"/>
                      </a:rPr>
                      <m:t> . </m:t>
                    </m:r>
                    <m:r>
                      <a:rPr lang="sv-SE" sz="1800" b="1" i="1" smtClean="0">
                        <a:latin typeface="Cambria Math" panose="02040503050406030204" pitchFamily="18" charset="0"/>
                      </a:rPr>
                      <m:t>𝒙</m:t>
                    </m:r>
                  </m:oMath>
                </a14:m>
                <a:endParaRPr lang="en-US" sz="1800" b="1" dirty="0"/>
              </a:p>
              <a:p>
                <a:r>
                  <a:rPr lang="en-US" sz="1800" b="1" dirty="0"/>
                  <a:t>The Role of Weights (</a:t>
                </a:r>
                <a14:m>
                  <m:oMath xmlns:m="http://schemas.openxmlformats.org/officeDocument/2006/math">
                    <m:r>
                      <a:rPr lang="sv-SE" sz="1800" b="1" i="1" smtClean="0">
                        <a:latin typeface="Cambria Math" panose="02040503050406030204" pitchFamily="18" charset="0"/>
                      </a:rPr>
                      <m:t>𝒘</m:t>
                    </m:r>
                  </m:oMath>
                </a14:m>
                <a:r>
                  <a:rPr lang="en-US" sz="1800" b="1" dirty="0"/>
                  <a:t>)</a:t>
                </a:r>
              </a:p>
              <a:p>
                <a:pPr lvl="1"/>
                <a:r>
                  <a:rPr lang="en-US" sz="1800" b="1" dirty="0"/>
                  <a:t>Determine Importance:</a:t>
                </a:r>
                <a:r>
                  <a:rPr lang="en-US" sz="1800" dirty="0"/>
                  <a:t> Weights decide how much influence a specific input has on the neuron's final decision.</a:t>
                </a:r>
              </a:p>
              <a:p>
                <a:pPr lvl="1"/>
                <a:r>
                  <a:rPr lang="en-US" sz="1800" b="1" dirty="0"/>
                  <a:t>Control the Angle:</a:t>
                </a:r>
                <a:r>
                  <a:rPr lang="en-US" sz="1800" dirty="0"/>
                  <a:t> Mathematically, weights change the slope or steepness of the network's decision boundary.</a:t>
                </a:r>
              </a:p>
              <a:p>
                <a:pPr lvl="1"/>
                <a:r>
                  <a:rPr lang="en-US" sz="1800" b="1" dirty="0"/>
                  <a:t>The Limitation:</a:t>
                </a:r>
                <a:r>
                  <a:rPr lang="en-US" sz="1800" dirty="0"/>
                  <a:t> If a neuron </a:t>
                </a:r>
                <a:r>
                  <a:rPr lang="en-US" sz="1800" i="1" dirty="0"/>
                  <a:t>only</a:t>
                </a:r>
                <a:r>
                  <a:rPr lang="en-US" sz="1800" dirty="0"/>
                  <a:t> had weights </a:t>
                </a:r>
                <a:r>
                  <a:rPr lang="en-US" sz="1800" b="1" dirty="0"/>
                  <a:t>(</a:t>
                </a:r>
                <a14:m>
                  <m:oMath xmlns:m="http://schemas.openxmlformats.org/officeDocument/2006/math">
                    <m:r>
                      <a:rPr lang="sv-SE" sz="1800" b="1" i="1">
                        <a:latin typeface="Cambria Math" panose="02040503050406030204" pitchFamily="18" charset="0"/>
                      </a:rPr>
                      <m:t>𝒛</m:t>
                    </m:r>
                    <m:r>
                      <a:rPr lang="sv-SE" sz="1800" b="1" i="1">
                        <a:latin typeface="Cambria Math" panose="02040503050406030204" pitchFamily="18" charset="0"/>
                      </a:rPr>
                      <m:t>=</m:t>
                    </m:r>
                    <m:r>
                      <a:rPr lang="sv-SE" sz="1800" b="1" i="1">
                        <a:latin typeface="Cambria Math" panose="02040503050406030204" pitchFamily="18" charset="0"/>
                      </a:rPr>
                      <m:t>𝒘</m:t>
                    </m:r>
                    <m:r>
                      <a:rPr lang="sv-SE" sz="1800" b="1" i="1">
                        <a:latin typeface="Cambria Math" panose="02040503050406030204" pitchFamily="18" charset="0"/>
                      </a:rPr>
                      <m:t> . </m:t>
                    </m:r>
                    <m:r>
                      <a:rPr lang="sv-SE" sz="1800" b="1" i="1">
                        <a:latin typeface="Cambria Math" panose="02040503050406030204" pitchFamily="18" charset="0"/>
                      </a:rPr>
                      <m:t>𝒙</m:t>
                    </m:r>
                  </m:oMath>
                </a14:m>
                <a:r>
                  <a:rPr lang="en-US" sz="1800" b="1" dirty="0"/>
                  <a:t>), </a:t>
                </a:r>
                <a:r>
                  <a:rPr lang="en-US" sz="1800" dirty="0"/>
                  <a:t>its decision boundary would be geometrically forced to pass exactly through the origin </a:t>
                </a:r>
                <a:r>
                  <a:rPr lang="en-US" sz="1800" b="1" dirty="0"/>
                  <a:t>(0,0)</a:t>
                </a:r>
                <a:r>
                  <a:rPr lang="en-US" sz="1800" dirty="0"/>
                  <a:t> of a graph. This would make it impossible to correctly separate data that isn't perfectly centered.</a:t>
                </a:r>
              </a:p>
              <a:p>
                <a:r>
                  <a:rPr lang="en-US" sz="1800" b="1" dirty="0"/>
                  <a:t>The Role of the Bias (b)</a:t>
                </a:r>
              </a:p>
              <a:p>
                <a:pPr lvl="1"/>
                <a:r>
                  <a:rPr lang="en-US" sz="1800" b="1" dirty="0"/>
                  <a:t>Determine the Threshold:</a:t>
                </a:r>
                <a:r>
                  <a:rPr lang="en-US" sz="1800" dirty="0"/>
                  <a:t> The bias acts as the neuron's baseline sensitivity. It decides how high the total weighted sum needs to be before the neuron actually activates.</a:t>
                </a:r>
              </a:p>
              <a:p>
                <a:pPr lvl="1"/>
                <a:r>
                  <a:rPr lang="en-US" sz="1800" b="1" dirty="0"/>
                  <a:t>Shift the Boundary:</a:t>
                </a:r>
                <a:r>
                  <a:rPr lang="en-US" sz="1800" dirty="0"/>
                  <a:t> Mathematically, the bias shifts the entire decision line up, down, left, or right. This frees the line from the </a:t>
                </a:r>
                <a:r>
                  <a:rPr lang="en-US" sz="1800" b="1" dirty="0"/>
                  <a:t>(0,0)</a:t>
                </a:r>
                <a:r>
                  <a:rPr lang="en-US" sz="1800" dirty="0"/>
                  <a:t> origin so it can move to wherever the actual data is located.</a:t>
                </a:r>
              </a:p>
              <a:p>
                <a:endParaRPr lang="en-US" dirty="0"/>
              </a:p>
            </p:txBody>
          </p:sp>
        </mc:Choice>
        <mc:Fallback>
          <p:sp>
            <p:nvSpPr>
              <p:cNvPr id="5" name="Content Placeholder 4">
                <a:extLst>
                  <a:ext uri="{FF2B5EF4-FFF2-40B4-BE49-F238E27FC236}">
                    <a16:creationId xmlns:a16="http://schemas.microsoft.com/office/drawing/2014/main" id="{938EA2AE-2957-9EBB-410B-F11F43901452}"/>
                  </a:ext>
                </a:extLst>
              </p:cNvPr>
              <p:cNvSpPr>
                <a:spLocks noGrp="1" noRot="1" noChangeAspect="1" noMove="1" noResize="1" noEditPoints="1" noAdjustHandles="1" noChangeArrowheads="1" noChangeShapeType="1" noTextEdit="1"/>
              </p:cNvSpPr>
              <p:nvPr>
                <p:ph sz="quarter" idx="13"/>
              </p:nvPr>
            </p:nvSpPr>
            <p:spPr>
              <a:blipFill>
                <a:blip r:embed="rId3"/>
                <a:stretch>
                  <a:fillRect l="-402" t="-595" r="-937" b="-13690"/>
                </a:stretch>
              </a:blipFill>
            </p:spPr>
            <p:txBody>
              <a:bodyPr/>
              <a:lstStyle/>
              <a:p>
                <a:r>
                  <a:rPr lang="en-US">
                    <a:noFill/>
                  </a:rPr>
                  <a:t> </a:t>
                </a:r>
              </a:p>
            </p:txBody>
          </p:sp>
        </mc:Fallback>
      </mc:AlternateContent>
    </p:spTree>
    <p:extLst>
      <p:ext uri="{BB962C8B-B14F-4D97-AF65-F5344CB8AC3E}">
        <p14:creationId xmlns:p14="http://schemas.microsoft.com/office/powerpoint/2010/main" val="3162049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67D4D-7183-A01E-A7C6-5687966D1734}"/>
              </a:ext>
            </a:extLst>
          </p:cNvPr>
          <p:cNvSpPr>
            <a:spLocks noGrp="1"/>
          </p:cNvSpPr>
          <p:nvPr>
            <p:ph type="title"/>
          </p:nvPr>
        </p:nvSpPr>
        <p:spPr/>
        <p:txBody>
          <a:bodyPr/>
          <a:lstStyle/>
          <a:p>
            <a:r>
              <a:rPr lang="en-US" dirty="0"/>
              <a:t>How it Works ?</a:t>
            </a:r>
          </a:p>
        </p:txBody>
      </p:sp>
      <p:pic>
        <p:nvPicPr>
          <p:cNvPr id="5" name="Content Placeholder 4" descr="A diagram of a network&#10;&#10;AI-generated content may be incorrect.">
            <a:extLst>
              <a:ext uri="{FF2B5EF4-FFF2-40B4-BE49-F238E27FC236}">
                <a16:creationId xmlns:a16="http://schemas.microsoft.com/office/drawing/2014/main" id="{DD908C82-B507-B1C0-1833-E25A632CE574}"/>
              </a:ext>
            </a:extLst>
          </p:cNvPr>
          <p:cNvPicPr>
            <a:picLocks noGrp="1" noChangeAspect="1"/>
          </p:cNvPicPr>
          <p:nvPr>
            <p:ph sz="quarter" idx="13"/>
          </p:nvPr>
        </p:nvPicPr>
        <p:blipFill>
          <a:blip r:embed="rId2"/>
          <a:stretch>
            <a:fillRect/>
          </a:stretch>
        </p:blipFill>
        <p:spPr>
          <a:xfrm>
            <a:off x="148358" y="1552755"/>
            <a:ext cx="6275442" cy="4706582"/>
          </a:xfrm>
        </p:spPr>
      </p:pic>
      <p:pic>
        <p:nvPicPr>
          <p:cNvPr id="6" name="Content Placeholder 4" descr="A diagram of a computer system&#10;&#10;AI-generated content may be incorrect.">
            <a:extLst>
              <a:ext uri="{FF2B5EF4-FFF2-40B4-BE49-F238E27FC236}">
                <a16:creationId xmlns:a16="http://schemas.microsoft.com/office/drawing/2014/main" id="{F6A5CA3D-50B3-B719-5E5F-DA4CBEF2F634}"/>
              </a:ext>
            </a:extLst>
          </p:cNvPr>
          <p:cNvPicPr>
            <a:picLocks noChangeAspect="1"/>
          </p:cNvPicPr>
          <p:nvPr/>
        </p:nvPicPr>
        <p:blipFill>
          <a:blip r:embed="rId3"/>
          <a:stretch>
            <a:fillRect/>
          </a:stretch>
        </p:blipFill>
        <p:spPr>
          <a:xfrm>
            <a:off x="6423800" y="1439820"/>
            <a:ext cx="5454796" cy="2710352"/>
          </a:xfrm>
          <a:prstGeom prst="rect">
            <a:avLst/>
          </a:prstGeom>
        </p:spPr>
      </p:pic>
      <p:sp>
        <p:nvSpPr>
          <p:cNvPr id="8" name="TextBox 7">
            <a:extLst>
              <a:ext uri="{FF2B5EF4-FFF2-40B4-BE49-F238E27FC236}">
                <a16:creationId xmlns:a16="http://schemas.microsoft.com/office/drawing/2014/main" id="{732ED424-BE1D-DB6F-D8A6-48F01D9CA20F}"/>
              </a:ext>
            </a:extLst>
          </p:cNvPr>
          <p:cNvSpPr txBox="1"/>
          <p:nvPr/>
        </p:nvSpPr>
        <p:spPr>
          <a:xfrm>
            <a:off x="7564581" y="4869601"/>
            <a:ext cx="1128136" cy="369332"/>
          </a:xfrm>
          <a:prstGeom prst="rect">
            <a:avLst/>
          </a:prstGeom>
          <a:noFill/>
        </p:spPr>
        <p:txBody>
          <a:bodyPr wrap="square">
            <a:spAutoFit/>
          </a:bodyPr>
          <a:lstStyle/>
          <a:p>
            <a:r>
              <a:rPr lang="en-US" dirty="0">
                <a:hlinkClick r:id="rId4"/>
              </a:rPr>
              <a:t>Click here</a:t>
            </a:r>
            <a:endParaRPr lang="en-US" dirty="0"/>
          </a:p>
        </p:txBody>
      </p:sp>
      <p:sp>
        <p:nvSpPr>
          <p:cNvPr id="9" name="TextBox 8">
            <a:extLst>
              <a:ext uri="{FF2B5EF4-FFF2-40B4-BE49-F238E27FC236}">
                <a16:creationId xmlns:a16="http://schemas.microsoft.com/office/drawing/2014/main" id="{30E1DDB9-0065-B3FF-DFE7-CE662CD8A0EC}"/>
              </a:ext>
            </a:extLst>
          </p:cNvPr>
          <p:cNvSpPr txBox="1"/>
          <p:nvPr/>
        </p:nvSpPr>
        <p:spPr>
          <a:xfrm>
            <a:off x="6588846" y="4809759"/>
            <a:ext cx="961881" cy="461665"/>
          </a:xfrm>
          <a:prstGeom prst="rect">
            <a:avLst/>
          </a:prstGeom>
          <a:noFill/>
        </p:spPr>
        <p:txBody>
          <a:bodyPr wrap="square" rtlCol="0">
            <a:spAutoFit/>
          </a:bodyPr>
          <a:lstStyle/>
          <a:p>
            <a:r>
              <a:rPr lang="en-US" sz="2400" dirty="0"/>
              <a:t>Demo</a:t>
            </a:r>
          </a:p>
        </p:txBody>
      </p:sp>
      <p:sp>
        <p:nvSpPr>
          <p:cNvPr id="11" name="TextBox 10">
            <a:extLst>
              <a:ext uri="{FF2B5EF4-FFF2-40B4-BE49-F238E27FC236}">
                <a16:creationId xmlns:a16="http://schemas.microsoft.com/office/drawing/2014/main" id="{5DD01332-A57A-E588-3212-9F85610C1B21}"/>
              </a:ext>
            </a:extLst>
          </p:cNvPr>
          <p:cNvSpPr txBox="1"/>
          <p:nvPr/>
        </p:nvSpPr>
        <p:spPr>
          <a:xfrm>
            <a:off x="3048000" y="6372272"/>
            <a:ext cx="6096000" cy="369332"/>
          </a:xfrm>
          <a:prstGeom prst="rect">
            <a:avLst/>
          </a:prstGeom>
          <a:noFill/>
        </p:spPr>
        <p:txBody>
          <a:bodyPr wrap="square">
            <a:spAutoFit/>
          </a:bodyPr>
          <a:lstStyle/>
          <a:p>
            <a:r>
              <a:rPr lang="en-US" dirty="0">
                <a:hlinkClick r:id="rId5"/>
              </a:rPr>
              <a:t>https://ml4a.github.io/ml4a/looking_inside_neural_nets/</a:t>
            </a:r>
            <a:endParaRPr lang="en-US" dirty="0"/>
          </a:p>
        </p:txBody>
      </p:sp>
      <p:sp>
        <p:nvSpPr>
          <p:cNvPr id="3" name="Date Placeholder 2">
            <a:extLst>
              <a:ext uri="{FF2B5EF4-FFF2-40B4-BE49-F238E27FC236}">
                <a16:creationId xmlns:a16="http://schemas.microsoft.com/office/drawing/2014/main" id="{0054A749-68C9-C8DC-7132-6EAF303946CD}"/>
              </a:ext>
            </a:extLst>
          </p:cNvPr>
          <p:cNvSpPr>
            <a:spLocks noGrp="1"/>
          </p:cNvSpPr>
          <p:nvPr>
            <p:ph type="dt" sz="half" idx="10"/>
          </p:nvPr>
        </p:nvSpPr>
        <p:spPr/>
        <p:txBody>
          <a:bodyPr/>
          <a:lstStyle/>
          <a:p>
            <a:fld id="{D33B9445-A670-A743-962C-722E7D495B2F}" type="datetime1">
              <a:rPr lang="en-US" noProof="0" smtClean="0"/>
              <a:t>2/23/26</a:t>
            </a:fld>
            <a:endParaRPr lang="en-GB" noProof="0"/>
          </a:p>
        </p:txBody>
      </p:sp>
      <p:sp>
        <p:nvSpPr>
          <p:cNvPr id="4" name="Slide Number Placeholder 3">
            <a:extLst>
              <a:ext uri="{FF2B5EF4-FFF2-40B4-BE49-F238E27FC236}">
                <a16:creationId xmlns:a16="http://schemas.microsoft.com/office/drawing/2014/main" id="{B920D4E5-25F2-21C4-406B-DCF99B47783B}"/>
              </a:ext>
            </a:extLst>
          </p:cNvPr>
          <p:cNvSpPr>
            <a:spLocks noGrp="1"/>
          </p:cNvSpPr>
          <p:nvPr>
            <p:ph type="sldNum" sz="quarter" idx="12"/>
          </p:nvPr>
        </p:nvSpPr>
        <p:spPr/>
        <p:txBody>
          <a:bodyPr/>
          <a:lstStyle/>
          <a:p>
            <a:fld id="{B716C8F4-20CD-364A-8A8E-DE130115B178}" type="slidenum">
              <a:rPr lang="en-GB" noProof="0" smtClean="0"/>
              <a:pPr/>
              <a:t>8</a:t>
            </a:fld>
            <a:endParaRPr lang="en-GB" noProof="0"/>
          </a:p>
        </p:txBody>
      </p:sp>
    </p:spTree>
    <p:extLst>
      <p:ext uri="{BB962C8B-B14F-4D97-AF65-F5344CB8AC3E}">
        <p14:creationId xmlns:p14="http://schemas.microsoft.com/office/powerpoint/2010/main" val="4020418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BD72B-7473-3676-30E2-A02FCBCD5F9C}"/>
              </a:ext>
            </a:extLst>
          </p:cNvPr>
          <p:cNvSpPr>
            <a:spLocks noGrp="1"/>
          </p:cNvSpPr>
          <p:nvPr>
            <p:ph type="title"/>
          </p:nvPr>
        </p:nvSpPr>
        <p:spPr/>
        <p:txBody>
          <a:bodyPr/>
          <a:lstStyle/>
          <a:p>
            <a:r>
              <a:rPr lang="en-US" dirty="0"/>
              <a:t>Forward Pass</a:t>
            </a:r>
          </a:p>
        </p:txBody>
      </p:sp>
      <p:sp>
        <p:nvSpPr>
          <p:cNvPr id="3" name="Content Placeholder 2">
            <a:extLst>
              <a:ext uri="{FF2B5EF4-FFF2-40B4-BE49-F238E27FC236}">
                <a16:creationId xmlns:a16="http://schemas.microsoft.com/office/drawing/2014/main" id="{66157EB7-CAEF-5B8F-FDF3-06B0A1A65BE4}"/>
              </a:ext>
            </a:extLst>
          </p:cNvPr>
          <p:cNvSpPr>
            <a:spLocks noGrp="1"/>
          </p:cNvSpPr>
          <p:nvPr>
            <p:ph sz="quarter" idx="13"/>
          </p:nvPr>
        </p:nvSpPr>
        <p:spPr/>
        <p:txBody>
          <a:bodyPr/>
          <a:lstStyle/>
          <a:p>
            <a:pPr>
              <a:buFont typeface="+mj-lt"/>
              <a:buAutoNum type="arabicPeriod"/>
            </a:pPr>
            <a:r>
              <a:rPr lang="en-US" sz="2400" dirty="0">
                <a:latin typeface="+mn-lt"/>
              </a:rPr>
              <a:t>Compute weighted sum at each neuron</a:t>
            </a:r>
          </a:p>
          <a:p>
            <a:pPr>
              <a:buFont typeface="+mj-lt"/>
              <a:buAutoNum type="arabicPeriod"/>
            </a:pPr>
            <a:endParaRPr lang="en-US" sz="2400" dirty="0">
              <a:latin typeface="+mn-lt"/>
            </a:endParaRPr>
          </a:p>
          <a:p>
            <a:pPr>
              <a:buFont typeface="+mj-lt"/>
              <a:buAutoNum type="arabicPeriod"/>
            </a:pPr>
            <a:r>
              <a:rPr lang="en-US" sz="2400" dirty="0">
                <a:latin typeface="+mn-lt"/>
              </a:rPr>
              <a:t>Apply activation function in hidden layers</a:t>
            </a:r>
          </a:p>
          <a:p>
            <a:pPr lvl="1">
              <a:buFont typeface="+mj-lt"/>
              <a:buAutoNum type="arabicPeriod"/>
            </a:pPr>
            <a:r>
              <a:rPr lang="en-US" sz="2200" dirty="0">
                <a:latin typeface="+mn-lt"/>
              </a:rPr>
              <a:t>That ensures the neural network can learn non-linear patterns</a:t>
            </a:r>
          </a:p>
          <a:p>
            <a:pPr>
              <a:buFont typeface="+mj-lt"/>
              <a:buAutoNum type="arabicPeriod"/>
            </a:pPr>
            <a:endParaRPr lang="en-US" sz="2400" dirty="0">
              <a:latin typeface="+mn-lt"/>
            </a:endParaRPr>
          </a:p>
          <a:p>
            <a:pPr>
              <a:buFont typeface="+mj-lt"/>
              <a:buAutoNum type="arabicPeriod"/>
            </a:pPr>
            <a:r>
              <a:rPr lang="en-US" sz="2400" dirty="0">
                <a:latin typeface="+mn-lt"/>
              </a:rPr>
              <a:t>Pass the output to the next layer</a:t>
            </a:r>
          </a:p>
          <a:p>
            <a:pPr>
              <a:buFont typeface="+mj-lt"/>
              <a:buAutoNum type="arabicPeriod"/>
            </a:pPr>
            <a:endParaRPr lang="en-US" sz="2400" dirty="0">
              <a:latin typeface="+mn-lt"/>
            </a:endParaRPr>
          </a:p>
          <a:p>
            <a:pPr>
              <a:buFont typeface="+mj-lt"/>
              <a:buAutoNum type="arabicPeriod"/>
            </a:pPr>
            <a:r>
              <a:rPr lang="en-US" sz="2400" dirty="0">
                <a:latin typeface="+mn-lt"/>
              </a:rPr>
              <a:t>Final output is generated</a:t>
            </a:r>
          </a:p>
        </p:txBody>
      </p:sp>
      <p:sp>
        <p:nvSpPr>
          <p:cNvPr id="4" name="Date Placeholder 3">
            <a:extLst>
              <a:ext uri="{FF2B5EF4-FFF2-40B4-BE49-F238E27FC236}">
                <a16:creationId xmlns:a16="http://schemas.microsoft.com/office/drawing/2014/main" id="{65F914D5-EB5C-249B-9EEE-AD43FA05366F}"/>
              </a:ext>
            </a:extLst>
          </p:cNvPr>
          <p:cNvSpPr>
            <a:spLocks noGrp="1"/>
          </p:cNvSpPr>
          <p:nvPr>
            <p:ph type="dt" sz="half" idx="10"/>
          </p:nvPr>
        </p:nvSpPr>
        <p:spPr/>
        <p:txBody>
          <a:bodyPr/>
          <a:lstStyle/>
          <a:p>
            <a:fld id="{BCD923DF-B1AD-3741-B9DB-59E3BD86F4BA}" type="datetime1">
              <a:rPr lang="en-US" noProof="0" smtClean="0"/>
              <a:t>2/23/26</a:t>
            </a:fld>
            <a:endParaRPr lang="en-GB" noProof="0"/>
          </a:p>
        </p:txBody>
      </p:sp>
      <p:sp>
        <p:nvSpPr>
          <p:cNvPr id="5" name="Slide Number Placeholder 4">
            <a:extLst>
              <a:ext uri="{FF2B5EF4-FFF2-40B4-BE49-F238E27FC236}">
                <a16:creationId xmlns:a16="http://schemas.microsoft.com/office/drawing/2014/main" id="{F03EE01C-8046-D60E-5967-8DB7E85E014F}"/>
              </a:ext>
            </a:extLst>
          </p:cNvPr>
          <p:cNvSpPr>
            <a:spLocks noGrp="1"/>
          </p:cNvSpPr>
          <p:nvPr>
            <p:ph type="sldNum" sz="quarter" idx="12"/>
          </p:nvPr>
        </p:nvSpPr>
        <p:spPr/>
        <p:txBody>
          <a:bodyPr/>
          <a:lstStyle/>
          <a:p>
            <a:fld id="{B716C8F4-20CD-364A-8A8E-DE130115B178}" type="slidenum">
              <a:rPr lang="en-GB" noProof="0" smtClean="0"/>
              <a:pPr/>
              <a:t>9</a:t>
            </a:fld>
            <a:endParaRPr lang="en-GB" noProof="0"/>
          </a:p>
        </p:txBody>
      </p:sp>
    </p:spTree>
    <p:extLst>
      <p:ext uri="{BB962C8B-B14F-4D97-AF65-F5344CB8AC3E}">
        <p14:creationId xmlns:p14="http://schemas.microsoft.com/office/powerpoint/2010/main" val="2456215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DBC69-C040-9503-4A45-DFD3A8E7E0E9}"/>
              </a:ext>
            </a:extLst>
          </p:cNvPr>
          <p:cNvSpPr>
            <a:spLocks noGrp="1"/>
          </p:cNvSpPr>
          <p:nvPr>
            <p:ph type="title"/>
          </p:nvPr>
        </p:nvSpPr>
        <p:spPr/>
        <p:txBody>
          <a:bodyPr/>
          <a:lstStyle/>
          <a:p>
            <a:r>
              <a:rPr lang="en-US" dirty="0"/>
              <a:t>Forward Pass</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4F0DA8E-3DE0-30C8-BAE6-591E63933877}"/>
                  </a:ext>
                </a:extLst>
              </p:cNvPr>
              <p:cNvSpPr txBox="1"/>
              <p:nvPr/>
            </p:nvSpPr>
            <p:spPr>
              <a:xfrm>
                <a:off x="5282542" y="548640"/>
                <a:ext cx="5961720" cy="5016758"/>
              </a:xfrm>
              <a:prstGeom prst="rect">
                <a:avLst/>
              </a:prstGeom>
              <a:noFill/>
            </p:spPr>
            <p:txBody>
              <a:bodyPr wrap="square">
                <a:spAutoFit/>
              </a:bodyPr>
              <a:lstStyle/>
              <a:p>
                <a:endParaRPr lang="en-US" sz="2000" b="1" dirty="0">
                  <a:solidFill>
                    <a:schemeClr val="tx1">
                      <a:lumMod val="65000"/>
                      <a:lumOff val="35000"/>
                    </a:schemeClr>
                  </a:solidFill>
                  <a:latin typeface="Work Sans" pitchFamily="2" charset="77"/>
                </a:endParaRPr>
              </a:p>
              <a:p>
                <a:pPr>
                  <a:buFont typeface="Arial" panose="020B0604020202020204" pitchFamily="34" charset="0"/>
                  <a:buChar char="•"/>
                </a:pPr>
                <a:r>
                  <a:rPr lang="en-US" sz="2000" b="1" dirty="0">
                    <a:solidFill>
                      <a:schemeClr val="tx1">
                        <a:lumMod val="65000"/>
                        <a:lumOff val="35000"/>
                      </a:schemeClr>
                    </a:solidFill>
                    <a:latin typeface="Work Sans" pitchFamily="2" charset="77"/>
                  </a:rPr>
                  <a:t>Input Layer</a:t>
                </a:r>
                <a:r>
                  <a:rPr lang="en-US" sz="2000" dirty="0">
                    <a:solidFill>
                      <a:schemeClr val="tx1">
                        <a:lumMod val="65000"/>
                        <a:lumOff val="35000"/>
                      </a:schemeClr>
                    </a:solidFill>
                    <a:latin typeface="Work Sans" pitchFamily="2" charset="77"/>
                  </a:rPr>
                  <a:t>:</a:t>
                </a:r>
              </a:p>
              <a:p>
                <a:pPr marL="742950" lvl="1" indent="-285750">
                  <a:buFont typeface="Arial" panose="020B0604020202020204" pitchFamily="34" charset="0"/>
                  <a:buChar char="•"/>
                </a:pPr>
                <a14:m>
                  <m:oMath xmlns:m="http://schemas.openxmlformats.org/officeDocument/2006/math">
                    <m:sSub>
                      <m:sSubPr>
                        <m:ctrlPr>
                          <a:rPr lang="en-US" sz="2000" i="1" dirty="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𝑥</m:t>
                        </m:r>
                      </m:e>
                      <m:sub>
                        <m:r>
                          <a:rPr lang="en-US" sz="2000" i="1" dirty="0">
                            <a:solidFill>
                              <a:schemeClr val="tx1">
                                <a:lumMod val="65000"/>
                                <a:lumOff val="35000"/>
                              </a:schemeClr>
                            </a:solidFill>
                            <a:latin typeface="Cambria Math" panose="02040503050406030204" pitchFamily="18" charset="0"/>
                          </a:rPr>
                          <m:t>1</m:t>
                        </m:r>
                      </m:sub>
                    </m:sSub>
                    <m:r>
                      <a:rPr lang="sv-SE" sz="2000" b="0" i="1" dirty="0" smtClean="0">
                        <a:solidFill>
                          <a:schemeClr val="tx1">
                            <a:lumMod val="65000"/>
                            <a:lumOff val="35000"/>
                          </a:schemeClr>
                        </a:solidFill>
                        <a:latin typeface="Cambria Math" panose="02040503050406030204" pitchFamily="18" charset="0"/>
                      </a:rPr>
                      <m:t>,</m:t>
                    </m:r>
                    <m:sSub>
                      <m:sSubPr>
                        <m:ctrlPr>
                          <a:rPr lang="en-US" sz="2000" i="1" dirty="0">
                            <a:solidFill>
                              <a:schemeClr val="tx1">
                                <a:lumMod val="65000"/>
                                <a:lumOff val="35000"/>
                              </a:schemeClr>
                            </a:solidFill>
                            <a:latin typeface="Cambria Math" panose="02040503050406030204" pitchFamily="18" charset="0"/>
                          </a:rPr>
                        </m:ctrlPr>
                      </m:sSubPr>
                      <m:e>
                        <m:r>
                          <a:rPr lang="en-US" sz="2000" i="1" dirty="0">
                            <a:solidFill>
                              <a:schemeClr val="tx1">
                                <a:lumMod val="65000"/>
                                <a:lumOff val="35000"/>
                              </a:schemeClr>
                            </a:solidFill>
                            <a:latin typeface="Cambria Math" panose="02040503050406030204" pitchFamily="18" charset="0"/>
                          </a:rPr>
                          <m:t>𝑥</m:t>
                        </m:r>
                      </m:e>
                      <m:sub>
                        <m:r>
                          <a:rPr lang="sv-SE" sz="2000" b="0" i="1" dirty="0" smtClean="0">
                            <a:solidFill>
                              <a:schemeClr val="tx1">
                                <a:lumMod val="65000"/>
                                <a:lumOff val="35000"/>
                              </a:schemeClr>
                            </a:solidFill>
                            <a:latin typeface="Cambria Math" panose="02040503050406030204" pitchFamily="18" charset="0"/>
                          </a:rPr>
                          <m:t>2</m:t>
                        </m:r>
                      </m:sub>
                    </m:sSub>
                  </m:oMath>
                </a14:m>
                <a:endParaRPr lang="sv-SE" sz="2000" dirty="0">
                  <a:solidFill>
                    <a:schemeClr val="tx1">
                      <a:lumMod val="65000"/>
                      <a:lumOff val="35000"/>
                    </a:schemeClr>
                  </a:solidFill>
                  <a:latin typeface="Work Sans" pitchFamily="2" charset="77"/>
                </a:endParaRPr>
              </a:p>
              <a:p>
                <a:pPr marL="285750" indent="-285750">
                  <a:buFont typeface="Arial" panose="020B0604020202020204" pitchFamily="34" charset="0"/>
                  <a:buChar char="•"/>
                </a:pPr>
                <a:r>
                  <a:rPr lang="en-US" sz="2000" b="1" dirty="0">
                    <a:solidFill>
                      <a:schemeClr val="tx1">
                        <a:lumMod val="65000"/>
                        <a:lumOff val="35000"/>
                      </a:schemeClr>
                    </a:solidFill>
                    <a:latin typeface="Work Sans" pitchFamily="2" charset="77"/>
                  </a:rPr>
                  <a:t>First Hidden Layer</a:t>
                </a:r>
                <a:r>
                  <a:rPr lang="en-US" sz="2000" dirty="0">
                    <a:solidFill>
                      <a:schemeClr val="tx1">
                        <a:lumMod val="65000"/>
                        <a:lumOff val="35000"/>
                      </a:schemeClr>
                    </a:solidFill>
                    <a:latin typeface="Work Sans" pitchFamily="2" charset="77"/>
                  </a:rPr>
                  <a:t>:</a:t>
                </a:r>
              </a:p>
              <a:p>
                <a:pPr marL="742950" lvl="1" indent="-285750">
                  <a:buFont typeface="Arial" panose="020B0604020202020204" pitchFamily="34" charset="0"/>
                  <a:buChar char="•"/>
                </a:pPr>
                <a:r>
                  <a:rPr lang="en-US" sz="2000" dirty="0">
                    <a:solidFill>
                      <a:schemeClr val="tx1">
                        <a:lumMod val="65000"/>
                        <a:lumOff val="35000"/>
                      </a:schemeClr>
                    </a:solidFill>
                    <a:latin typeface="Work Sans" pitchFamily="2" charset="77"/>
                  </a:rPr>
                  <a:t>Three neurons (</a:t>
                </a:r>
                <a14:m>
                  <m:oMath xmlns:m="http://schemas.openxmlformats.org/officeDocument/2006/math">
                    <m:sSub>
                      <m:sSubPr>
                        <m:ctrlPr>
                          <a:rPr lang="en-US" sz="200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h</m:t>
                        </m:r>
                      </m:e>
                      <m:sub>
                        <m:r>
                          <a:rPr lang="en-US" sz="2000" i="1" dirty="0" smtClean="0">
                            <a:solidFill>
                              <a:schemeClr val="tx1">
                                <a:lumMod val="65000"/>
                                <a:lumOff val="35000"/>
                              </a:schemeClr>
                            </a:solidFill>
                            <a:latin typeface="Cambria Math" panose="02040503050406030204" pitchFamily="18" charset="0"/>
                          </a:rPr>
                          <m:t>1</m:t>
                        </m:r>
                        <m:r>
                          <a:rPr lang="sv-SE" sz="2000" b="0" i="1" dirty="0" smtClean="0">
                            <a:solidFill>
                              <a:schemeClr val="tx1">
                                <a:lumMod val="65000"/>
                                <a:lumOff val="35000"/>
                              </a:schemeClr>
                            </a:solidFill>
                            <a:latin typeface="Cambria Math" panose="02040503050406030204" pitchFamily="18" charset="0"/>
                          </a:rPr>
                          <m:t>1</m:t>
                        </m:r>
                      </m:sub>
                    </m:sSub>
                    <m:r>
                      <a:rPr lang="en-US" sz="2000" i="1" dirty="0">
                        <a:solidFill>
                          <a:schemeClr val="tx1">
                            <a:lumMod val="65000"/>
                            <a:lumOff val="35000"/>
                          </a:schemeClr>
                        </a:solidFill>
                        <a:latin typeface="Cambria Math" panose="02040503050406030204" pitchFamily="18" charset="0"/>
                      </a:rPr>
                      <m:t>, </m:t>
                    </m:r>
                    <m:sSub>
                      <m:sSubPr>
                        <m:ctrlPr>
                          <a:rPr lang="sv-SE" sz="2000" b="0" i="1" dirty="0" smtClean="0">
                            <a:solidFill>
                              <a:schemeClr val="tx1">
                                <a:lumMod val="65000"/>
                                <a:lumOff val="35000"/>
                              </a:schemeClr>
                            </a:solidFill>
                            <a:latin typeface="Cambria Math" panose="02040503050406030204" pitchFamily="18" charset="0"/>
                          </a:rPr>
                        </m:ctrlPr>
                      </m:sSubPr>
                      <m:e>
                        <m:r>
                          <a:rPr lang="en-US" sz="2000" i="1" dirty="0">
                            <a:solidFill>
                              <a:schemeClr val="tx1">
                                <a:lumMod val="65000"/>
                                <a:lumOff val="35000"/>
                              </a:schemeClr>
                            </a:solidFill>
                            <a:latin typeface="Cambria Math" panose="02040503050406030204" pitchFamily="18" charset="0"/>
                          </a:rPr>
                          <m:t>h</m:t>
                        </m:r>
                      </m:e>
                      <m:sub>
                        <m:r>
                          <a:rPr lang="en-US" sz="2000" i="1" dirty="0">
                            <a:solidFill>
                              <a:schemeClr val="tx1">
                                <a:lumMod val="65000"/>
                                <a:lumOff val="35000"/>
                              </a:schemeClr>
                            </a:solidFill>
                            <a:latin typeface="Cambria Math" panose="02040503050406030204" pitchFamily="18" charset="0"/>
                          </a:rPr>
                          <m:t>1</m:t>
                        </m:r>
                        <m:r>
                          <a:rPr lang="sv-SE" sz="2000" b="0" i="1" dirty="0" smtClean="0">
                            <a:solidFill>
                              <a:schemeClr val="tx1">
                                <a:lumMod val="65000"/>
                                <a:lumOff val="35000"/>
                              </a:schemeClr>
                            </a:solidFill>
                            <a:latin typeface="Cambria Math" panose="02040503050406030204" pitchFamily="18" charset="0"/>
                          </a:rPr>
                          <m:t>2</m:t>
                        </m:r>
                      </m:sub>
                    </m:sSub>
                    <m:r>
                      <a:rPr lang="en-US" sz="2000" i="1" dirty="0">
                        <a:solidFill>
                          <a:schemeClr val="tx1">
                            <a:lumMod val="65000"/>
                            <a:lumOff val="35000"/>
                          </a:schemeClr>
                        </a:solidFill>
                        <a:latin typeface="Cambria Math" panose="02040503050406030204" pitchFamily="18" charset="0"/>
                      </a:rPr>
                      <m:t>, </m:t>
                    </m:r>
                    <m:sSub>
                      <m:sSubPr>
                        <m:ctrlPr>
                          <a:rPr lang="sv-SE" sz="2000" b="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h</m:t>
                        </m:r>
                      </m:e>
                      <m:sub>
                        <m:r>
                          <a:rPr lang="sv-SE" sz="2000" b="0" i="1" dirty="0" smtClean="0">
                            <a:solidFill>
                              <a:schemeClr val="tx1">
                                <a:lumMod val="65000"/>
                                <a:lumOff val="35000"/>
                              </a:schemeClr>
                            </a:solidFill>
                            <a:latin typeface="Cambria Math" panose="02040503050406030204" pitchFamily="18" charset="0"/>
                          </a:rPr>
                          <m:t>13</m:t>
                        </m:r>
                      </m:sub>
                    </m:sSub>
                  </m:oMath>
                </a14:m>
                <a:r>
                  <a:rPr lang="en-US" sz="2000" dirty="0">
                    <a:solidFill>
                      <a:schemeClr val="tx1">
                        <a:lumMod val="65000"/>
                        <a:lumOff val="35000"/>
                      </a:schemeClr>
                    </a:solidFill>
                    <a:latin typeface="Work Sans" pitchFamily="2" charset="77"/>
                  </a:rPr>
                  <a:t>) receive weighted inputs from </a:t>
                </a:r>
                <a14:m>
                  <m:oMath xmlns:m="http://schemas.openxmlformats.org/officeDocument/2006/math">
                    <m:sSub>
                      <m:sSubPr>
                        <m:ctrlPr>
                          <a:rPr lang="sv-SE" sz="2000" b="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𝑥</m:t>
                        </m:r>
                      </m:e>
                      <m:sub>
                        <m:r>
                          <a:rPr lang="en-US" sz="2000" i="1" dirty="0" smtClean="0">
                            <a:solidFill>
                              <a:schemeClr val="tx1">
                                <a:lumMod val="65000"/>
                                <a:lumOff val="35000"/>
                              </a:schemeClr>
                            </a:solidFill>
                            <a:latin typeface="Cambria Math" panose="02040503050406030204" pitchFamily="18" charset="0"/>
                          </a:rPr>
                          <m:t>1</m:t>
                        </m:r>
                      </m:sub>
                    </m:sSub>
                  </m:oMath>
                </a14:m>
                <a:r>
                  <a:rPr lang="en-US" sz="2000" dirty="0">
                    <a:solidFill>
                      <a:schemeClr val="tx1">
                        <a:lumMod val="65000"/>
                        <a:lumOff val="35000"/>
                      </a:schemeClr>
                    </a:solidFill>
                    <a:latin typeface="Work Sans" pitchFamily="2" charset="77"/>
                  </a:rPr>
                  <a:t>​ and </a:t>
                </a:r>
                <a14:m>
                  <m:oMath xmlns:m="http://schemas.openxmlformats.org/officeDocument/2006/math">
                    <m:sSub>
                      <m:sSubPr>
                        <m:ctrlPr>
                          <a:rPr lang="sv-SE" sz="2000" b="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𝑥</m:t>
                        </m:r>
                      </m:e>
                      <m:sub>
                        <m:r>
                          <a:rPr lang="sv-SE" sz="2000" b="0" i="1" dirty="0" smtClean="0">
                            <a:solidFill>
                              <a:schemeClr val="tx1">
                                <a:lumMod val="65000"/>
                                <a:lumOff val="35000"/>
                              </a:schemeClr>
                            </a:solidFill>
                            <a:latin typeface="Cambria Math" panose="02040503050406030204" pitchFamily="18" charset="0"/>
                          </a:rPr>
                          <m:t>2</m:t>
                        </m:r>
                      </m:sub>
                    </m:sSub>
                  </m:oMath>
                </a14:m>
                <a:r>
                  <a:rPr lang="en-US" sz="2000" dirty="0">
                    <a:solidFill>
                      <a:schemeClr val="tx1">
                        <a:lumMod val="65000"/>
                        <a:lumOff val="35000"/>
                      </a:schemeClr>
                    </a:solidFill>
                    <a:latin typeface="Work Sans" pitchFamily="2" charset="77"/>
                  </a:rPr>
                  <a:t>​.</a:t>
                </a:r>
              </a:p>
              <a:p>
                <a:pPr marL="742950" lvl="1" indent="-285750">
                  <a:buFont typeface="Arial" panose="020B0604020202020204" pitchFamily="34" charset="0"/>
                  <a:buChar char="•"/>
                </a:pPr>
                <a:r>
                  <a:rPr lang="en-US" sz="2000" dirty="0">
                    <a:solidFill>
                      <a:schemeClr val="tx1">
                        <a:lumMod val="65000"/>
                        <a:lumOff val="35000"/>
                      </a:schemeClr>
                    </a:solidFill>
                    <a:latin typeface="Work Sans" pitchFamily="2" charset="77"/>
                  </a:rPr>
                  <a:t>Biases are </a:t>
                </a:r>
                <a14:m>
                  <m:oMath xmlns:m="http://schemas.openxmlformats.org/officeDocument/2006/math">
                    <m:sSub>
                      <m:sSubPr>
                        <m:ctrlPr>
                          <a:rPr lang="sv-SE" sz="2000" b="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𝑏</m:t>
                        </m:r>
                      </m:e>
                      <m:sub>
                        <m:r>
                          <a:rPr lang="en-US" sz="2000" i="1" dirty="0" smtClean="0">
                            <a:solidFill>
                              <a:schemeClr val="tx1">
                                <a:lumMod val="65000"/>
                                <a:lumOff val="35000"/>
                              </a:schemeClr>
                            </a:solidFill>
                            <a:latin typeface="Cambria Math" panose="02040503050406030204" pitchFamily="18" charset="0"/>
                          </a:rPr>
                          <m:t>11</m:t>
                        </m:r>
                      </m:sub>
                    </m:sSub>
                    <m:r>
                      <a:rPr lang="en-US" sz="2000" i="1" dirty="0" smtClean="0">
                        <a:solidFill>
                          <a:schemeClr val="tx1">
                            <a:lumMod val="65000"/>
                            <a:lumOff val="35000"/>
                          </a:schemeClr>
                        </a:solidFill>
                        <a:latin typeface="Cambria Math" panose="02040503050406030204" pitchFamily="18" charset="0"/>
                      </a:rPr>
                      <m:t>,</m:t>
                    </m:r>
                    <m:r>
                      <a:rPr lang="en-US" sz="2000" i="1" dirty="0">
                        <a:solidFill>
                          <a:schemeClr val="tx1">
                            <a:lumMod val="65000"/>
                            <a:lumOff val="35000"/>
                          </a:schemeClr>
                        </a:solidFill>
                        <a:latin typeface="Cambria Math" panose="02040503050406030204" pitchFamily="18" charset="0"/>
                      </a:rPr>
                      <m:t> </m:t>
                    </m:r>
                    <m:sSub>
                      <m:sSubPr>
                        <m:ctrlPr>
                          <a:rPr lang="sv-SE" sz="2000" b="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𝑏</m:t>
                        </m:r>
                      </m:e>
                      <m:sub>
                        <m:r>
                          <a:rPr lang="en-US" sz="2000" i="1" dirty="0" smtClean="0">
                            <a:solidFill>
                              <a:schemeClr val="tx1">
                                <a:lumMod val="65000"/>
                                <a:lumOff val="35000"/>
                              </a:schemeClr>
                            </a:solidFill>
                            <a:latin typeface="Cambria Math" panose="02040503050406030204" pitchFamily="18" charset="0"/>
                          </a:rPr>
                          <m:t>12</m:t>
                        </m:r>
                      </m:sub>
                    </m:sSub>
                    <m:r>
                      <a:rPr lang="en-US" sz="2000" i="1" dirty="0" smtClean="0">
                        <a:solidFill>
                          <a:schemeClr val="tx1">
                            <a:lumMod val="65000"/>
                            <a:lumOff val="35000"/>
                          </a:schemeClr>
                        </a:solidFill>
                        <a:latin typeface="Cambria Math" panose="02040503050406030204" pitchFamily="18" charset="0"/>
                      </a:rPr>
                      <m:t>,</m:t>
                    </m:r>
                    <m:r>
                      <a:rPr lang="en-US" sz="2000" i="1" dirty="0">
                        <a:solidFill>
                          <a:schemeClr val="tx1">
                            <a:lumMod val="65000"/>
                            <a:lumOff val="35000"/>
                          </a:schemeClr>
                        </a:solidFill>
                        <a:latin typeface="Cambria Math" panose="02040503050406030204" pitchFamily="18" charset="0"/>
                      </a:rPr>
                      <m:t> </m:t>
                    </m:r>
                    <m:sSub>
                      <m:sSubPr>
                        <m:ctrlPr>
                          <a:rPr lang="sv-SE" sz="2000" b="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𝑏</m:t>
                        </m:r>
                      </m:e>
                      <m:sub>
                        <m:r>
                          <a:rPr lang="en-US" sz="2000" i="1" dirty="0" smtClean="0">
                            <a:solidFill>
                              <a:schemeClr val="tx1">
                                <a:lumMod val="65000"/>
                                <a:lumOff val="35000"/>
                              </a:schemeClr>
                            </a:solidFill>
                            <a:latin typeface="Cambria Math" panose="02040503050406030204" pitchFamily="18" charset="0"/>
                          </a:rPr>
                          <m:t>1</m:t>
                        </m:r>
                        <m:r>
                          <a:rPr lang="en-US" sz="2000" i="1" dirty="0">
                            <a:solidFill>
                              <a:schemeClr val="tx1">
                                <a:lumMod val="65000"/>
                                <a:lumOff val="35000"/>
                              </a:schemeClr>
                            </a:solidFill>
                            <a:latin typeface="Cambria Math" panose="02040503050406030204" pitchFamily="18" charset="0"/>
                          </a:rPr>
                          <m:t>3</m:t>
                        </m:r>
                      </m:sub>
                    </m:sSub>
                  </m:oMath>
                </a14:m>
                <a:endParaRPr lang="en-US" sz="2000" dirty="0">
                  <a:solidFill>
                    <a:schemeClr val="tx1">
                      <a:lumMod val="65000"/>
                      <a:lumOff val="35000"/>
                    </a:schemeClr>
                  </a:solidFill>
                  <a:latin typeface="Work Sans" pitchFamily="2" charset="77"/>
                </a:endParaRPr>
              </a:p>
              <a:p>
                <a:pPr>
                  <a:buFont typeface="Arial" panose="020B0604020202020204" pitchFamily="34" charset="0"/>
                  <a:buChar char="•"/>
                </a:pPr>
                <a:r>
                  <a:rPr lang="en-US" sz="2000" b="1" dirty="0">
                    <a:solidFill>
                      <a:schemeClr val="tx1">
                        <a:lumMod val="65000"/>
                        <a:lumOff val="35000"/>
                      </a:schemeClr>
                    </a:solidFill>
                    <a:latin typeface="Work Sans" pitchFamily="2" charset="77"/>
                  </a:rPr>
                  <a:t>Second Hidden Layer</a:t>
                </a:r>
                <a:r>
                  <a:rPr lang="en-US" sz="2000" dirty="0">
                    <a:solidFill>
                      <a:schemeClr val="tx1">
                        <a:lumMod val="65000"/>
                        <a:lumOff val="35000"/>
                      </a:schemeClr>
                    </a:solidFill>
                    <a:latin typeface="Work Sans" pitchFamily="2" charset="77"/>
                  </a:rPr>
                  <a:t>:</a:t>
                </a:r>
              </a:p>
              <a:p>
                <a:pPr marL="742950" lvl="1" indent="-285750">
                  <a:buFont typeface="Arial" panose="020B0604020202020204" pitchFamily="34" charset="0"/>
                  <a:buChar char="•"/>
                </a:pPr>
                <a:r>
                  <a:rPr lang="en-US" sz="2000" dirty="0">
                    <a:solidFill>
                      <a:schemeClr val="tx1">
                        <a:lumMod val="65000"/>
                        <a:lumOff val="35000"/>
                      </a:schemeClr>
                    </a:solidFill>
                    <a:latin typeface="Work Sans" pitchFamily="2" charset="77"/>
                  </a:rPr>
                  <a:t>Two neurons (</a:t>
                </a:r>
                <a14:m>
                  <m:oMath xmlns:m="http://schemas.openxmlformats.org/officeDocument/2006/math">
                    <m:sSub>
                      <m:sSubPr>
                        <m:ctrlPr>
                          <a:rPr lang="sv-SE" sz="2000" b="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h</m:t>
                        </m:r>
                      </m:e>
                      <m:sub>
                        <m:r>
                          <a:rPr lang="en-US" sz="2000" i="1" dirty="0" smtClean="0">
                            <a:solidFill>
                              <a:schemeClr val="tx1">
                                <a:lumMod val="65000"/>
                                <a:lumOff val="35000"/>
                              </a:schemeClr>
                            </a:solidFill>
                            <a:latin typeface="Cambria Math" panose="02040503050406030204" pitchFamily="18" charset="0"/>
                          </a:rPr>
                          <m:t>21</m:t>
                        </m:r>
                      </m:sub>
                    </m:sSub>
                    <m:r>
                      <a:rPr lang="en-US" sz="2000" i="1" dirty="0">
                        <a:solidFill>
                          <a:schemeClr val="tx1">
                            <a:lumMod val="65000"/>
                            <a:lumOff val="35000"/>
                          </a:schemeClr>
                        </a:solidFill>
                        <a:latin typeface="Cambria Math" panose="02040503050406030204" pitchFamily="18" charset="0"/>
                      </a:rPr>
                      <m:t>, </m:t>
                    </m:r>
                    <m:sSub>
                      <m:sSubPr>
                        <m:ctrlPr>
                          <a:rPr lang="sv-SE" sz="2000" b="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h</m:t>
                        </m:r>
                      </m:e>
                      <m:sub>
                        <m:r>
                          <a:rPr lang="en-US" sz="2000" i="1" dirty="0" smtClean="0">
                            <a:solidFill>
                              <a:schemeClr val="tx1">
                                <a:lumMod val="65000"/>
                                <a:lumOff val="35000"/>
                              </a:schemeClr>
                            </a:solidFill>
                            <a:latin typeface="Cambria Math" panose="02040503050406030204" pitchFamily="18" charset="0"/>
                          </a:rPr>
                          <m:t>22</m:t>
                        </m:r>
                      </m:sub>
                    </m:sSub>
                  </m:oMath>
                </a14:m>
                <a:r>
                  <a:rPr lang="en-US" sz="2000" dirty="0">
                    <a:solidFill>
                      <a:schemeClr val="tx1">
                        <a:lumMod val="65000"/>
                        <a:lumOff val="35000"/>
                      </a:schemeClr>
                    </a:solidFill>
                    <a:latin typeface="Work Sans" pitchFamily="2" charset="77"/>
                  </a:rPr>
                  <a:t>) receive weighted inputs from all three neurons in the first hidden layer.</a:t>
                </a:r>
              </a:p>
              <a:p>
                <a:pPr marL="742950" lvl="1" indent="-285750">
                  <a:buFont typeface="Arial" panose="020B0604020202020204" pitchFamily="34" charset="0"/>
                  <a:buChar char="•"/>
                </a:pPr>
                <a:r>
                  <a:rPr lang="en-US" sz="2000" dirty="0">
                    <a:solidFill>
                      <a:schemeClr val="tx1">
                        <a:lumMod val="65000"/>
                        <a:lumOff val="35000"/>
                      </a:schemeClr>
                    </a:solidFill>
                    <a:latin typeface="Work Sans" pitchFamily="2" charset="77"/>
                  </a:rPr>
                  <a:t>Biases are </a:t>
                </a:r>
                <a14:m>
                  <m:oMath xmlns:m="http://schemas.openxmlformats.org/officeDocument/2006/math">
                    <m:sSub>
                      <m:sSubPr>
                        <m:ctrlPr>
                          <a:rPr lang="sv-SE" sz="2000" b="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𝑏</m:t>
                        </m:r>
                      </m:e>
                      <m:sub>
                        <m:r>
                          <a:rPr lang="sv-SE" sz="2000" b="0" i="1" dirty="0" smtClean="0">
                            <a:solidFill>
                              <a:schemeClr val="tx1">
                                <a:lumMod val="65000"/>
                                <a:lumOff val="35000"/>
                              </a:schemeClr>
                            </a:solidFill>
                            <a:latin typeface="Cambria Math" panose="02040503050406030204" pitchFamily="18" charset="0"/>
                          </a:rPr>
                          <m:t>2</m:t>
                        </m:r>
                        <m:r>
                          <a:rPr lang="en-US" sz="2000" i="1" dirty="0" smtClean="0">
                            <a:solidFill>
                              <a:schemeClr val="tx1">
                                <a:lumMod val="65000"/>
                                <a:lumOff val="35000"/>
                              </a:schemeClr>
                            </a:solidFill>
                            <a:latin typeface="Cambria Math" panose="02040503050406030204" pitchFamily="18" charset="0"/>
                          </a:rPr>
                          <m:t>1</m:t>
                        </m:r>
                      </m:sub>
                    </m:sSub>
                    <m:r>
                      <a:rPr lang="en-US" sz="2000" i="1" dirty="0" smtClean="0">
                        <a:solidFill>
                          <a:schemeClr val="tx1">
                            <a:lumMod val="65000"/>
                            <a:lumOff val="35000"/>
                          </a:schemeClr>
                        </a:solidFill>
                        <a:latin typeface="Cambria Math" panose="02040503050406030204" pitchFamily="18" charset="0"/>
                      </a:rPr>
                      <m:t>,</m:t>
                    </m:r>
                    <m:r>
                      <a:rPr lang="en-US" sz="2000" i="1" dirty="0">
                        <a:solidFill>
                          <a:schemeClr val="tx1">
                            <a:lumMod val="65000"/>
                            <a:lumOff val="35000"/>
                          </a:schemeClr>
                        </a:solidFill>
                        <a:latin typeface="Cambria Math" panose="02040503050406030204" pitchFamily="18" charset="0"/>
                      </a:rPr>
                      <m:t> </m:t>
                    </m:r>
                    <m:sSub>
                      <m:sSubPr>
                        <m:ctrlPr>
                          <a:rPr lang="sv-SE" sz="2000" b="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𝑏</m:t>
                        </m:r>
                      </m:e>
                      <m:sub>
                        <m:r>
                          <a:rPr lang="sv-SE" sz="2000" b="0" i="1" dirty="0" smtClean="0">
                            <a:solidFill>
                              <a:schemeClr val="tx1">
                                <a:lumMod val="65000"/>
                                <a:lumOff val="35000"/>
                              </a:schemeClr>
                            </a:solidFill>
                            <a:latin typeface="Cambria Math" panose="02040503050406030204" pitchFamily="18" charset="0"/>
                          </a:rPr>
                          <m:t>2</m:t>
                        </m:r>
                        <m:r>
                          <a:rPr lang="en-US" sz="2000" i="1" dirty="0" smtClean="0">
                            <a:solidFill>
                              <a:schemeClr val="tx1">
                                <a:lumMod val="65000"/>
                                <a:lumOff val="35000"/>
                              </a:schemeClr>
                            </a:solidFill>
                            <a:latin typeface="Cambria Math" panose="02040503050406030204" pitchFamily="18" charset="0"/>
                          </a:rPr>
                          <m:t>2</m:t>
                        </m:r>
                      </m:sub>
                    </m:sSub>
                  </m:oMath>
                </a14:m>
                <a:endParaRPr lang="en-US" sz="2000" dirty="0">
                  <a:solidFill>
                    <a:schemeClr val="tx1">
                      <a:lumMod val="65000"/>
                      <a:lumOff val="35000"/>
                    </a:schemeClr>
                  </a:solidFill>
                  <a:latin typeface="Work Sans" pitchFamily="2" charset="77"/>
                </a:endParaRPr>
              </a:p>
              <a:p>
                <a:pPr>
                  <a:buFont typeface="Arial" panose="020B0604020202020204" pitchFamily="34" charset="0"/>
                  <a:buChar char="•"/>
                </a:pPr>
                <a:r>
                  <a:rPr lang="en-US" sz="2000" b="1" dirty="0">
                    <a:solidFill>
                      <a:schemeClr val="tx1">
                        <a:lumMod val="65000"/>
                        <a:lumOff val="35000"/>
                      </a:schemeClr>
                    </a:solidFill>
                    <a:latin typeface="Work Sans" pitchFamily="2" charset="77"/>
                  </a:rPr>
                  <a:t>Output Layer</a:t>
                </a:r>
                <a:r>
                  <a:rPr lang="en-US" sz="2000" dirty="0">
                    <a:solidFill>
                      <a:schemeClr val="tx1">
                        <a:lumMod val="65000"/>
                        <a:lumOff val="35000"/>
                      </a:schemeClr>
                    </a:solidFill>
                    <a:latin typeface="Work Sans" pitchFamily="2" charset="77"/>
                  </a:rPr>
                  <a:t>:</a:t>
                </a:r>
              </a:p>
              <a:p>
                <a:pPr marL="742950" lvl="1" indent="-285750">
                  <a:buFont typeface="Arial" panose="020B0604020202020204" pitchFamily="34" charset="0"/>
                  <a:buChar char="•"/>
                </a:pPr>
                <a:r>
                  <a:rPr lang="en-US" sz="2000" dirty="0">
                    <a:solidFill>
                      <a:schemeClr val="tx1">
                        <a:lumMod val="65000"/>
                        <a:lumOff val="35000"/>
                      </a:schemeClr>
                    </a:solidFill>
                    <a:latin typeface="Work Sans" pitchFamily="2" charset="77"/>
                  </a:rPr>
                  <a:t>The final neuron </a:t>
                </a:r>
                <a:r>
                  <a:rPr lang="en-US" sz="2000" b="1" dirty="0">
                    <a:solidFill>
                      <a:schemeClr val="tx1">
                        <a:lumMod val="65000"/>
                        <a:lumOff val="35000"/>
                      </a:schemeClr>
                    </a:solidFill>
                    <a:latin typeface="Work Sans" pitchFamily="2" charset="77"/>
                  </a:rPr>
                  <a:t>o</a:t>
                </a:r>
                <a:r>
                  <a:rPr lang="en-US" sz="2000" dirty="0">
                    <a:solidFill>
                      <a:schemeClr val="tx1">
                        <a:lumMod val="65000"/>
                        <a:lumOff val="35000"/>
                      </a:schemeClr>
                    </a:solidFill>
                    <a:latin typeface="Work Sans" pitchFamily="2" charset="77"/>
                  </a:rPr>
                  <a:t> receives weighted inputs from both neurons in the second hidden layer and also has </a:t>
                </a:r>
                <a:r>
                  <a:rPr lang="en-US" sz="2000" dirty="0" err="1">
                    <a:solidFill>
                      <a:schemeClr val="tx1">
                        <a:lumMod val="65000"/>
                        <a:lumOff val="35000"/>
                      </a:schemeClr>
                    </a:solidFill>
                    <a:latin typeface="Work Sans" pitchFamily="2" charset="77"/>
                  </a:rPr>
                  <a:t>bia</a:t>
                </a:r>
                <a:r>
                  <a:rPr lang="en-US" sz="2000" dirty="0">
                    <a:solidFill>
                      <a:schemeClr val="tx1">
                        <a:lumMod val="65000"/>
                        <a:lumOff val="35000"/>
                      </a:schemeClr>
                    </a:solidFill>
                    <a:latin typeface="Work Sans" pitchFamily="2" charset="77"/>
                  </a:rPr>
                  <a:t>s</a:t>
                </a:r>
                <a14:m>
                  <m:oMath xmlns:m="http://schemas.openxmlformats.org/officeDocument/2006/math">
                    <m:r>
                      <a:rPr lang="en-US" sz="2000" i="1" dirty="0" smtClean="0">
                        <a:solidFill>
                          <a:schemeClr val="tx1">
                            <a:lumMod val="65000"/>
                            <a:lumOff val="35000"/>
                          </a:schemeClr>
                        </a:solidFill>
                        <a:latin typeface="Cambria Math" panose="02040503050406030204" pitchFamily="18" charset="0"/>
                      </a:rPr>
                      <m:t> </m:t>
                    </m:r>
                    <m:sSub>
                      <m:sSubPr>
                        <m:ctrlPr>
                          <a:rPr lang="en-US" sz="2000" i="1" dirty="0" smtClean="0">
                            <a:solidFill>
                              <a:schemeClr val="tx1">
                                <a:lumMod val="65000"/>
                                <a:lumOff val="35000"/>
                              </a:schemeClr>
                            </a:solidFill>
                            <a:latin typeface="Cambria Math" panose="02040503050406030204" pitchFamily="18" charset="0"/>
                          </a:rPr>
                        </m:ctrlPr>
                      </m:sSubPr>
                      <m:e>
                        <m:r>
                          <a:rPr lang="en-US" sz="2000" i="1" dirty="0" smtClean="0">
                            <a:solidFill>
                              <a:schemeClr val="tx1">
                                <a:lumMod val="65000"/>
                                <a:lumOff val="35000"/>
                              </a:schemeClr>
                            </a:solidFill>
                            <a:latin typeface="Cambria Math" panose="02040503050406030204" pitchFamily="18" charset="0"/>
                          </a:rPr>
                          <m:t>𝑏</m:t>
                        </m:r>
                      </m:e>
                      <m:sub>
                        <m:r>
                          <a:rPr lang="en-US" sz="2000" i="1" dirty="0" smtClean="0">
                            <a:solidFill>
                              <a:schemeClr val="tx1">
                                <a:lumMod val="65000"/>
                                <a:lumOff val="35000"/>
                              </a:schemeClr>
                            </a:solidFill>
                            <a:latin typeface="Cambria Math" panose="02040503050406030204" pitchFamily="18" charset="0"/>
                          </a:rPr>
                          <m:t>0</m:t>
                        </m:r>
                      </m:sub>
                    </m:sSub>
                  </m:oMath>
                </a14:m>
                <a:endParaRPr lang="en-US" sz="2000" dirty="0">
                  <a:solidFill>
                    <a:schemeClr val="tx1">
                      <a:lumMod val="65000"/>
                      <a:lumOff val="35000"/>
                    </a:schemeClr>
                  </a:solidFill>
                  <a:latin typeface="Work Sans" pitchFamily="2" charset="77"/>
                </a:endParaRPr>
              </a:p>
            </p:txBody>
          </p:sp>
        </mc:Choice>
        <mc:Fallback>
          <p:sp>
            <p:nvSpPr>
              <p:cNvPr id="9" name="TextBox 8">
                <a:extLst>
                  <a:ext uri="{FF2B5EF4-FFF2-40B4-BE49-F238E27FC236}">
                    <a16:creationId xmlns:a16="http://schemas.microsoft.com/office/drawing/2014/main" id="{84F0DA8E-3DE0-30C8-BAE6-591E63933877}"/>
                  </a:ext>
                </a:extLst>
              </p:cNvPr>
              <p:cNvSpPr txBox="1">
                <a:spLocks noRot="1" noChangeAspect="1" noMove="1" noResize="1" noEditPoints="1" noAdjustHandles="1" noChangeArrowheads="1" noChangeShapeType="1" noTextEdit="1"/>
              </p:cNvSpPr>
              <p:nvPr/>
            </p:nvSpPr>
            <p:spPr>
              <a:xfrm>
                <a:off x="5282542" y="548640"/>
                <a:ext cx="5961720" cy="5016758"/>
              </a:xfrm>
              <a:prstGeom prst="rect">
                <a:avLst/>
              </a:prstGeom>
              <a:blipFill>
                <a:blip r:embed="rId2"/>
                <a:stretch>
                  <a:fillRect l="-1064" r="-2128" b="-1263"/>
                </a:stretch>
              </a:blipFill>
            </p:spPr>
            <p:txBody>
              <a:bodyPr/>
              <a:lstStyle/>
              <a:p>
                <a:r>
                  <a:rPr lang="en-US">
                    <a:noFill/>
                  </a:rPr>
                  <a:t> </a:t>
                </a:r>
              </a:p>
            </p:txBody>
          </p:sp>
        </mc:Fallback>
      </mc:AlternateContent>
      <p:pic>
        <p:nvPicPr>
          <p:cNvPr id="2052" name="Picture 4" descr="Output image">
            <a:extLst>
              <a:ext uri="{FF2B5EF4-FFF2-40B4-BE49-F238E27FC236}">
                <a16:creationId xmlns:a16="http://schemas.microsoft.com/office/drawing/2014/main" id="{B9F88F12-1781-5D02-1BB9-E87D215B26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368"/>
          <a:stretch/>
        </p:blipFill>
        <p:spPr bwMode="auto">
          <a:xfrm>
            <a:off x="947738" y="1932971"/>
            <a:ext cx="4326616" cy="2760261"/>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06934837-FB21-930D-99F0-A7050F168B10}"/>
              </a:ext>
            </a:extLst>
          </p:cNvPr>
          <p:cNvSpPr>
            <a:spLocks noGrp="1"/>
          </p:cNvSpPr>
          <p:nvPr>
            <p:ph type="dt" sz="half" idx="10"/>
          </p:nvPr>
        </p:nvSpPr>
        <p:spPr/>
        <p:txBody>
          <a:bodyPr/>
          <a:lstStyle/>
          <a:p>
            <a:fld id="{585F5A80-76A3-1141-9411-DB4835E8454B}" type="datetime1">
              <a:rPr lang="en-US" noProof="0" smtClean="0"/>
              <a:t>2/23/26</a:t>
            </a:fld>
            <a:endParaRPr lang="en-GB" noProof="0"/>
          </a:p>
        </p:txBody>
      </p:sp>
      <p:sp>
        <p:nvSpPr>
          <p:cNvPr id="4" name="Slide Number Placeholder 3">
            <a:extLst>
              <a:ext uri="{FF2B5EF4-FFF2-40B4-BE49-F238E27FC236}">
                <a16:creationId xmlns:a16="http://schemas.microsoft.com/office/drawing/2014/main" id="{BD96D241-3743-B435-3836-FEAE7D10FB96}"/>
              </a:ext>
            </a:extLst>
          </p:cNvPr>
          <p:cNvSpPr>
            <a:spLocks noGrp="1"/>
          </p:cNvSpPr>
          <p:nvPr>
            <p:ph type="sldNum" sz="quarter" idx="12"/>
          </p:nvPr>
        </p:nvSpPr>
        <p:spPr/>
        <p:txBody>
          <a:bodyPr/>
          <a:lstStyle/>
          <a:p>
            <a:fld id="{B716C8F4-20CD-364A-8A8E-DE130115B178}" type="slidenum">
              <a:rPr lang="en-GB" noProof="0" smtClean="0"/>
              <a:pPr/>
              <a:t>10</a:t>
            </a:fld>
            <a:endParaRPr lang="en-GB" noProof="0"/>
          </a:p>
        </p:txBody>
      </p:sp>
    </p:spTree>
    <p:extLst>
      <p:ext uri="{BB962C8B-B14F-4D97-AF65-F5344CB8AC3E}">
        <p14:creationId xmlns:p14="http://schemas.microsoft.com/office/powerpoint/2010/main" val="1820289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4"/>
          <p:cNvSpPr txBox="1">
            <a:spLocks noGrp="1"/>
          </p:cNvSpPr>
          <p:nvPr>
            <p:ph type="title"/>
          </p:nvPr>
        </p:nvSpPr>
        <p:spPr>
          <a:xfrm>
            <a:off x="669891" y="593367"/>
            <a:ext cx="11106400" cy="763600"/>
          </a:xfrm>
          <a:prstGeom prst="rect">
            <a:avLst/>
          </a:prstGeom>
        </p:spPr>
        <p:txBody>
          <a:bodyPr spcFirstLastPara="1" vert="horz" wrap="square" lIns="121900" tIns="121900" rIns="121900" bIns="121900" rtlCol="0" anchor="t" anchorCtr="0">
            <a:noAutofit/>
          </a:bodyPr>
          <a:lstStyle/>
          <a:p>
            <a:pPr>
              <a:buClr>
                <a:schemeClr val="dk1"/>
              </a:buClr>
              <a:buSzPts val="1100"/>
            </a:pPr>
            <a:r>
              <a:rPr lang="en-GB"/>
              <a:t>ANN - Architecture</a:t>
            </a:r>
            <a:endParaRPr/>
          </a:p>
          <a:p>
            <a:endParaRPr/>
          </a:p>
        </p:txBody>
      </p:sp>
      <p:pic>
        <p:nvPicPr>
          <p:cNvPr id="669" name="Google Shape;669;p54"/>
          <p:cNvPicPr preferRelativeResize="0"/>
          <p:nvPr/>
        </p:nvPicPr>
        <p:blipFill>
          <a:blip r:embed="rId3">
            <a:alphaModFix/>
          </a:blip>
          <a:srcRect b="16815"/>
          <a:stretch/>
        </p:blipFill>
        <p:spPr>
          <a:xfrm>
            <a:off x="3587416" y="2286001"/>
            <a:ext cx="5017165" cy="3363237"/>
          </a:xfrm>
          <a:prstGeom prst="rect">
            <a:avLst/>
          </a:prstGeom>
          <a:noFill/>
          <a:ln>
            <a:noFill/>
          </a:ln>
        </p:spPr>
      </p:pic>
      <p:sp>
        <p:nvSpPr>
          <p:cNvPr id="670" name="Google Shape;670;p54"/>
          <p:cNvSpPr txBox="1"/>
          <p:nvPr/>
        </p:nvSpPr>
        <p:spPr>
          <a:xfrm>
            <a:off x="489867" y="2645233"/>
            <a:ext cx="4000000" cy="564730"/>
          </a:xfrm>
          <a:prstGeom prst="rect">
            <a:avLst/>
          </a:prstGeom>
          <a:noFill/>
          <a:ln>
            <a:noFill/>
          </a:ln>
        </p:spPr>
        <p:txBody>
          <a:bodyPr spcFirstLastPara="1" wrap="square" lIns="121900" tIns="121900" rIns="121900" bIns="121900" anchor="t" anchorCtr="0">
            <a:spAutoFit/>
          </a:bodyPr>
          <a:lstStyle/>
          <a:p>
            <a:pPr>
              <a:lnSpc>
                <a:spcPct val="115000"/>
              </a:lnSpc>
            </a:pPr>
            <a:r>
              <a:rPr lang="en-GB" b="1">
                <a:solidFill>
                  <a:srgbClr val="3F3F3F"/>
                </a:solidFill>
                <a:latin typeface="Century Gothic"/>
                <a:ea typeface="Century Gothic"/>
                <a:cs typeface="Century Gothic"/>
                <a:sym typeface="Century Gothic"/>
              </a:rPr>
              <a:t>Single Target Variable</a:t>
            </a:r>
            <a:endParaRPr sz="2400"/>
          </a:p>
        </p:txBody>
      </p:sp>
      <p:sp>
        <p:nvSpPr>
          <p:cNvPr id="2" name="Slide Number Placeholder 1">
            <a:extLst>
              <a:ext uri="{FF2B5EF4-FFF2-40B4-BE49-F238E27FC236}">
                <a16:creationId xmlns:a16="http://schemas.microsoft.com/office/drawing/2014/main" id="{14B7222B-7B3A-40D1-C652-B825368A4FF7}"/>
              </a:ext>
            </a:extLst>
          </p:cNvPr>
          <p:cNvSpPr>
            <a:spLocks noGrp="1"/>
          </p:cNvSpPr>
          <p:nvPr>
            <p:ph type="sldNum" idx="12"/>
          </p:nvPr>
        </p:nvSpPr>
        <p:spPr/>
        <p:txBody>
          <a:bodyPr/>
          <a:lstStyle/>
          <a:p>
            <a:fld id="{00000000-1234-1234-1234-123412341234}" type="slidenum">
              <a:rPr lang="en-GB" smtClean="0"/>
              <a:pPr/>
              <a:t>11</a:t>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57"/>
          <p:cNvSpPr txBox="1">
            <a:spLocks noGrp="1"/>
          </p:cNvSpPr>
          <p:nvPr>
            <p:ph type="title"/>
          </p:nvPr>
        </p:nvSpPr>
        <p:spPr>
          <a:xfrm>
            <a:off x="669891" y="593367"/>
            <a:ext cx="11106400" cy="763600"/>
          </a:xfrm>
          <a:prstGeom prst="rect">
            <a:avLst/>
          </a:prstGeom>
        </p:spPr>
        <p:txBody>
          <a:bodyPr spcFirstLastPara="1" vert="horz" wrap="square" lIns="121900" tIns="121900" rIns="121900" bIns="121900" rtlCol="0" anchor="t" anchorCtr="0">
            <a:noAutofit/>
          </a:bodyPr>
          <a:lstStyle/>
          <a:p>
            <a:r>
              <a:rPr lang="en-GB"/>
              <a:t>ANN - Architecture</a:t>
            </a:r>
            <a:endParaRPr/>
          </a:p>
        </p:txBody>
      </p:sp>
      <p:pic>
        <p:nvPicPr>
          <p:cNvPr id="694" name="Google Shape;694;p57"/>
          <p:cNvPicPr preferRelativeResize="0"/>
          <p:nvPr/>
        </p:nvPicPr>
        <p:blipFill>
          <a:blip r:embed="rId3">
            <a:alphaModFix/>
          </a:blip>
          <a:stretch>
            <a:fillRect/>
          </a:stretch>
        </p:blipFill>
        <p:spPr>
          <a:xfrm>
            <a:off x="3371034" y="2637867"/>
            <a:ext cx="5449935" cy="3779267"/>
          </a:xfrm>
          <a:prstGeom prst="rect">
            <a:avLst/>
          </a:prstGeom>
          <a:noFill/>
          <a:ln>
            <a:noFill/>
          </a:ln>
        </p:spPr>
      </p:pic>
      <p:sp>
        <p:nvSpPr>
          <p:cNvPr id="695" name="Google Shape;695;p57"/>
          <p:cNvSpPr txBox="1"/>
          <p:nvPr/>
        </p:nvSpPr>
        <p:spPr>
          <a:xfrm>
            <a:off x="489867" y="2645233"/>
            <a:ext cx="4000000" cy="564730"/>
          </a:xfrm>
          <a:prstGeom prst="rect">
            <a:avLst/>
          </a:prstGeom>
          <a:noFill/>
          <a:ln>
            <a:noFill/>
          </a:ln>
        </p:spPr>
        <p:txBody>
          <a:bodyPr spcFirstLastPara="1" wrap="square" lIns="121900" tIns="121900" rIns="121900" bIns="121900" anchor="t" anchorCtr="0">
            <a:spAutoFit/>
          </a:bodyPr>
          <a:lstStyle/>
          <a:p>
            <a:pPr>
              <a:lnSpc>
                <a:spcPct val="115000"/>
              </a:lnSpc>
            </a:pPr>
            <a:r>
              <a:rPr lang="en-GB" b="1">
                <a:solidFill>
                  <a:srgbClr val="3F3F3F"/>
                </a:solidFill>
                <a:latin typeface="Century Gothic"/>
                <a:ea typeface="Century Gothic"/>
                <a:cs typeface="Century Gothic"/>
                <a:sym typeface="Century Gothic"/>
              </a:rPr>
              <a:t>Multiple Target Variables</a:t>
            </a:r>
            <a:endParaRPr sz="2400"/>
          </a:p>
        </p:txBody>
      </p:sp>
      <p:sp>
        <p:nvSpPr>
          <p:cNvPr id="2" name="Slide Number Placeholder 1">
            <a:extLst>
              <a:ext uri="{FF2B5EF4-FFF2-40B4-BE49-F238E27FC236}">
                <a16:creationId xmlns:a16="http://schemas.microsoft.com/office/drawing/2014/main" id="{85FB032A-7536-80BA-878A-EC00642D5DB5}"/>
              </a:ext>
            </a:extLst>
          </p:cNvPr>
          <p:cNvSpPr>
            <a:spLocks noGrp="1"/>
          </p:cNvSpPr>
          <p:nvPr>
            <p:ph type="sldNum" idx="12"/>
          </p:nvPr>
        </p:nvSpPr>
        <p:spPr/>
        <p:txBody>
          <a:bodyPr/>
          <a:lstStyle/>
          <a:p>
            <a:fld id="{00000000-1234-1234-1234-123412341234}" type="slidenum">
              <a:rPr lang="en-GB" smtClean="0"/>
              <a:pPr/>
              <a:t>12</a:t>
            </a:fld>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9DBFF-94DC-D636-EA29-6C8CB24B0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7E6A2-DFB1-07AF-2A53-9A143B61FF6D}"/>
              </a:ext>
            </a:extLst>
          </p:cNvPr>
          <p:cNvSpPr>
            <a:spLocks noGrp="1"/>
          </p:cNvSpPr>
          <p:nvPr>
            <p:ph type="title"/>
          </p:nvPr>
        </p:nvSpPr>
        <p:spPr>
          <a:xfrm>
            <a:off x="947739" y="836613"/>
            <a:ext cx="8196262" cy="1311364"/>
          </a:xfrm>
        </p:spPr>
        <p:txBody>
          <a:bodyPr anchor="t">
            <a:normAutofit/>
          </a:bodyPr>
          <a:lstStyle/>
          <a:p>
            <a:r>
              <a:rPr lang="en-US" dirty="0"/>
              <a:t>Forward Pass</a:t>
            </a:r>
          </a:p>
        </p:txBody>
      </p:sp>
      <p:pic>
        <p:nvPicPr>
          <p:cNvPr id="13" name="Picture 12" descr="A white paper with black text&#10;&#10;AI-generated content may be incorrect.">
            <a:extLst>
              <a:ext uri="{FF2B5EF4-FFF2-40B4-BE49-F238E27FC236}">
                <a16:creationId xmlns:a16="http://schemas.microsoft.com/office/drawing/2014/main" id="{CBC13BB9-E83B-E499-EA5F-A7D4C7387184}"/>
              </a:ext>
            </a:extLst>
          </p:cNvPr>
          <p:cNvPicPr>
            <a:picLocks noChangeAspect="1"/>
          </p:cNvPicPr>
          <p:nvPr/>
        </p:nvPicPr>
        <p:blipFill>
          <a:blip r:embed="rId2"/>
          <a:srcRect l="-1" r="-451" b="-4"/>
          <a:stretch/>
        </p:blipFill>
        <p:spPr>
          <a:xfrm>
            <a:off x="5959884" y="302459"/>
            <a:ext cx="6232116" cy="3334839"/>
          </a:xfrm>
          <a:prstGeom prst="rect">
            <a:avLst/>
          </a:prstGeom>
          <a:noFill/>
        </p:spPr>
      </p:pic>
      <p:pic>
        <p:nvPicPr>
          <p:cNvPr id="11" name="Picture 10" descr="A white paper with black text and numbers&#10;&#10;AI-generated content may be incorrect.">
            <a:extLst>
              <a:ext uri="{FF2B5EF4-FFF2-40B4-BE49-F238E27FC236}">
                <a16:creationId xmlns:a16="http://schemas.microsoft.com/office/drawing/2014/main" id="{27CD3EBB-6630-06B2-3828-77A7CD61D618}"/>
              </a:ext>
            </a:extLst>
          </p:cNvPr>
          <p:cNvPicPr>
            <a:picLocks noChangeAspect="1"/>
          </p:cNvPicPr>
          <p:nvPr/>
        </p:nvPicPr>
        <p:blipFill>
          <a:blip r:embed="rId3"/>
          <a:srcRect r="-2" b="-694"/>
          <a:stretch/>
        </p:blipFill>
        <p:spPr>
          <a:xfrm>
            <a:off x="353158" y="1684466"/>
            <a:ext cx="5742842" cy="4336921"/>
          </a:xfrm>
          <a:prstGeom prst="rect">
            <a:avLst/>
          </a:prstGeom>
          <a:noFill/>
        </p:spPr>
      </p:pic>
      <p:sp>
        <p:nvSpPr>
          <p:cNvPr id="4" name="TextBox 3">
            <a:extLst>
              <a:ext uri="{FF2B5EF4-FFF2-40B4-BE49-F238E27FC236}">
                <a16:creationId xmlns:a16="http://schemas.microsoft.com/office/drawing/2014/main" id="{A0DA4BF7-E63A-DC34-5C53-01AE8C1D6B7E}"/>
              </a:ext>
            </a:extLst>
          </p:cNvPr>
          <p:cNvSpPr txBox="1"/>
          <p:nvPr/>
        </p:nvSpPr>
        <p:spPr>
          <a:xfrm>
            <a:off x="6200384" y="3616082"/>
            <a:ext cx="2478564" cy="369332"/>
          </a:xfrm>
          <a:prstGeom prst="rect">
            <a:avLst/>
          </a:prstGeom>
          <a:noFill/>
        </p:spPr>
        <p:txBody>
          <a:bodyPr wrap="none" rtlCol="0">
            <a:spAutoFit/>
          </a:bodyPr>
          <a:lstStyle/>
          <a:p>
            <a:r>
              <a:rPr lang="en-US" dirty="0"/>
              <a:t>3. Compute output layer</a:t>
            </a:r>
          </a:p>
        </p:txBody>
      </p:sp>
      <p:pic>
        <p:nvPicPr>
          <p:cNvPr id="6" name="Picture 5" descr="A black and white math symbols&#10;&#10;AI-generated content may be incorrect.">
            <a:extLst>
              <a:ext uri="{FF2B5EF4-FFF2-40B4-BE49-F238E27FC236}">
                <a16:creationId xmlns:a16="http://schemas.microsoft.com/office/drawing/2014/main" id="{FBF73DC6-26C5-9B7C-13BB-C4024D7AE93E}"/>
              </a:ext>
            </a:extLst>
          </p:cNvPr>
          <p:cNvPicPr>
            <a:picLocks noChangeAspect="1"/>
          </p:cNvPicPr>
          <p:nvPr/>
        </p:nvPicPr>
        <p:blipFill>
          <a:blip r:embed="rId4"/>
          <a:stretch>
            <a:fillRect/>
          </a:stretch>
        </p:blipFill>
        <p:spPr>
          <a:xfrm>
            <a:off x="6096000" y="3981782"/>
            <a:ext cx="4292600" cy="571500"/>
          </a:xfrm>
          <a:prstGeom prst="rect">
            <a:avLst/>
          </a:prstGeom>
        </p:spPr>
      </p:pic>
      <p:sp>
        <p:nvSpPr>
          <p:cNvPr id="7" name="TextBox 6">
            <a:extLst>
              <a:ext uri="{FF2B5EF4-FFF2-40B4-BE49-F238E27FC236}">
                <a16:creationId xmlns:a16="http://schemas.microsoft.com/office/drawing/2014/main" id="{C1CE4FCB-A6AE-B586-7809-E5ACFAE67FA9}"/>
              </a:ext>
            </a:extLst>
          </p:cNvPr>
          <p:cNvSpPr txBox="1"/>
          <p:nvPr/>
        </p:nvSpPr>
        <p:spPr>
          <a:xfrm>
            <a:off x="6200384" y="4713100"/>
            <a:ext cx="2816092" cy="369332"/>
          </a:xfrm>
          <a:prstGeom prst="rect">
            <a:avLst/>
          </a:prstGeom>
          <a:noFill/>
        </p:spPr>
        <p:txBody>
          <a:bodyPr wrap="none" rtlCol="0">
            <a:spAutoFit/>
          </a:bodyPr>
          <a:lstStyle/>
          <a:p>
            <a:r>
              <a:rPr lang="en-US" dirty="0"/>
              <a:t>4. Apply Activation Function</a:t>
            </a:r>
          </a:p>
        </p:txBody>
      </p:sp>
      <p:sp>
        <p:nvSpPr>
          <p:cNvPr id="8" name="TextBox 7">
            <a:extLst>
              <a:ext uri="{FF2B5EF4-FFF2-40B4-BE49-F238E27FC236}">
                <a16:creationId xmlns:a16="http://schemas.microsoft.com/office/drawing/2014/main" id="{1CFD4CBE-A810-8307-EA7E-A14A3AC35BEA}"/>
              </a:ext>
            </a:extLst>
          </p:cNvPr>
          <p:cNvSpPr txBox="1"/>
          <p:nvPr/>
        </p:nvSpPr>
        <p:spPr>
          <a:xfrm>
            <a:off x="6200385" y="5102668"/>
            <a:ext cx="4634630" cy="646331"/>
          </a:xfrm>
          <a:prstGeom prst="rect">
            <a:avLst/>
          </a:prstGeom>
          <a:noFill/>
        </p:spPr>
        <p:txBody>
          <a:bodyPr wrap="square" rtlCol="0">
            <a:spAutoFit/>
          </a:bodyPr>
          <a:lstStyle/>
          <a:p>
            <a:r>
              <a:rPr lang="en-US" dirty="0"/>
              <a:t>Since we are solving a </a:t>
            </a:r>
            <a:r>
              <a:rPr lang="en-US" b="1" dirty="0"/>
              <a:t>binary classification problem</a:t>
            </a:r>
            <a:r>
              <a:rPr lang="en-US" dirty="0"/>
              <a:t>, we apply </a:t>
            </a:r>
            <a:r>
              <a:rPr lang="en-US" b="1" dirty="0"/>
              <a:t>Sigmoid</a:t>
            </a:r>
            <a:r>
              <a:rPr lang="en-US" dirty="0"/>
              <a:t> activation:</a:t>
            </a:r>
          </a:p>
        </p:txBody>
      </p:sp>
      <p:pic>
        <p:nvPicPr>
          <p:cNvPr id="12" name="Picture 11" descr="A math equation with a number of symbols&#10;&#10;AI-generated content may be incorrect.">
            <a:extLst>
              <a:ext uri="{FF2B5EF4-FFF2-40B4-BE49-F238E27FC236}">
                <a16:creationId xmlns:a16="http://schemas.microsoft.com/office/drawing/2014/main" id="{2F19D054-CAF7-D74E-8F9A-7466422B1080}"/>
              </a:ext>
            </a:extLst>
          </p:cNvPr>
          <p:cNvPicPr>
            <a:picLocks noChangeAspect="1"/>
          </p:cNvPicPr>
          <p:nvPr/>
        </p:nvPicPr>
        <p:blipFill>
          <a:blip r:embed="rId5"/>
          <a:stretch>
            <a:fillRect/>
          </a:stretch>
        </p:blipFill>
        <p:spPr>
          <a:xfrm>
            <a:off x="6255880" y="5882543"/>
            <a:ext cx="2705100" cy="685800"/>
          </a:xfrm>
          <a:prstGeom prst="rect">
            <a:avLst/>
          </a:prstGeom>
        </p:spPr>
      </p:pic>
      <p:sp>
        <p:nvSpPr>
          <p:cNvPr id="3" name="Date Placeholder 2">
            <a:extLst>
              <a:ext uri="{FF2B5EF4-FFF2-40B4-BE49-F238E27FC236}">
                <a16:creationId xmlns:a16="http://schemas.microsoft.com/office/drawing/2014/main" id="{CF639125-A8E3-1DA6-DBAB-21CF7D5E342D}"/>
              </a:ext>
            </a:extLst>
          </p:cNvPr>
          <p:cNvSpPr>
            <a:spLocks noGrp="1"/>
          </p:cNvSpPr>
          <p:nvPr>
            <p:ph type="dt" sz="half" idx="10"/>
          </p:nvPr>
        </p:nvSpPr>
        <p:spPr/>
        <p:txBody>
          <a:bodyPr/>
          <a:lstStyle/>
          <a:p>
            <a:fld id="{9E9BEA1C-808C-9C4B-8657-D23665AEEE79}" type="datetime1">
              <a:rPr lang="en-US" noProof="0" smtClean="0"/>
              <a:t>2/23/26</a:t>
            </a:fld>
            <a:endParaRPr lang="en-GB" noProof="0"/>
          </a:p>
        </p:txBody>
      </p:sp>
      <p:sp>
        <p:nvSpPr>
          <p:cNvPr id="5" name="Slide Number Placeholder 4">
            <a:extLst>
              <a:ext uri="{FF2B5EF4-FFF2-40B4-BE49-F238E27FC236}">
                <a16:creationId xmlns:a16="http://schemas.microsoft.com/office/drawing/2014/main" id="{301D7E32-325A-FFB4-596F-7D01D293F243}"/>
              </a:ext>
            </a:extLst>
          </p:cNvPr>
          <p:cNvSpPr>
            <a:spLocks noGrp="1"/>
          </p:cNvSpPr>
          <p:nvPr>
            <p:ph type="sldNum" sz="quarter" idx="12"/>
          </p:nvPr>
        </p:nvSpPr>
        <p:spPr/>
        <p:txBody>
          <a:bodyPr/>
          <a:lstStyle/>
          <a:p>
            <a:fld id="{B716C8F4-20CD-364A-8A8E-DE130115B178}" type="slidenum">
              <a:rPr lang="en-GB" noProof="0" smtClean="0"/>
              <a:pPr/>
              <a:t>13</a:t>
            </a:fld>
            <a:endParaRPr lang="en-GB" noProof="0"/>
          </a:p>
        </p:txBody>
      </p:sp>
    </p:spTree>
    <p:extLst>
      <p:ext uri="{BB962C8B-B14F-4D97-AF65-F5344CB8AC3E}">
        <p14:creationId xmlns:p14="http://schemas.microsoft.com/office/powerpoint/2010/main" val="4274619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2E116-2A3D-D54C-4033-AB10F49B9EFA}"/>
              </a:ext>
            </a:extLst>
          </p:cNvPr>
          <p:cNvSpPr>
            <a:spLocks noGrp="1"/>
          </p:cNvSpPr>
          <p:nvPr>
            <p:ph type="title"/>
          </p:nvPr>
        </p:nvSpPr>
        <p:spPr/>
        <p:txBody>
          <a:bodyPr/>
          <a:lstStyle/>
          <a:p>
            <a:r>
              <a:rPr lang="en-US" dirty="0"/>
              <a:t>Activation functions</a:t>
            </a:r>
          </a:p>
        </p:txBody>
      </p:sp>
      <p:sp>
        <p:nvSpPr>
          <p:cNvPr id="3" name="Content Placeholder 2">
            <a:extLst>
              <a:ext uri="{FF2B5EF4-FFF2-40B4-BE49-F238E27FC236}">
                <a16:creationId xmlns:a16="http://schemas.microsoft.com/office/drawing/2014/main" id="{F40EFC41-9DCB-F22A-1844-560F39081C59}"/>
              </a:ext>
            </a:extLst>
          </p:cNvPr>
          <p:cNvSpPr>
            <a:spLocks noGrp="1"/>
          </p:cNvSpPr>
          <p:nvPr>
            <p:ph sz="quarter" idx="13"/>
          </p:nvPr>
        </p:nvSpPr>
        <p:spPr/>
        <p:txBody>
          <a:bodyPr/>
          <a:lstStyle/>
          <a:p>
            <a:r>
              <a:rPr lang="en-US" sz="2400" b="1" dirty="0">
                <a:latin typeface="+mn-lt"/>
              </a:rPr>
              <a:t>Introduces Non-Linearity</a:t>
            </a:r>
          </a:p>
          <a:p>
            <a:pPr lvl="1"/>
            <a:r>
              <a:rPr lang="en-US" sz="2200" dirty="0">
                <a:latin typeface="+mn-lt"/>
              </a:rPr>
              <a:t>Without an activation function, the network behaves like </a:t>
            </a:r>
            <a:r>
              <a:rPr lang="en-US" sz="2200" b="1" dirty="0">
                <a:latin typeface="+mn-lt"/>
              </a:rPr>
              <a:t>a linear transformation</a:t>
            </a:r>
            <a:r>
              <a:rPr lang="en-US" sz="2200" dirty="0">
                <a:latin typeface="+mn-lt"/>
              </a:rPr>
              <a:t>, limiting its ability to model complex relationships.</a:t>
            </a:r>
          </a:p>
          <a:p>
            <a:r>
              <a:rPr lang="en-US" sz="2400" b="1" dirty="0">
                <a:latin typeface="+mn-lt"/>
              </a:rPr>
              <a:t>Enables Hierarchical Feature Learning</a:t>
            </a:r>
          </a:p>
          <a:p>
            <a:pPr lvl="1"/>
            <a:r>
              <a:rPr lang="en-US" sz="2200" dirty="0">
                <a:latin typeface="+mn-lt"/>
              </a:rPr>
              <a:t>Hidden layers apply transformations that help extract meaningful features from raw input data.</a:t>
            </a:r>
          </a:p>
          <a:p>
            <a:r>
              <a:rPr lang="en-US" sz="2400" b="1" dirty="0">
                <a:latin typeface="+mn-lt"/>
              </a:rPr>
              <a:t>Prevents Network from Collapsing to a Single Linear Model</a:t>
            </a:r>
          </a:p>
          <a:p>
            <a:pPr lvl="1"/>
            <a:r>
              <a:rPr lang="en-US" sz="2200" dirty="0">
                <a:latin typeface="+mn-lt"/>
              </a:rPr>
              <a:t>A multi-layer perceptron (MLP) without activation functions is equivalent to a single-layer linear model.</a:t>
            </a:r>
          </a:p>
          <a:p>
            <a:r>
              <a:rPr lang="en-US" sz="2400" b="1" dirty="0">
                <a:latin typeface="+mn-lt"/>
              </a:rPr>
              <a:t>Controls Information Flow</a:t>
            </a:r>
          </a:p>
          <a:p>
            <a:pPr lvl="1"/>
            <a:r>
              <a:rPr lang="en-US" sz="2200" dirty="0">
                <a:latin typeface="+mn-lt"/>
              </a:rPr>
              <a:t>Activations determine how much signal passes through neurons, filtering out unnecessary values (e.g., </a:t>
            </a:r>
            <a:r>
              <a:rPr lang="en-US" sz="2200" b="1" dirty="0" err="1">
                <a:latin typeface="+mn-lt"/>
              </a:rPr>
              <a:t>ReLU</a:t>
            </a:r>
            <a:r>
              <a:rPr lang="en-US" sz="2200" dirty="0">
                <a:latin typeface="+mn-lt"/>
              </a:rPr>
              <a:t> sets negative values to zero).</a:t>
            </a:r>
          </a:p>
          <a:p>
            <a:endParaRPr lang="en-US" dirty="0"/>
          </a:p>
        </p:txBody>
      </p:sp>
      <p:sp>
        <p:nvSpPr>
          <p:cNvPr id="4" name="Date Placeholder 3">
            <a:extLst>
              <a:ext uri="{FF2B5EF4-FFF2-40B4-BE49-F238E27FC236}">
                <a16:creationId xmlns:a16="http://schemas.microsoft.com/office/drawing/2014/main" id="{9A271F94-98DC-DC78-FECA-EC0F9E9EAD4C}"/>
              </a:ext>
            </a:extLst>
          </p:cNvPr>
          <p:cNvSpPr>
            <a:spLocks noGrp="1"/>
          </p:cNvSpPr>
          <p:nvPr>
            <p:ph type="dt" sz="half" idx="10"/>
          </p:nvPr>
        </p:nvSpPr>
        <p:spPr/>
        <p:txBody>
          <a:bodyPr/>
          <a:lstStyle/>
          <a:p>
            <a:fld id="{109E750A-DFAA-5741-8D99-E067A1D3C03A}" type="datetime1">
              <a:rPr lang="en-US" noProof="0" smtClean="0"/>
              <a:t>2/23/26</a:t>
            </a:fld>
            <a:endParaRPr lang="en-GB" noProof="0"/>
          </a:p>
        </p:txBody>
      </p:sp>
      <p:sp>
        <p:nvSpPr>
          <p:cNvPr id="5" name="Slide Number Placeholder 4">
            <a:extLst>
              <a:ext uri="{FF2B5EF4-FFF2-40B4-BE49-F238E27FC236}">
                <a16:creationId xmlns:a16="http://schemas.microsoft.com/office/drawing/2014/main" id="{F962BD4D-4A33-35A6-5C71-D1939B43A78B}"/>
              </a:ext>
            </a:extLst>
          </p:cNvPr>
          <p:cNvSpPr>
            <a:spLocks noGrp="1"/>
          </p:cNvSpPr>
          <p:nvPr>
            <p:ph type="sldNum" sz="quarter" idx="12"/>
          </p:nvPr>
        </p:nvSpPr>
        <p:spPr/>
        <p:txBody>
          <a:bodyPr/>
          <a:lstStyle/>
          <a:p>
            <a:fld id="{B716C8F4-20CD-364A-8A8E-DE130115B178}" type="slidenum">
              <a:rPr lang="en-GB" noProof="0" smtClean="0"/>
              <a:pPr/>
              <a:t>14</a:t>
            </a:fld>
            <a:endParaRPr lang="en-GB" noProof="0"/>
          </a:p>
        </p:txBody>
      </p:sp>
    </p:spTree>
    <p:extLst>
      <p:ext uri="{BB962C8B-B14F-4D97-AF65-F5344CB8AC3E}">
        <p14:creationId xmlns:p14="http://schemas.microsoft.com/office/powerpoint/2010/main" val="2188483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97895-DD77-4D99-E7D7-8DDE1F436454}"/>
              </a:ext>
            </a:extLst>
          </p:cNvPr>
          <p:cNvSpPr>
            <a:spLocks noGrp="1"/>
          </p:cNvSpPr>
          <p:nvPr>
            <p:ph type="title"/>
          </p:nvPr>
        </p:nvSpPr>
        <p:spPr/>
        <p:txBody>
          <a:bodyPr/>
          <a:lstStyle/>
          <a:p>
            <a:r>
              <a:rPr lang="en-US" dirty="0"/>
              <a:t>Different types of Activation Function</a:t>
            </a:r>
          </a:p>
        </p:txBody>
      </p:sp>
      <p:sp>
        <p:nvSpPr>
          <p:cNvPr id="3" name="Content Placeholder 2">
            <a:extLst>
              <a:ext uri="{FF2B5EF4-FFF2-40B4-BE49-F238E27FC236}">
                <a16:creationId xmlns:a16="http://schemas.microsoft.com/office/drawing/2014/main" id="{2663B834-E80D-BE2F-598C-C950C7062F56}"/>
              </a:ext>
            </a:extLst>
          </p:cNvPr>
          <p:cNvSpPr>
            <a:spLocks noGrp="1"/>
          </p:cNvSpPr>
          <p:nvPr>
            <p:ph sz="quarter" idx="13"/>
          </p:nvPr>
        </p:nvSpPr>
        <p:spPr/>
        <p:txBody>
          <a:bodyPr/>
          <a:lstStyle/>
          <a:p>
            <a:r>
              <a:rPr lang="en-US" sz="2400" dirty="0">
                <a:latin typeface="+mn-lt"/>
              </a:rPr>
              <a:t>Sigmoid</a:t>
            </a:r>
          </a:p>
          <a:p>
            <a:endParaRPr lang="en-US" sz="2400" dirty="0">
              <a:latin typeface="+mn-lt"/>
            </a:endParaRPr>
          </a:p>
          <a:p>
            <a:endParaRPr lang="en-US" sz="2400" dirty="0">
              <a:latin typeface="+mn-lt"/>
            </a:endParaRPr>
          </a:p>
          <a:p>
            <a:r>
              <a:rPr lang="en-US" sz="2400" dirty="0">
                <a:latin typeface="+mn-lt"/>
              </a:rPr>
              <a:t>Tanh (Hyperbolic Tangent)</a:t>
            </a:r>
          </a:p>
          <a:p>
            <a:endParaRPr lang="en-US" sz="2400" dirty="0">
              <a:latin typeface="+mn-lt"/>
            </a:endParaRPr>
          </a:p>
          <a:p>
            <a:endParaRPr lang="en-US" sz="2400" dirty="0">
              <a:latin typeface="+mn-lt"/>
            </a:endParaRPr>
          </a:p>
          <a:p>
            <a:endParaRPr lang="en-US" sz="2400" dirty="0">
              <a:latin typeface="+mn-lt"/>
            </a:endParaRPr>
          </a:p>
          <a:p>
            <a:endParaRPr lang="en-US" sz="2400" dirty="0">
              <a:latin typeface="+mn-lt"/>
            </a:endParaRPr>
          </a:p>
          <a:p>
            <a:r>
              <a:rPr lang="en-US" sz="2400" dirty="0" err="1">
                <a:latin typeface="+mn-lt"/>
              </a:rPr>
              <a:t>ReLU</a:t>
            </a:r>
            <a:r>
              <a:rPr lang="en-US" sz="2400" dirty="0">
                <a:latin typeface="+mn-lt"/>
              </a:rPr>
              <a:t> (Rectified Linear Unit)</a:t>
            </a:r>
          </a:p>
          <a:p>
            <a:endParaRPr lang="en-US" sz="2400" dirty="0">
              <a:latin typeface="+mn-lt"/>
            </a:endParaRPr>
          </a:p>
          <a:p>
            <a:endParaRPr lang="en-US" sz="2400" dirty="0">
              <a:latin typeface="+mn-lt"/>
            </a:endParaRPr>
          </a:p>
          <a:p>
            <a:endParaRPr lang="en-US" sz="2400" dirty="0">
              <a:latin typeface="+mn-lt"/>
            </a:endParaRPr>
          </a:p>
          <a:p>
            <a:r>
              <a:rPr lang="en-US" sz="2400" dirty="0" err="1">
                <a:latin typeface="+mn-lt"/>
              </a:rPr>
              <a:t>Softmax</a:t>
            </a:r>
            <a:r>
              <a:rPr lang="en-US" sz="2400" dirty="0">
                <a:latin typeface="+mn-lt"/>
              </a:rPr>
              <a:t> Activation Function</a:t>
            </a:r>
          </a:p>
        </p:txBody>
      </p:sp>
      <p:pic>
        <p:nvPicPr>
          <p:cNvPr id="5122" name="Picture 2" descr="Output image">
            <a:extLst>
              <a:ext uri="{FF2B5EF4-FFF2-40B4-BE49-F238E27FC236}">
                <a16:creationId xmlns:a16="http://schemas.microsoft.com/office/drawing/2014/main" id="{C664AB17-0C04-231D-76E9-D5E02DBBC7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922"/>
          <a:stretch/>
        </p:blipFill>
        <p:spPr bwMode="auto">
          <a:xfrm>
            <a:off x="4836068" y="1436386"/>
            <a:ext cx="5700390" cy="492502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and white math equation&#10;&#10;AI-generated content may be incorrect.">
            <a:extLst>
              <a:ext uri="{FF2B5EF4-FFF2-40B4-BE49-F238E27FC236}">
                <a16:creationId xmlns:a16="http://schemas.microsoft.com/office/drawing/2014/main" id="{2E262195-3B57-16A8-7543-2AC02DB08021}"/>
              </a:ext>
            </a:extLst>
          </p:cNvPr>
          <p:cNvPicPr>
            <a:picLocks noChangeAspect="1"/>
          </p:cNvPicPr>
          <p:nvPr/>
        </p:nvPicPr>
        <p:blipFill>
          <a:blip r:embed="rId3"/>
          <a:stretch>
            <a:fillRect/>
          </a:stretch>
        </p:blipFill>
        <p:spPr>
          <a:xfrm>
            <a:off x="2302076" y="1552755"/>
            <a:ext cx="2032000" cy="965200"/>
          </a:xfrm>
          <a:prstGeom prst="rect">
            <a:avLst/>
          </a:prstGeom>
        </p:spPr>
      </p:pic>
      <p:pic>
        <p:nvPicPr>
          <p:cNvPr id="7" name="Picture 6" descr="A black text with a white background&#10;&#10;AI-generated content may be incorrect.">
            <a:extLst>
              <a:ext uri="{FF2B5EF4-FFF2-40B4-BE49-F238E27FC236}">
                <a16:creationId xmlns:a16="http://schemas.microsoft.com/office/drawing/2014/main" id="{7FFAE4E1-700F-CBF3-2363-937571B0305E}"/>
              </a:ext>
            </a:extLst>
          </p:cNvPr>
          <p:cNvPicPr>
            <a:picLocks noChangeAspect="1"/>
          </p:cNvPicPr>
          <p:nvPr/>
        </p:nvPicPr>
        <p:blipFill>
          <a:blip r:embed="rId4"/>
          <a:stretch>
            <a:fillRect/>
          </a:stretch>
        </p:blipFill>
        <p:spPr>
          <a:xfrm>
            <a:off x="2475545" y="4637087"/>
            <a:ext cx="2197100" cy="482600"/>
          </a:xfrm>
          <a:prstGeom prst="rect">
            <a:avLst/>
          </a:prstGeom>
        </p:spPr>
      </p:pic>
      <p:pic>
        <p:nvPicPr>
          <p:cNvPr id="9" name="Picture 8" descr="A mathematical equation with numbers and symbols&#10;&#10;AI-generated content may be incorrect.">
            <a:extLst>
              <a:ext uri="{FF2B5EF4-FFF2-40B4-BE49-F238E27FC236}">
                <a16:creationId xmlns:a16="http://schemas.microsoft.com/office/drawing/2014/main" id="{EA219C33-B4F1-0BBE-3F9E-5D57D5B229E6}"/>
              </a:ext>
            </a:extLst>
          </p:cNvPr>
          <p:cNvPicPr>
            <a:picLocks noChangeAspect="1"/>
          </p:cNvPicPr>
          <p:nvPr/>
        </p:nvPicPr>
        <p:blipFill>
          <a:blip r:embed="rId5"/>
          <a:stretch>
            <a:fillRect/>
          </a:stretch>
        </p:blipFill>
        <p:spPr>
          <a:xfrm>
            <a:off x="2569268" y="5739284"/>
            <a:ext cx="1956433" cy="972812"/>
          </a:xfrm>
          <a:prstGeom prst="rect">
            <a:avLst/>
          </a:prstGeom>
        </p:spPr>
      </p:pic>
      <p:pic>
        <p:nvPicPr>
          <p:cNvPr id="11" name="Picture 10" descr="A mathematical equation with black text&#10;&#10;AI-generated content may be incorrect.">
            <a:extLst>
              <a:ext uri="{FF2B5EF4-FFF2-40B4-BE49-F238E27FC236}">
                <a16:creationId xmlns:a16="http://schemas.microsoft.com/office/drawing/2014/main" id="{1B105869-AF48-C41E-67F3-B8C2E667993D}"/>
              </a:ext>
            </a:extLst>
          </p:cNvPr>
          <p:cNvPicPr>
            <a:picLocks noChangeAspect="1"/>
          </p:cNvPicPr>
          <p:nvPr/>
        </p:nvPicPr>
        <p:blipFill>
          <a:blip r:embed="rId6"/>
          <a:stretch>
            <a:fillRect/>
          </a:stretch>
        </p:blipFill>
        <p:spPr>
          <a:xfrm>
            <a:off x="2488245" y="3039758"/>
            <a:ext cx="2184400" cy="1066800"/>
          </a:xfrm>
          <a:prstGeom prst="rect">
            <a:avLst/>
          </a:prstGeom>
        </p:spPr>
      </p:pic>
      <p:sp>
        <p:nvSpPr>
          <p:cNvPr id="4" name="Date Placeholder 3">
            <a:extLst>
              <a:ext uri="{FF2B5EF4-FFF2-40B4-BE49-F238E27FC236}">
                <a16:creationId xmlns:a16="http://schemas.microsoft.com/office/drawing/2014/main" id="{69EBAB40-C62F-1485-7003-3DC7016C0B1E}"/>
              </a:ext>
            </a:extLst>
          </p:cNvPr>
          <p:cNvSpPr>
            <a:spLocks noGrp="1"/>
          </p:cNvSpPr>
          <p:nvPr>
            <p:ph type="dt" sz="half" idx="10"/>
          </p:nvPr>
        </p:nvSpPr>
        <p:spPr/>
        <p:txBody>
          <a:bodyPr/>
          <a:lstStyle/>
          <a:p>
            <a:fld id="{53EA6ECB-F14E-C643-9A5D-2C0841ADD391}" type="datetime1">
              <a:rPr lang="en-US" noProof="0" smtClean="0"/>
              <a:t>2/23/26</a:t>
            </a:fld>
            <a:endParaRPr lang="en-GB" noProof="0"/>
          </a:p>
        </p:txBody>
      </p:sp>
      <p:sp>
        <p:nvSpPr>
          <p:cNvPr id="6" name="Slide Number Placeholder 5">
            <a:extLst>
              <a:ext uri="{FF2B5EF4-FFF2-40B4-BE49-F238E27FC236}">
                <a16:creationId xmlns:a16="http://schemas.microsoft.com/office/drawing/2014/main" id="{685DE659-3003-A1D0-F638-C24520EFD717}"/>
              </a:ext>
            </a:extLst>
          </p:cNvPr>
          <p:cNvSpPr>
            <a:spLocks noGrp="1"/>
          </p:cNvSpPr>
          <p:nvPr>
            <p:ph type="sldNum" sz="quarter" idx="12"/>
          </p:nvPr>
        </p:nvSpPr>
        <p:spPr/>
        <p:txBody>
          <a:bodyPr/>
          <a:lstStyle/>
          <a:p>
            <a:fld id="{B716C8F4-20CD-364A-8A8E-DE130115B178}" type="slidenum">
              <a:rPr lang="en-GB" noProof="0" smtClean="0"/>
              <a:pPr/>
              <a:t>15</a:t>
            </a:fld>
            <a:endParaRPr lang="en-GB" noProof="0"/>
          </a:p>
        </p:txBody>
      </p:sp>
    </p:spTree>
    <p:extLst>
      <p:ext uri="{BB962C8B-B14F-4D97-AF65-F5344CB8AC3E}">
        <p14:creationId xmlns:p14="http://schemas.microsoft.com/office/powerpoint/2010/main" val="1762724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C4EC4-7376-CD67-47AE-2F03EA4BA4A4}"/>
              </a:ext>
            </a:extLst>
          </p:cNvPr>
          <p:cNvSpPr>
            <a:spLocks noGrp="1"/>
          </p:cNvSpPr>
          <p:nvPr>
            <p:ph type="title"/>
          </p:nvPr>
        </p:nvSpPr>
        <p:spPr>
          <a:xfrm>
            <a:off x="947738" y="836613"/>
            <a:ext cx="9472971" cy="716142"/>
          </a:xfrm>
        </p:spPr>
        <p:txBody>
          <a:bodyPr anchor="t">
            <a:normAutofit/>
          </a:bodyPr>
          <a:lstStyle/>
          <a:p>
            <a:r>
              <a:rPr lang="en-US" dirty="0"/>
              <a:t>Comparison between Activations</a:t>
            </a:r>
          </a:p>
        </p:txBody>
      </p:sp>
      <p:pic>
        <p:nvPicPr>
          <p:cNvPr id="6" name="Content Placeholder 4" descr="A screenshot of a computer&#10;&#10;AI-generated content may be incorrect.">
            <a:extLst>
              <a:ext uri="{FF2B5EF4-FFF2-40B4-BE49-F238E27FC236}">
                <a16:creationId xmlns:a16="http://schemas.microsoft.com/office/drawing/2014/main" id="{E0B57BAA-24CD-C81F-8A29-CE39DAC8E386}"/>
              </a:ext>
            </a:extLst>
          </p:cNvPr>
          <p:cNvPicPr>
            <a:picLocks noChangeAspect="1"/>
          </p:cNvPicPr>
          <p:nvPr/>
        </p:nvPicPr>
        <p:blipFill>
          <a:blip r:embed="rId2"/>
          <a:srcRect r="31389"/>
          <a:stretch>
            <a:fillRect/>
          </a:stretch>
        </p:blipFill>
        <p:spPr>
          <a:xfrm>
            <a:off x="947738" y="1552755"/>
            <a:ext cx="5148263" cy="4713462"/>
          </a:xfrm>
          <a:prstGeom prst="rect">
            <a:avLst/>
          </a:prstGeom>
          <a:noFill/>
        </p:spPr>
      </p:pic>
      <p:pic>
        <p:nvPicPr>
          <p:cNvPr id="9" name="Content Placeholder 4" descr="A screenshot of a computer&#10;&#10;AI-generated content may be incorrect.">
            <a:extLst>
              <a:ext uri="{FF2B5EF4-FFF2-40B4-BE49-F238E27FC236}">
                <a16:creationId xmlns:a16="http://schemas.microsoft.com/office/drawing/2014/main" id="{BBFAB11E-AD83-DAC2-9798-C353FEBFDE26}"/>
              </a:ext>
            </a:extLst>
          </p:cNvPr>
          <p:cNvPicPr>
            <a:picLocks noGrp="1" noChangeAspect="1"/>
          </p:cNvPicPr>
          <p:nvPr>
            <p:ph sz="quarter" idx="13"/>
          </p:nvPr>
        </p:nvPicPr>
        <p:blipFill>
          <a:blip r:embed="rId3"/>
          <a:stretch>
            <a:fillRect/>
          </a:stretch>
        </p:blipFill>
        <p:spPr>
          <a:xfrm>
            <a:off x="6607704" y="1776413"/>
            <a:ext cx="5841010" cy="1414064"/>
          </a:xfrm>
        </p:spPr>
      </p:pic>
      <p:sp>
        <p:nvSpPr>
          <p:cNvPr id="10" name="TextBox 9">
            <a:extLst>
              <a:ext uri="{FF2B5EF4-FFF2-40B4-BE49-F238E27FC236}">
                <a16:creationId xmlns:a16="http://schemas.microsoft.com/office/drawing/2014/main" id="{3D928B71-47A8-848C-E986-F046DDD171DC}"/>
              </a:ext>
            </a:extLst>
          </p:cNvPr>
          <p:cNvSpPr txBox="1"/>
          <p:nvPr/>
        </p:nvSpPr>
        <p:spPr>
          <a:xfrm>
            <a:off x="6607704" y="3538230"/>
            <a:ext cx="4809994" cy="1938992"/>
          </a:xfrm>
          <a:prstGeom prst="rect">
            <a:avLst/>
          </a:prstGeom>
          <a:noFill/>
        </p:spPr>
        <p:txBody>
          <a:bodyPr wrap="square" rtlCol="0">
            <a:spAutoFit/>
          </a:bodyPr>
          <a:lstStyle/>
          <a:p>
            <a:r>
              <a:rPr lang="en-US" sz="2000" dirty="0"/>
              <a:t>What is Vanishing Gradient?</a:t>
            </a:r>
          </a:p>
          <a:p>
            <a:pPr marL="285750" indent="-285750">
              <a:buFont typeface="Arial" panose="020B0604020202020204" pitchFamily="34" charset="0"/>
              <a:buChar char="•"/>
            </a:pPr>
            <a:r>
              <a:rPr lang="en-US" sz="2000" dirty="0"/>
              <a:t>The gradients become </a:t>
            </a:r>
            <a:r>
              <a:rPr lang="en-US" sz="2000" b="1" dirty="0"/>
              <a:t>extremely small</a:t>
            </a:r>
            <a:r>
              <a:rPr lang="en-US" sz="2000" dirty="0"/>
              <a:t> as they are backpropagated through multiple layers. </a:t>
            </a:r>
          </a:p>
          <a:p>
            <a:pPr marL="285750" indent="-285750">
              <a:buFont typeface="Arial" panose="020B0604020202020204" pitchFamily="34" charset="0"/>
              <a:buChar char="•"/>
            </a:pPr>
            <a:r>
              <a:rPr lang="en-US" sz="2000" dirty="0"/>
              <a:t>This leads to </a:t>
            </a:r>
            <a:r>
              <a:rPr lang="en-US" sz="2000" b="1" dirty="0"/>
              <a:t>very slow learning</a:t>
            </a:r>
            <a:r>
              <a:rPr lang="en-US" sz="2000" dirty="0"/>
              <a:t> or even </a:t>
            </a:r>
            <a:r>
              <a:rPr lang="en-US" sz="2000" b="1" dirty="0"/>
              <a:t>complete stagnation</a:t>
            </a:r>
            <a:r>
              <a:rPr lang="en-US" sz="2000" dirty="0"/>
              <a:t> in training.</a:t>
            </a:r>
          </a:p>
        </p:txBody>
      </p:sp>
      <p:sp>
        <p:nvSpPr>
          <p:cNvPr id="3" name="Date Placeholder 2">
            <a:extLst>
              <a:ext uri="{FF2B5EF4-FFF2-40B4-BE49-F238E27FC236}">
                <a16:creationId xmlns:a16="http://schemas.microsoft.com/office/drawing/2014/main" id="{8B19FD28-88DC-0B39-2AE3-8BA561EBBE28}"/>
              </a:ext>
            </a:extLst>
          </p:cNvPr>
          <p:cNvSpPr>
            <a:spLocks noGrp="1"/>
          </p:cNvSpPr>
          <p:nvPr>
            <p:ph type="dt" sz="half" idx="10"/>
          </p:nvPr>
        </p:nvSpPr>
        <p:spPr/>
        <p:txBody>
          <a:bodyPr/>
          <a:lstStyle/>
          <a:p>
            <a:fld id="{862A9010-7FDB-9949-9BDE-F659DA2AAC8E}" type="datetime1">
              <a:rPr lang="en-US" noProof="0" smtClean="0"/>
              <a:t>2/23/26</a:t>
            </a:fld>
            <a:endParaRPr lang="en-GB" noProof="0"/>
          </a:p>
        </p:txBody>
      </p:sp>
      <p:sp>
        <p:nvSpPr>
          <p:cNvPr id="4" name="Slide Number Placeholder 3">
            <a:extLst>
              <a:ext uri="{FF2B5EF4-FFF2-40B4-BE49-F238E27FC236}">
                <a16:creationId xmlns:a16="http://schemas.microsoft.com/office/drawing/2014/main" id="{0FC8AB56-E502-25DE-BBC3-28E08FF016DA}"/>
              </a:ext>
            </a:extLst>
          </p:cNvPr>
          <p:cNvSpPr>
            <a:spLocks noGrp="1"/>
          </p:cNvSpPr>
          <p:nvPr>
            <p:ph type="sldNum" sz="quarter" idx="12"/>
          </p:nvPr>
        </p:nvSpPr>
        <p:spPr/>
        <p:txBody>
          <a:bodyPr/>
          <a:lstStyle/>
          <a:p>
            <a:fld id="{B716C8F4-20CD-364A-8A8E-DE130115B178}" type="slidenum">
              <a:rPr lang="en-GB" noProof="0" smtClean="0"/>
              <a:pPr/>
              <a:t>16</a:t>
            </a:fld>
            <a:endParaRPr lang="en-GB" noProof="0"/>
          </a:p>
        </p:txBody>
      </p:sp>
    </p:spTree>
    <p:extLst>
      <p:ext uri="{BB962C8B-B14F-4D97-AF65-F5344CB8AC3E}">
        <p14:creationId xmlns:p14="http://schemas.microsoft.com/office/powerpoint/2010/main" val="3165927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9460E-2329-851E-5BA3-42BBE5BCF514}"/>
              </a:ext>
            </a:extLst>
          </p:cNvPr>
          <p:cNvSpPr>
            <a:spLocks noGrp="1"/>
          </p:cNvSpPr>
          <p:nvPr>
            <p:ph type="title"/>
          </p:nvPr>
        </p:nvSpPr>
        <p:spPr/>
        <p:txBody>
          <a:bodyPr/>
          <a:lstStyle/>
          <a:p>
            <a:r>
              <a:rPr lang="en-US" dirty="0"/>
              <a:t>Vanishing Gradients</a:t>
            </a:r>
          </a:p>
        </p:txBody>
      </p:sp>
      <p:sp>
        <p:nvSpPr>
          <p:cNvPr id="7" name="Content Placeholder 6">
            <a:extLst>
              <a:ext uri="{FF2B5EF4-FFF2-40B4-BE49-F238E27FC236}">
                <a16:creationId xmlns:a16="http://schemas.microsoft.com/office/drawing/2014/main" id="{82ED6AD7-52A6-7724-9346-4F5FD33C9635}"/>
              </a:ext>
            </a:extLst>
          </p:cNvPr>
          <p:cNvSpPr>
            <a:spLocks noGrp="1"/>
          </p:cNvSpPr>
          <p:nvPr>
            <p:ph sz="quarter" idx="13"/>
          </p:nvPr>
        </p:nvSpPr>
        <p:spPr/>
        <p:txBody>
          <a:bodyPr/>
          <a:lstStyle/>
          <a:p>
            <a:r>
              <a:rPr lang="en-US" sz="2400" dirty="0">
                <a:latin typeface="+mn-lt"/>
              </a:rPr>
              <a:t>During </a:t>
            </a:r>
            <a:r>
              <a:rPr lang="en-US" sz="2400" b="1" dirty="0">
                <a:latin typeface="+mn-lt"/>
              </a:rPr>
              <a:t>backpropagation</a:t>
            </a:r>
            <a:r>
              <a:rPr lang="en-US" sz="2400" dirty="0">
                <a:latin typeface="+mn-lt"/>
              </a:rPr>
              <a:t>, gradients of the loss function are computed using the </a:t>
            </a:r>
            <a:r>
              <a:rPr lang="en-US" sz="2400" b="1" dirty="0">
                <a:latin typeface="+mn-lt"/>
              </a:rPr>
              <a:t>chain rule</a:t>
            </a:r>
            <a:r>
              <a:rPr lang="en-US" sz="2400" dirty="0">
                <a:latin typeface="+mn-lt"/>
              </a:rPr>
              <a:t>:</a:t>
            </a:r>
          </a:p>
          <a:p>
            <a:endParaRPr lang="en-US" dirty="0">
              <a:latin typeface="+mn-lt"/>
            </a:endParaRPr>
          </a:p>
          <a:p>
            <a:endParaRPr lang="en-US" dirty="0">
              <a:latin typeface="+mn-lt"/>
            </a:endParaRPr>
          </a:p>
          <a:p>
            <a:endParaRPr lang="en-US" dirty="0">
              <a:latin typeface="+mn-lt"/>
            </a:endParaRPr>
          </a:p>
          <a:p>
            <a:r>
              <a:rPr lang="en-US" sz="2400" dirty="0">
                <a:latin typeface="+mn-lt"/>
              </a:rPr>
              <a:t>If the activation function’s </a:t>
            </a:r>
            <a:r>
              <a:rPr lang="en-US" sz="2400" b="1" dirty="0">
                <a:latin typeface="+mn-lt"/>
              </a:rPr>
              <a:t>derivative is very small</a:t>
            </a:r>
            <a:r>
              <a:rPr lang="en-US" sz="2400" dirty="0">
                <a:latin typeface="+mn-lt"/>
              </a:rPr>
              <a:t> (i.e., close to </a:t>
            </a:r>
            <a:r>
              <a:rPr lang="en-US" sz="2400" b="1" dirty="0">
                <a:latin typeface="+mn-lt"/>
              </a:rPr>
              <a:t>zero</a:t>
            </a:r>
            <a:r>
              <a:rPr lang="en-US" sz="2400" dirty="0">
                <a:latin typeface="+mn-lt"/>
              </a:rPr>
              <a:t>), the gradient values </a:t>
            </a:r>
            <a:r>
              <a:rPr lang="en-US" sz="2400" b="1" dirty="0">
                <a:latin typeface="+mn-lt"/>
              </a:rPr>
              <a:t>shrink exponentially</a:t>
            </a:r>
            <a:r>
              <a:rPr lang="en-US" sz="2400" dirty="0">
                <a:latin typeface="+mn-lt"/>
              </a:rPr>
              <a:t> as they propagate backward. </a:t>
            </a:r>
          </a:p>
          <a:p>
            <a:pPr marL="0" indent="0">
              <a:buNone/>
            </a:pPr>
            <a:endParaRPr lang="en-US" sz="2400" dirty="0">
              <a:latin typeface="+mn-lt"/>
            </a:endParaRPr>
          </a:p>
          <a:p>
            <a:r>
              <a:rPr lang="en-US" sz="2400" dirty="0">
                <a:latin typeface="+mn-lt"/>
              </a:rPr>
              <a:t>This results in </a:t>
            </a:r>
            <a:r>
              <a:rPr lang="en-US" sz="2400" b="1" dirty="0">
                <a:latin typeface="+mn-lt"/>
              </a:rPr>
              <a:t>earlier layers receiving almost no gradient updates</a:t>
            </a:r>
            <a:r>
              <a:rPr lang="en-US" sz="2400" dirty="0">
                <a:latin typeface="+mn-lt"/>
              </a:rPr>
              <a:t>, preventing them from learning.</a:t>
            </a:r>
          </a:p>
          <a:p>
            <a:pPr marL="0" indent="0">
              <a:buNone/>
            </a:pPr>
            <a:endParaRPr lang="en-US" sz="2400" dirty="0">
              <a:latin typeface="+mn-lt"/>
            </a:endParaRPr>
          </a:p>
          <a:p>
            <a:r>
              <a:rPr lang="en-US" sz="2400" dirty="0">
                <a:latin typeface="+mn-lt"/>
              </a:rPr>
              <a:t>How does it affect ANN ?</a:t>
            </a:r>
          </a:p>
          <a:p>
            <a:pPr lvl="1"/>
            <a:r>
              <a:rPr lang="en-US" sz="2000" dirty="0">
                <a:latin typeface="+mn-lt"/>
              </a:rPr>
              <a:t>Early layers learn very slowly or stop learning completely.</a:t>
            </a:r>
          </a:p>
          <a:p>
            <a:pPr lvl="1"/>
            <a:r>
              <a:rPr lang="en-US" sz="2000" dirty="0">
                <a:latin typeface="+mn-lt"/>
              </a:rPr>
              <a:t>Training becomes inefficient, requiring more epochs to converge.</a:t>
            </a:r>
          </a:p>
          <a:p>
            <a:pPr lvl="1"/>
            <a:r>
              <a:rPr lang="en-US" sz="2000" dirty="0">
                <a:latin typeface="+mn-lt"/>
              </a:rPr>
              <a:t>The network may not capture important features in deep architectures.</a:t>
            </a:r>
          </a:p>
        </p:txBody>
      </p:sp>
      <p:pic>
        <p:nvPicPr>
          <p:cNvPr id="9" name="Picture 8" descr="A black text on a white background&#10;&#10;AI-generated content may be incorrect.">
            <a:extLst>
              <a:ext uri="{FF2B5EF4-FFF2-40B4-BE49-F238E27FC236}">
                <a16:creationId xmlns:a16="http://schemas.microsoft.com/office/drawing/2014/main" id="{74847DE8-DF9B-03B6-35DA-A46A4CF48E2D}"/>
              </a:ext>
            </a:extLst>
          </p:cNvPr>
          <p:cNvPicPr>
            <a:picLocks noChangeAspect="1"/>
          </p:cNvPicPr>
          <p:nvPr/>
        </p:nvPicPr>
        <p:blipFill>
          <a:blip r:embed="rId2"/>
          <a:stretch>
            <a:fillRect/>
          </a:stretch>
        </p:blipFill>
        <p:spPr>
          <a:xfrm>
            <a:off x="3013119" y="2358721"/>
            <a:ext cx="4787900" cy="812800"/>
          </a:xfrm>
          <a:prstGeom prst="rect">
            <a:avLst/>
          </a:prstGeom>
        </p:spPr>
      </p:pic>
      <p:sp>
        <p:nvSpPr>
          <p:cNvPr id="3" name="Date Placeholder 2">
            <a:extLst>
              <a:ext uri="{FF2B5EF4-FFF2-40B4-BE49-F238E27FC236}">
                <a16:creationId xmlns:a16="http://schemas.microsoft.com/office/drawing/2014/main" id="{04F3D33C-89AE-5E66-71C8-9266BD18BFBD}"/>
              </a:ext>
            </a:extLst>
          </p:cNvPr>
          <p:cNvSpPr>
            <a:spLocks noGrp="1"/>
          </p:cNvSpPr>
          <p:nvPr>
            <p:ph type="dt" sz="half" idx="10"/>
          </p:nvPr>
        </p:nvSpPr>
        <p:spPr/>
        <p:txBody>
          <a:bodyPr/>
          <a:lstStyle/>
          <a:p>
            <a:fld id="{A74D696B-E50D-1641-9983-4062A12336F2}" type="datetime1">
              <a:rPr lang="en-US" noProof="0" smtClean="0"/>
              <a:t>2/23/26</a:t>
            </a:fld>
            <a:endParaRPr lang="en-GB" noProof="0"/>
          </a:p>
        </p:txBody>
      </p:sp>
      <p:sp>
        <p:nvSpPr>
          <p:cNvPr id="4" name="Slide Number Placeholder 3">
            <a:extLst>
              <a:ext uri="{FF2B5EF4-FFF2-40B4-BE49-F238E27FC236}">
                <a16:creationId xmlns:a16="http://schemas.microsoft.com/office/drawing/2014/main" id="{5BA6EF2A-8989-8BCF-2CC6-B95F3796CF67}"/>
              </a:ext>
            </a:extLst>
          </p:cNvPr>
          <p:cNvSpPr>
            <a:spLocks noGrp="1"/>
          </p:cNvSpPr>
          <p:nvPr>
            <p:ph type="sldNum" sz="quarter" idx="12"/>
          </p:nvPr>
        </p:nvSpPr>
        <p:spPr/>
        <p:txBody>
          <a:bodyPr/>
          <a:lstStyle/>
          <a:p>
            <a:fld id="{B716C8F4-20CD-364A-8A8E-DE130115B178}" type="slidenum">
              <a:rPr lang="en-GB" noProof="0" smtClean="0"/>
              <a:pPr/>
              <a:t>17</a:t>
            </a:fld>
            <a:endParaRPr lang="en-GB" noProof="0"/>
          </a:p>
        </p:txBody>
      </p:sp>
    </p:spTree>
    <p:extLst>
      <p:ext uri="{BB962C8B-B14F-4D97-AF65-F5344CB8AC3E}">
        <p14:creationId xmlns:p14="http://schemas.microsoft.com/office/powerpoint/2010/main" val="3904477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4F98D-24FE-D643-FB5B-CBC526D216C7}"/>
              </a:ext>
            </a:extLst>
          </p:cNvPr>
          <p:cNvSpPr>
            <a:spLocks noGrp="1"/>
          </p:cNvSpPr>
          <p:nvPr>
            <p:ph type="title"/>
          </p:nvPr>
        </p:nvSpPr>
        <p:spPr/>
        <p:txBody>
          <a:bodyPr/>
          <a:lstStyle/>
          <a:p>
            <a:r>
              <a:rPr lang="en-US" dirty="0"/>
              <a:t>Example</a:t>
            </a:r>
          </a:p>
        </p:txBody>
      </p:sp>
      <p:graphicFrame>
        <p:nvGraphicFramePr>
          <p:cNvPr id="5" name="Table 4">
            <a:extLst>
              <a:ext uri="{FF2B5EF4-FFF2-40B4-BE49-F238E27FC236}">
                <a16:creationId xmlns:a16="http://schemas.microsoft.com/office/drawing/2014/main" id="{47AFAAA8-18CE-1ABD-730D-AE2618B6CEC3}"/>
              </a:ext>
            </a:extLst>
          </p:cNvPr>
          <p:cNvGraphicFramePr>
            <a:graphicFrameLocks noGrp="1"/>
          </p:cNvGraphicFramePr>
          <p:nvPr>
            <p:extLst>
              <p:ext uri="{D42A27DB-BD31-4B8C-83A1-F6EECF244321}">
                <p14:modId xmlns:p14="http://schemas.microsoft.com/office/powerpoint/2010/main" val="3248460449"/>
              </p:ext>
            </p:extLst>
          </p:nvPr>
        </p:nvGraphicFramePr>
        <p:xfrm>
          <a:off x="1606944" y="2335907"/>
          <a:ext cx="2053864" cy="741680"/>
        </p:xfrm>
        <a:graphic>
          <a:graphicData uri="http://schemas.openxmlformats.org/drawingml/2006/table">
            <a:tbl>
              <a:tblPr firstRow="1" bandRow="1">
                <a:tableStyleId>{073A0DAA-6AF3-43AB-8588-CEC1D06C72B9}</a:tableStyleId>
              </a:tblPr>
              <a:tblGrid>
                <a:gridCol w="1026932">
                  <a:extLst>
                    <a:ext uri="{9D8B030D-6E8A-4147-A177-3AD203B41FA5}">
                      <a16:colId xmlns:a16="http://schemas.microsoft.com/office/drawing/2014/main" val="3626080941"/>
                    </a:ext>
                  </a:extLst>
                </a:gridCol>
                <a:gridCol w="1026932">
                  <a:extLst>
                    <a:ext uri="{9D8B030D-6E8A-4147-A177-3AD203B41FA5}">
                      <a16:colId xmlns:a16="http://schemas.microsoft.com/office/drawing/2014/main" val="3044332291"/>
                    </a:ext>
                  </a:extLst>
                </a:gridCol>
              </a:tblGrid>
              <a:tr h="370840">
                <a:tc>
                  <a:txBody>
                    <a:bodyPr/>
                    <a:lstStyle/>
                    <a:p>
                      <a:r>
                        <a:rPr lang="en-US" dirty="0"/>
                        <a:t>X1</a:t>
                      </a:r>
                    </a:p>
                  </a:txBody>
                  <a:tcPr/>
                </a:tc>
                <a:tc>
                  <a:txBody>
                    <a:bodyPr/>
                    <a:lstStyle/>
                    <a:p>
                      <a:r>
                        <a:rPr lang="en-US" dirty="0"/>
                        <a:t>X2</a:t>
                      </a:r>
                    </a:p>
                  </a:txBody>
                  <a:tcPr/>
                </a:tc>
                <a:extLst>
                  <a:ext uri="{0D108BD9-81ED-4DB2-BD59-A6C34878D82A}">
                    <a16:rowId xmlns:a16="http://schemas.microsoft.com/office/drawing/2014/main" val="627957712"/>
                  </a:ext>
                </a:extLst>
              </a:tr>
              <a:tr h="370840">
                <a:tc>
                  <a:txBody>
                    <a:bodyPr/>
                    <a:lstStyle/>
                    <a:p>
                      <a:r>
                        <a:rPr lang="en-US" dirty="0"/>
                        <a:t>0.5</a:t>
                      </a:r>
                    </a:p>
                  </a:txBody>
                  <a:tcPr/>
                </a:tc>
                <a:tc>
                  <a:txBody>
                    <a:bodyPr/>
                    <a:lstStyle/>
                    <a:p>
                      <a:r>
                        <a:rPr lang="en-US" dirty="0"/>
                        <a:t>0.8</a:t>
                      </a:r>
                    </a:p>
                  </a:txBody>
                  <a:tcPr/>
                </a:tc>
                <a:extLst>
                  <a:ext uri="{0D108BD9-81ED-4DB2-BD59-A6C34878D82A}">
                    <a16:rowId xmlns:a16="http://schemas.microsoft.com/office/drawing/2014/main" val="2231705798"/>
                  </a:ext>
                </a:extLst>
              </a:tr>
            </a:tbl>
          </a:graphicData>
        </a:graphic>
      </p:graphicFrame>
      <p:graphicFrame>
        <p:nvGraphicFramePr>
          <p:cNvPr id="9" name="Table 8">
            <a:extLst>
              <a:ext uri="{FF2B5EF4-FFF2-40B4-BE49-F238E27FC236}">
                <a16:creationId xmlns:a16="http://schemas.microsoft.com/office/drawing/2014/main" id="{72D3091B-2C42-0922-81E6-59A00F0A4829}"/>
              </a:ext>
            </a:extLst>
          </p:cNvPr>
          <p:cNvGraphicFramePr>
            <a:graphicFrameLocks noGrp="1"/>
          </p:cNvGraphicFramePr>
          <p:nvPr>
            <p:extLst>
              <p:ext uri="{D42A27DB-BD31-4B8C-83A1-F6EECF244321}">
                <p14:modId xmlns:p14="http://schemas.microsoft.com/office/powerpoint/2010/main" val="2613041554"/>
              </p:ext>
            </p:extLst>
          </p:nvPr>
        </p:nvGraphicFramePr>
        <p:xfrm>
          <a:off x="359016" y="3159501"/>
          <a:ext cx="1021905" cy="1112520"/>
        </p:xfrm>
        <a:graphic>
          <a:graphicData uri="http://schemas.openxmlformats.org/drawingml/2006/table">
            <a:tbl>
              <a:tblPr>
                <a:tableStyleId>{5C22544A-7EE6-4342-B048-85BDC9FD1C3A}</a:tableStyleId>
              </a:tblPr>
              <a:tblGrid>
                <a:gridCol w="524193">
                  <a:extLst>
                    <a:ext uri="{9D8B030D-6E8A-4147-A177-3AD203B41FA5}">
                      <a16:colId xmlns:a16="http://schemas.microsoft.com/office/drawing/2014/main" val="2223245966"/>
                    </a:ext>
                  </a:extLst>
                </a:gridCol>
                <a:gridCol w="497712">
                  <a:extLst>
                    <a:ext uri="{9D8B030D-6E8A-4147-A177-3AD203B41FA5}">
                      <a16:colId xmlns:a16="http://schemas.microsoft.com/office/drawing/2014/main" val="2673777553"/>
                    </a:ext>
                  </a:extLst>
                </a:gridCol>
              </a:tblGrid>
              <a:tr h="370840">
                <a:tc>
                  <a:txBody>
                    <a:bodyPr/>
                    <a:lstStyle/>
                    <a:p>
                      <a:r>
                        <a:rPr lang="en-US" dirty="0"/>
                        <a:t>0.2</a:t>
                      </a:r>
                    </a:p>
                  </a:txBody>
                  <a:tcPr>
                    <a:lnT w="12700" cmpd="sng">
                      <a:noFill/>
                    </a:lnT>
                  </a:tcPr>
                </a:tc>
                <a:tc>
                  <a:txBody>
                    <a:bodyPr/>
                    <a:lstStyle/>
                    <a:p>
                      <a:r>
                        <a:rPr lang="en-US" dirty="0"/>
                        <a:t>0.4</a:t>
                      </a:r>
                    </a:p>
                  </a:txBody>
                  <a:tcPr>
                    <a:lnT w="12700" cmpd="sng">
                      <a:noFill/>
                    </a:lnT>
                  </a:tcPr>
                </a:tc>
                <a:extLst>
                  <a:ext uri="{0D108BD9-81ED-4DB2-BD59-A6C34878D82A}">
                    <a16:rowId xmlns:a16="http://schemas.microsoft.com/office/drawing/2014/main" val="221697349"/>
                  </a:ext>
                </a:extLst>
              </a:tr>
              <a:tr h="370840">
                <a:tc>
                  <a:txBody>
                    <a:bodyPr/>
                    <a:lstStyle/>
                    <a:p>
                      <a:r>
                        <a:rPr lang="en-US" dirty="0"/>
                        <a:t>0.6</a:t>
                      </a:r>
                    </a:p>
                  </a:txBody>
                  <a:tcPr/>
                </a:tc>
                <a:tc>
                  <a:txBody>
                    <a:bodyPr/>
                    <a:lstStyle/>
                    <a:p>
                      <a:r>
                        <a:rPr lang="en-US" dirty="0"/>
                        <a:t>0.9</a:t>
                      </a:r>
                    </a:p>
                  </a:txBody>
                  <a:tcPr/>
                </a:tc>
                <a:extLst>
                  <a:ext uri="{0D108BD9-81ED-4DB2-BD59-A6C34878D82A}">
                    <a16:rowId xmlns:a16="http://schemas.microsoft.com/office/drawing/2014/main" val="2794600791"/>
                  </a:ext>
                </a:extLst>
              </a:tr>
              <a:tr h="370840">
                <a:tc>
                  <a:txBody>
                    <a:bodyPr/>
                    <a:lstStyle/>
                    <a:p>
                      <a:r>
                        <a:rPr lang="en-US" dirty="0"/>
                        <a:t>0.3</a:t>
                      </a:r>
                    </a:p>
                  </a:txBody>
                  <a:tcPr/>
                </a:tc>
                <a:tc>
                  <a:txBody>
                    <a:bodyPr/>
                    <a:lstStyle/>
                    <a:p>
                      <a:r>
                        <a:rPr lang="en-US" dirty="0"/>
                        <a:t>0.5</a:t>
                      </a:r>
                    </a:p>
                  </a:txBody>
                  <a:tcPr/>
                </a:tc>
                <a:extLst>
                  <a:ext uri="{0D108BD9-81ED-4DB2-BD59-A6C34878D82A}">
                    <a16:rowId xmlns:a16="http://schemas.microsoft.com/office/drawing/2014/main" val="1128472907"/>
                  </a:ext>
                </a:extLst>
              </a:tr>
            </a:tbl>
          </a:graphicData>
        </a:graphic>
      </p:graphicFrame>
      <p:graphicFrame>
        <p:nvGraphicFramePr>
          <p:cNvPr id="10" name="Table 9">
            <a:extLst>
              <a:ext uri="{FF2B5EF4-FFF2-40B4-BE49-F238E27FC236}">
                <a16:creationId xmlns:a16="http://schemas.microsoft.com/office/drawing/2014/main" id="{F9E9389C-9EB4-7C0F-EC43-4881228E4DAE}"/>
              </a:ext>
            </a:extLst>
          </p:cNvPr>
          <p:cNvGraphicFramePr>
            <a:graphicFrameLocks noGrp="1"/>
          </p:cNvGraphicFramePr>
          <p:nvPr>
            <p:extLst>
              <p:ext uri="{D42A27DB-BD31-4B8C-83A1-F6EECF244321}">
                <p14:modId xmlns:p14="http://schemas.microsoft.com/office/powerpoint/2010/main" val="1428893853"/>
              </p:ext>
            </p:extLst>
          </p:nvPr>
        </p:nvGraphicFramePr>
        <p:xfrm>
          <a:off x="3760801" y="5441269"/>
          <a:ext cx="780648" cy="1112520"/>
        </p:xfrm>
        <a:graphic>
          <a:graphicData uri="http://schemas.openxmlformats.org/drawingml/2006/table">
            <a:tbl>
              <a:tblPr firstRow="1" bandRow="1">
                <a:tableStyleId>{69CF1AB2-1976-4502-BF36-3FF5EA218861}</a:tableStyleId>
              </a:tblPr>
              <a:tblGrid>
                <a:gridCol w="780648">
                  <a:extLst>
                    <a:ext uri="{9D8B030D-6E8A-4147-A177-3AD203B41FA5}">
                      <a16:colId xmlns:a16="http://schemas.microsoft.com/office/drawing/2014/main" val="1020688925"/>
                    </a:ext>
                  </a:extLst>
                </a:gridCol>
              </a:tblGrid>
              <a:tr h="370840">
                <a:tc>
                  <a:txBody>
                    <a:bodyPr/>
                    <a:lstStyle/>
                    <a:p>
                      <a:pPr algn="ctr"/>
                      <a:r>
                        <a:rPr lang="en-US" dirty="0"/>
                        <a:t>Bias</a:t>
                      </a:r>
                    </a:p>
                  </a:txBody>
                  <a:tcPr/>
                </a:tc>
                <a:extLst>
                  <a:ext uri="{0D108BD9-81ED-4DB2-BD59-A6C34878D82A}">
                    <a16:rowId xmlns:a16="http://schemas.microsoft.com/office/drawing/2014/main" val="2645738857"/>
                  </a:ext>
                </a:extLst>
              </a:tr>
              <a:tr h="370840">
                <a:tc>
                  <a:txBody>
                    <a:bodyPr/>
                    <a:lstStyle/>
                    <a:p>
                      <a:r>
                        <a:rPr lang="en-US" dirty="0"/>
                        <a:t>0.2</a:t>
                      </a:r>
                    </a:p>
                  </a:txBody>
                  <a:tcPr/>
                </a:tc>
                <a:extLst>
                  <a:ext uri="{0D108BD9-81ED-4DB2-BD59-A6C34878D82A}">
                    <a16:rowId xmlns:a16="http://schemas.microsoft.com/office/drawing/2014/main" val="3490234227"/>
                  </a:ext>
                </a:extLst>
              </a:tr>
              <a:tr h="370840">
                <a:tc>
                  <a:txBody>
                    <a:bodyPr/>
                    <a:lstStyle/>
                    <a:p>
                      <a:r>
                        <a:rPr lang="en-US" dirty="0"/>
                        <a:t>0.1</a:t>
                      </a:r>
                    </a:p>
                  </a:txBody>
                  <a:tcPr/>
                </a:tc>
                <a:extLst>
                  <a:ext uri="{0D108BD9-81ED-4DB2-BD59-A6C34878D82A}">
                    <a16:rowId xmlns:a16="http://schemas.microsoft.com/office/drawing/2014/main" val="3708431546"/>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AC99A4F-D52B-ADEC-148F-4794012AEC5B}"/>
                  </a:ext>
                </a:extLst>
              </p:cNvPr>
              <p:cNvSpPr txBox="1"/>
              <p:nvPr/>
            </p:nvSpPr>
            <p:spPr>
              <a:xfrm>
                <a:off x="3708707" y="3439644"/>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m:t>
                      </m:r>
                    </m:oMath>
                  </m:oMathPara>
                </a14:m>
                <a:endParaRPr lang="en-US" dirty="0"/>
              </a:p>
            </p:txBody>
          </p:sp>
        </mc:Choice>
        <mc:Fallback xmlns="">
          <p:sp>
            <p:nvSpPr>
              <p:cNvPr id="12" name="TextBox 11">
                <a:extLst>
                  <a:ext uri="{FF2B5EF4-FFF2-40B4-BE49-F238E27FC236}">
                    <a16:creationId xmlns:a16="http://schemas.microsoft.com/office/drawing/2014/main" id="{6AC99A4F-D52B-ADEC-148F-4794012AEC5B}"/>
                  </a:ext>
                </a:extLst>
              </p:cNvPr>
              <p:cNvSpPr txBox="1">
                <a:spLocks noRot="1" noChangeAspect="1" noMove="1" noResize="1" noEditPoints="1" noAdjustHandles="1" noChangeArrowheads="1" noChangeShapeType="1" noTextEdit="1"/>
              </p:cNvSpPr>
              <p:nvPr/>
            </p:nvSpPr>
            <p:spPr>
              <a:xfrm>
                <a:off x="3708707" y="3439644"/>
                <a:ext cx="226024" cy="276999"/>
              </a:xfrm>
              <a:prstGeom prst="rect">
                <a:avLst/>
              </a:prstGeom>
              <a:blipFill>
                <a:blip r:embed="rId2"/>
                <a:stretch>
                  <a:fillRect l="-15789" r="-21053"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650D046-63B2-82FA-DB63-CA3FF7AA3BAA}"/>
                  </a:ext>
                </a:extLst>
              </p:cNvPr>
              <p:cNvSpPr txBox="1"/>
              <p:nvPr/>
            </p:nvSpPr>
            <p:spPr>
              <a:xfrm>
                <a:off x="4910552" y="3476951"/>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m:t>
                      </m:r>
                    </m:oMath>
                  </m:oMathPara>
                </a14:m>
                <a:endParaRPr lang="en-US" dirty="0"/>
              </a:p>
            </p:txBody>
          </p:sp>
        </mc:Choice>
        <mc:Fallback xmlns="">
          <p:sp>
            <p:nvSpPr>
              <p:cNvPr id="13" name="TextBox 12">
                <a:extLst>
                  <a:ext uri="{FF2B5EF4-FFF2-40B4-BE49-F238E27FC236}">
                    <a16:creationId xmlns:a16="http://schemas.microsoft.com/office/drawing/2014/main" id="{F650D046-63B2-82FA-DB63-CA3FF7AA3BAA}"/>
                  </a:ext>
                </a:extLst>
              </p:cNvPr>
              <p:cNvSpPr txBox="1">
                <a:spLocks noRot="1" noChangeAspect="1" noMove="1" noResize="1" noEditPoints="1" noAdjustHandles="1" noChangeArrowheads="1" noChangeShapeType="1" noTextEdit="1"/>
              </p:cNvSpPr>
              <p:nvPr/>
            </p:nvSpPr>
            <p:spPr>
              <a:xfrm>
                <a:off x="4910552" y="3476951"/>
                <a:ext cx="226024" cy="276999"/>
              </a:xfrm>
              <a:prstGeom prst="rect">
                <a:avLst/>
              </a:prstGeom>
              <a:blipFill>
                <a:blip r:embed="rId3"/>
                <a:stretch>
                  <a:fillRect l="-10526" r="-10526"/>
                </a:stretch>
              </a:blipFill>
            </p:spPr>
            <p:txBody>
              <a:bodyPr/>
              <a:lstStyle/>
              <a:p>
                <a:r>
                  <a:rPr lang="en-US">
                    <a:noFill/>
                  </a:rPr>
                  <a:t> </a:t>
                </a:r>
              </a:p>
            </p:txBody>
          </p:sp>
        </mc:Fallback>
      </mc:AlternateContent>
      <p:graphicFrame>
        <p:nvGraphicFramePr>
          <p:cNvPr id="16" name="Table 15">
            <a:extLst>
              <a:ext uri="{FF2B5EF4-FFF2-40B4-BE49-F238E27FC236}">
                <a16:creationId xmlns:a16="http://schemas.microsoft.com/office/drawing/2014/main" id="{9C2D3583-4BE0-05F1-F428-B7FC62A9738B}"/>
              </a:ext>
            </a:extLst>
          </p:cNvPr>
          <p:cNvGraphicFramePr>
            <a:graphicFrameLocks noGrp="1"/>
          </p:cNvGraphicFramePr>
          <p:nvPr>
            <p:extLst>
              <p:ext uri="{D42A27DB-BD31-4B8C-83A1-F6EECF244321}">
                <p14:modId xmlns:p14="http://schemas.microsoft.com/office/powerpoint/2010/main" val="1756614845"/>
              </p:ext>
            </p:extLst>
          </p:nvPr>
        </p:nvGraphicFramePr>
        <p:xfrm>
          <a:off x="1606945" y="3153043"/>
          <a:ext cx="2053863" cy="1112520"/>
        </p:xfrm>
        <a:graphic>
          <a:graphicData uri="http://schemas.openxmlformats.org/drawingml/2006/table">
            <a:tbl>
              <a:tblPr firstRow="1" bandRow="1">
                <a:tableStyleId>{69CF1AB2-1976-4502-BF36-3FF5EA218861}</a:tableStyleId>
              </a:tblPr>
              <a:tblGrid>
                <a:gridCol w="2053863">
                  <a:extLst>
                    <a:ext uri="{9D8B030D-6E8A-4147-A177-3AD203B41FA5}">
                      <a16:colId xmlns:a16="http://schemas.microsoft.com/office/drawing/2014/main" val="102068892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0.2 x 0.5 + 0.4 x 0.8</a:t>
                      </a:r>
                    </a:p>
                  </a:txBody>
                  <a:tcPr/>
                </a:tc>
                <a:extLst>
                  <a:ext uri="{0D108BD9-81ED-4DB2-BD59-A6C34878D82A}">
                    <a16:rowId xmlns:a16="http://schemas.microsoft.com/office/drawing/2014/main" val="349023422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0.6 x 0.5 + 0.9 x 0.8</a:t>
                      </a:r>
                    </a:p>
                  </a:txBody>
                  <a:tcPr/>
                </a:tc>
                <a:extLst>
                  <a:ext uri="{0D108BD9-81ED-4DB2-BD59-A6C34878D82A}">
                    <a16:rowId xmlns:a16="http://schemas.microsoft.com/office/drawing/2014/main" val="37084315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0.2 x 0.5 + 0.5 x 0.8</a:t>
                      </a:r>
                    </a:p>
                  </a:txBody>
                  <a:tcPr/>
                </a:tc>
                <a:extLst>
                  <a:ext uri="{0D108BD9-81ED-4DB2-BD59-A6C34878D82A}">
                    <a16:rowId xmlns:a16="http://schemas.microsoft.com/office/drawing/2014/main" val="154436168"/>
                  </a:ext>
                </a:extLst>
              </a:tr>
            </a:tbl>
          </a:graphicData>
        </a:graphic>
      </p:graphicFrame>
      <p:graphicFrame>
        <p:nvGraphicFramePr>
          <p:cNvPr id="17" name="Table 16">
            <a:extLst>
              <a:ext uri="{FF2B5EF4-FFF2-40B4-BE49-F238E27FC236}">
                <a16:creationId xmlns:a16="http://schemas.microsoft.com/office/drawing/2014/main" id="{B08F03EF-7C7E-E03E-69E9-4A57622AC163}"/>
              </a:ext>
            </a:extLst>
          </p:cNvPr>
          <p:cNvGraphicFramePr>
            <a:graphicFrameLocks noGrp="1"/>
          </p:cNvGraphicFramePr>
          <p:nvPr>
            <p:extLst>
              <p:ext uri="{D42A27DB-BD31-4B8C-83A1-F6EECF244321}">
                <p14:modId xmlns:p14="http://schemas.microsoft.com/office/powerpoint/2010/main" val="2994128792"/>
              </p:ext>
            </p:extLst>
          </p:nvPr>
        </p:nvGraphicFramePr>
        <p:xfrm>
          <a:off x="5799157" y="3142376"/>
          <a:ext cx="605929" cy="1112520"/>
        </p:xfrm>
        <a:graphic>
          <a:graphicData uri="http://schemas.openxmlformats.org/drawingml/2006/table">
            <a:tbl>
              <a:tblPr firstRow="1" bandRow="1">
                <a:tableStyleId>{69CF1AB2-1976-4502-BF36-3FF5EA218861}</a:tableStyleId>
              </a:tblPr>
              <a:tblGrid>
                <a:gridCol w="605929">
                  <a:extLst>
                    <a:ext uri="{9D8B030D-6E8A-4147-A177-3AD203B41FA5}">
                      <a16:colId xmlns:a16="http://schemas.microsoft.com/office/drawing/2014/main" val="1020688925"/>
                    </a:ext>
                  </a:extLst>
                </a:gridCol>
              </a:tblGrid>
              <a:tr h="370840">
                <a:tc>
                  <a:txBody>
                    <a:bodyPr/>
                    <a:lstStyle/>
                    <a:p>
                      <a:r>
                        <a:rPr lang="en-US" dirty="0"/>
                        <a:t>0.52</a:t>
                      </a:r>
                    </a:p>
                  </a:txBody>
                  <a:tcPr/>
                </a:tc>
                <a:extLst>
                  <a:ext uri="{0D108BD9-81ED-4DB2-BD59-A6C34878D82A}">
                    <a16:rowId xmlns:a16="http://schemas.microsoft.com/office/drawing/2014/main" val="3490234227"/>
                  </a:ext>
                </a:extLst>
              </a:tr>
              <a:tr h="370840">
                <a:tc>
                  <a:txBody>
                    <a:bodyPr/>
                    <a:lstStyle/>
                    <a:p>
                      <a:r>
                        <a:rPr lang="en-US" dirty="0"/>
                        <a:t>1.22</a:t>
                      </a:r>
                    </a:p>
                  </a:txBody>
                  <a:tcPr/>
                </a:tc>
                <a:extLst>
                  <a:ext uri="{0D108BD9-81ED-4DB2-BD59-A6C34878D82A}">
                    <a16:rowId xmlns:a16="http://schemas.microsoft.com/office/drawing/2014/main" val="3708431546"/>
                  </a:ext>
                </a:extLst>
              </a:tr>
              <a:tr h="370840">
                <a:tc>
                  <a:txBody>
                    <a:bodyPr/>
                    <a:lstStyle/>
                    <a:p>
                      <a:r>
                        <a:rPr lang="en-US" dirty="0"/>
                        <a:t>0.85</a:t>
                      </a:r>
                    </a:p>
                  </a:txBody>
                  <a:tcPr/>
                </a:tc>
                <a:extLst>
                  <a:ext uri="{0D108BD9-81ED-4DB2-BD59-A6C34878D82A}">
                    <a16:rowId xmlns:a16="http://schemas.microsoft.com/office/drawing/2014/main" val="154436168"/>
                  </a:ext>
                </a:extLst>
              </a:tr>
            </a:tbl>
          </a:graphicData>
        </a:graphic>
      </p:graphicFrame>
      <p:cxnSp>
        <p:nvCxnSpPr>
          <p:cNvPr id="19" name="Straight Arrow Connector 18">
            <a:extLst>
              <a:ext uri="{FF2B5EF4-FFF2-40B4-BE49-F238E27FC236}">
                <a16:creationId xmlns:a16="http://schemas.microsoft.com/office/drawing/2014/main" id="{CE86D27D-0CC1-CC11-15EC-6FBBFFE3E8BB}"/>
              </a:ext>
            </a:extLst>
          </p:cNvPr>
          <p:cNvCxnSpPr>
            <a:cxnSpLocks/>
          </p:cNvCxnSpPr>
          <p:nvPr/>
        </p:nvCxnSpPr>
        <p:spPr>
          <a:xfrm>
            <a:off x="6530959" y="3733641"/>
            <a:ext cx="59941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AFCDA06D-1734-707E-9ED1-641C87D5E899}"/>
              </a:ext>
            </a:extLst>
          </p:cNvPr>
          <p:cNvSpPr txBox="1"/>
          <p:nvPr/>
        </p:nvSpPr>
        <p:spPr>
          <a:xfrm>
            <a:off x="6468978" y="3271348"/>
            <a:ext cx="661400" cy="369332"/>
          </a:xfrm>
          <a:prstGeom prst="rect">
            <a:avLst/>
          </a:prstGeom>
          <a:noFill/>
        </p:spPr>
        <p:txBody>
          <a:bodyPr wrap="none" rtlCol="0">
            <a:spAutoFit/>
          </a:bodyPr>
          <a:lstStyle/>
          <a:p>
            <a:r>
              <a:rPr lang="en-US" dirty="0" err="1"/>
              <a:t>ReLU</a:t>
            </a:r>
            <a:endParaRPr lang="en-US" dirty="0"/>
          </a:p>
        </p:txBody>
      </p:sp>
      <mc:AlternateContent xmlns:mc="http://schemas.openxmlformats.org/markup-compatibility/2006" xmlns:a14="http://schemas.microsoft.com/office/drawing/2010/main">
        <mc:Choice Requires="a14">
          <p:graphicFrame>
            <p:nvGraphicFramePr>
              <p:cNvPr id="22" name="Table 21">
                <a:extLst>
                  <a:ext uri="{FF2B5EF4-FFF2-40B4-BE49-F238E27FC236}">
                    <a16:creationId xmlns:a16="http://schemas.microsoft.com/office/drawing/2014/main" id="{994CAFEC-1F80-81FE-2656-9AC4082EE83F}"/>
                  </a:ext>
                </a:extLst>
              </p:cNvPr>
              <p:cNvGraphicFramePr>
                <a:graphicFrameLocks noGrp="1"/>
              </p:cNvGraphicFramePr>
              <p:nvPr>
                <p:extLst>
                  <p:ext uri="{D42A27DB-BD31-4B8C-83A1-F6EECF244321}">
                    <p14:modId xmlns:p14="http://schemas.microsoft.com/office/powerpoint/2010/main" val="4096913541"/>
                  </p:ext>
                </p:extLst>
              </p:nvPr>
            </p:nvGraphicFramePr>
            <p:xfrm>
              <a:off x="7529469" y="3161360"/>
              <a:ext cx="2755294" cy="1112520"/>
            </p:xfrm>
            <a:graphic>
              <a:graphicData uri="http://schemas.openxmlformats.org/drawingml/2006/table">
                <a:tbl>
                  <a:tblPr firstRow="1" bandRow="1">
                    <a:tableStyleId>{69CF1AB2-1976-4502-BF36-3FF5EA218861}</a:tableStyleId>
                  </a:tblPr>
                  <a:tblGrid>
                    <a:gridCol w="2755294">
                      <a:extLst>
                        <a:ext uri="{9D8B030D-6E8A-4147-A177-3AD203B41FA5}">
                          <a16:colId xmlns:a16="http://schemas.microsoft.com/office/drawing/2014/main" val="1020688925"/>
                        </a:ext>
                      </a:extLst>
                    </a:gridCol>
                  </a:tblGrid>
                  <a:tr h="370840">
                    <a:tc>
                      <a:txBody>
                        <a:bodyPr/>
                        <a:lstStyle/>
                        <a:p>
                          <a14:m>
                            <m:oMath xmlns:m="http://schemas.openxmlformats.org/officeDocument/2006/math">
                              <m:sSub>
                                <m:sSubPr>
                                  <m:ctrlPr>
                                    <a:rPr lang="en-US" b="0" i="1" dirty="0" smtClean="0">
                                      <a:latin typeface="Cambria Math" panose="02040503050406030204" pitchFamily="18" charset="0"/>
                                    </a:rPr>
                                  </m:ctrlPr>
                                </m:sSubPr>
                                <m:e>
                                  <m:r>
                                    <a:rPr lang="sv-SE" b="0" i="1" dirty="0" smtClean="0">
                                      <a:latin typeface="Cambria Math" panose="02040503050406030204" pitchFamily="18" charset="0"/>
                                    </a:rPr>
                                    <m:t>h</m:t>
                                  </m:r>
                                </m:e>
                                <m:sub>
                                  <m:r>
                                    <a:rPr lang="en-US" b="0" i="1" dirty="0" smtClean="0">
                                      <a:latin typeface="Cambria Math" panose="02040503050406030204" pitchFamily="18" charset="0"/>
                                    </a:rPr>
                                    <m:t>1</m:t>
                                  </m:r>
                                </m:sub>
                              </m:sSub>
                            </m:oMath>
                          </a14:m>
                          <a:r>
                            <a:rPr lang="en-US" b="0" dirty="0"/>
                            <a:t> = max(0,0.52) = 0.52</a:t>
                          </a:r>
                        </a:p>
                      </a:txBody>
                      <a:tcPr/>
                    </a:tc>
                    <a:extLst>
                      <a:ext uri="{0D108BD9-81ED-4DB2-BD59-A6C34878D82A}">
                        <a16:rowId xmlns:a16="http://schemas.microsoft.com/office/drawing/2014/main" val="3490234227"/>
                      </a:ext>
                    </a:extLst>
                  </a:tr>
                  <a:tr h="370840">
                    <a:tc>
                      <a:txBody>
                        <a:bodyPr/>
                        <a:lstStyle/>
                        <a:p>
                          <a14:m>
                            <m:oMath xmlns:m="http://schemas.openxmlformats.org/officeDocument/2006/math">
                              <m:sSub>
                                <m:sSubPr>
                                  <m:ctrlPr>
                                    <a:rPr lang="en-US" b="0" i="1" dirty="0" smtClean="0">
                                      <a:latin typeface="Cambria Math" panose="02040503050406030204" pitchFamily="18" charset="0"/>
                                    </a:rPr>
                                  </m:ctrlPr>
                                </m:sSubPr>
                                <m:e>
                                  <m:r>
                                    <a:rPr lang="sv-SE" b="0" i="1" dirty="0" smtClean="0">
                                      <a:latin typeface="Cambria Math" panose="02040503050406030204" pitchFamily="18" charset="0"/>
                                    </a:rPr>
                                    <m:t>h</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 </m:t>
                              </m:r>
                            </m:oMath>
                          </a14:m>
                          <a:r>
                            <a:rPr lang="en-US" b="0" dirty="0"/>
                            <a:t>= max(0,1.22) = 1.22</a:t>
                          </a:r>
                        </a:p>
                      </a:txBody>
                      <a:tcPr/>
                    </a:tc>
                    <a:extLst>
                      <a:ext uri="{0D108BD9-81ED-4DB2-BD59-A6C34878D82A}">
                        <a16:rowId xmlns:a16="http://schemas.microsoft.com/office/drawing/2014/main" val="3708431546"/>
                      </a:ext>
                    </a:extLst>
                  </a:tr>
                  <a:tr h="370840">
                    <a:tc>
                      <a:txBody>
                        <a:bodyPr/>
                        <a:lstStyle/>
                        <a:p>
                          <a14:m>
                            <m:oMath xmlns:m="http://schemas.openxmlformats.org/officeDocument/2006/math">
                              <m:sSub>
                                <m:sSubPr>
                                  <m:ctrlPr>
                                    <a:rPr lang="en-US" b="0" i="1" dirty="0" smtClean="0">
                                      <a:latin typeface="Cambria Math" panose="02040503050406030204" pitchFamily="18" charset="0"/>
                                    </a:rPr>
                                  </m:ctrlPr>
                                </m:sSubPr>
                                <m:e>
                                  <m:r>
                                    <a:rPr lang="sv-SE" b="0" i="1" dirty="0" smtClean="0">
                                      <a:latin typeface="Cambria Math" panose="02040503050406030204" pitchFamily="18" charset="0"/>
                                    </a:rPr>
                                    <m:t>h</m:t>
                                  </m:r>
                                </m:e>
                                <m:sub>
                                  <m:r>
                                    <a:rPr lang="en-US" b="0" i="1" dirty="0" smtClean="0">
                                      <a:latin typeface="Cambria Math" panose="02040503050406030204" pitchFamily="18" charset="0"/>
                                    </a:rPr>
                                    <m:t>3</m:t>
                                  </m:r>
                                </m:sub>
                              </m:sSub>
                              <m:r>
                                <a:rPr lang="en-US" b="0" i="1" dirty="0" smtClean="0">
                                  <a:latin typeface="Cambria Math" panose="02040503050406030204" pitchFamily="18" charset="0"/>
                                </a:rPr>
                                <m:t> </m:t>
                              </m:r>
                            </m:oMath>
                          </a14:m>
                          <a:r>
                            <a:rPr lang="en-US" b="0" dirty="0"/>
                            <a:t>= max(0,0.85) = 0.85</a:t>
                          </a:r>
                        </a:p>
                      </a:txBody>
                      <a:tcPr/>
                    </a:tc>
                    <a:extLst>
                      <a:ext uri="{0D108BD9-81ED-4DB2-BD59-A6C34878D82A}">
                        <a16:rowId xmlns:a16="http://schemas.microsoft.com/office/drawing/2014/main" val="154436168"/>
                      </a:ext>
                    </a:extLst>
                  </a:tr>
                </a:tbl>
              </a:graphicData>
            </a:graphic>
          </p:graphicFrame>
        </mc:Choice>
        <mc:Fallback xmlns="">
          <p:graphicFrame>
            <p:nvGraphicFramePr>
              <p:cNvPr id="22" name="Table 21">
                <a:extLst>
                  <a:ext uri="{FF2B5EF4-FFF2-40B4-BE49-F238E27FC236}">
                    <a16:creationId xmlns:a16="http://schemas.microsoft.com/office/drawing/2014/main" id="{994CAFEC-1F80-81FE-2656-9AC4082EE83F}"/>
                  </a:ext>
                </a:extLst>
              </p:cNvPr>
              <p:cNvGraphicFramePr>
                <a:graphicFrameLocks noGrp="1"/>
              </p:cNvGraphicFramePr>
              <p:nvPr>
                <p:extLst>
                  <p:ext uri="{D42A27DB-BD31-4B8C-83A1-F6EECF244321}">
                    <p14:modId xmlns:p14="http://schemas.microsoft.com/office/powerpoint/2010/main" val="4096913541"/>
                  </p:ext>
                </p:extLst>
              </p:nvPr>
            </p:nvGraphicFramePr>
            <p:xfrm>
              <a:off x="7529469" y="3161360"/>
              <a:ext cx="2755294" cy="1112520"/>
            </p:xfrm>
            <a:graphic>
              <a:graphicData uri="http://schemas.openxmlformats.org/drawingml/2006/table">
                <a:tbl>
                  <a:tblPr firstRow="1" bandRow="1">
                    <a:tableStyleId>{69CF1AB2-1976-4502-BF36-3FF5EA218861}</a:tableStyleId>
                  </a:tblPr>
                  <a:tblGrid>
                    <a:gridCol w="2755294">
                      <a:extLst>
                        <a:ext uri="{9D8B030D-6E8A-4147-A177-3AD203B41FA5}">
                          <a16:colId xmlns:a16="http://schemas.microsoft.com/office/drawing/2014/main" val="1020688925"/>
                        </a:ext>
                      </a:extLst>
                    </a:gridCol>
                  </a:tblGrid>
                  <a:tr h="370840">
                    <a:tc>
                      <a:txBody>
                        <a:bodyPr/>
                        <a:lstStyle/>
                        <a:p>
                          <a:endParaRPr lang="en-US"/>
                        </a:p>
                      </a:txBody>
                      <a:tcPr>
                        <a:blipFill>
                          <a:blip r:embed="rId4"/>
                          <a:stretch>
                            <a:fillRect t="-6667" r="-917" b="-223333"/>
                          </a:stretch>
                        </a:blipFill>
                      </a:tcPr>
                    </a:tc>
                    <a:extLst>
                      <a:ext uri="{0D108BD9-81ED-4DB2-BD59-A6C34878D82A}">
                        <a16:rowId xmlns:a16="http://schemas.microsoft.com/office/drawing/2014/main" val="3490234227"/>
                      </a:ext>
                    </a:extLst>
                  </a:tr>
                  <a:tr h="370840">
                    <a:tc>
                      <a:txBody>
                        <a:bodyPr/>
                        <a:lstStyle/>
                        <a:p>
                          <a:endParaRPr lang="en-US"/>
                        </a:p>
                      </a:txBody>
                      <a:tcPr>
                        <a:blipFill>
                          <a:blip r:embed="rId4"/>
                          <a:stretch>
                            <a:fillRect t="-110345" r="-917" b="-131034"/>
                          </a:stretch>
                        </a:blipFill>
                      </a:tcPr>
                    </a:tc>
                    <a:extLst>
                      <a:ext uri="{0D108BD9-81ED-4DB2-BD59-A6C34878D82A}">
                        <a16:rowId xmlns:a16="http://schemas.microsoft.com/office/drawing/2014/main" val="3708431546"/>
                      </a:ext>
                    </a:extLst>
                  </a:tr>
                  <a:tr h="370840">
                    <a:tc>
                      <a:txBody>
                        <a:bodyPr/>
                        <a:lstStyle/>
                        <a:p>
                          <a:endParaRPr lang="en-US"/>
                        </a:p>
                      </a:txBody>
                      <a:tcPr>
                        <a:blipFill>
                          <a:blip r:embed="rId4"/>
                          <a:stretch>
                            <a:fillRect t="-203333" r="-917" b="-26667"/>
                          </a:stretch>
                        </a:blipFill>
                      </a:tcPr>
                    </a:tc>
                    <a:extLst>
                      <a:ext uri="{0D108BD9-81ED-4DB2-BD59-A6C34878D82A}">
                        <a16:rowId xmlns:a16="http://schemas.microsoft.com/office/drawing/2014/main" val="154436168"/>
                      </a:ext>
                    </a:extLst>
                  </a:tr>
                </a:tbl>
              </a:graphicData>
            </a:graphic>
          </p:graphicFrame>
        </mc:Fallback>
      </mc:AlternateContent>
      <p:sp>
        <p:nvSpPr>
          <p:cNvPr id="24" name="TextBox 23">
            <a:extLst>
              <a:ext uri="{FF2B5EF4-FFF2-40B4-BE49-F238E27FC236}">
                <a16:creationId xmlns:a16="http://schemas.microsoft.com/office/drawing/2014/main" id="{3BCD3F92-E1C1-6164-AB0C-47E3DE52ED23}"/>
              </a:ext>
            </a:extLst>
          </p:cNvPr>
          <p:cNvSpPr txBox="1"/>
          <p:nvPr/>
        </p:nvSpPr>
        <p:spPr>
          <a:xfrm>
            <a:off x="755858" y="4548455"/>
            <a:ext cx="3318432" cy="369332"/>
          </a:xfrm>
          <a:prstGeom prst="rect">
            <a:avLst/>
          </a:prstGeom>
          <a:noFill/>
        </p:spPr>
        <p:txBody>
          <a:bodyPr wrap="square" rtlCol="0">
            <a:spAutoFit/>
          </a:bodyPr>
          <a:lstStyle/>
          <a:p>
            <a:r>
              <a:rPr lang="en-US" dirty="0"/>
              <a:t>Compute  Second  Hidden  Layer</a:t>
            </a:r>
          </a:p>
        </p:txBody>
      </p:sp>
      <p:sp>
        <p:nvSpPr>
          <p:cNvPr id="26" name="TextBox 25">
            <a:extLst>
              <a:ext uri="{FF2B5EF4-FFF2-40B4-BE49-F238E27FC236}">
                <a16:creationId xmlns:a16="http://schemas.microsoft.com/office/drawing/2014/main" id="{D0375252-C3C1-4403-19DA-4DE8D6B7947D}"/>
              </a:ext>
            </a:extLst>
          </p:cNvPr>
          <p:cNvSpPr txBox="1"/>
          <p:nvPr/>
        </p:nvSpPr>
        <p:spPr>
          <a:xfrm>
            <a:off x="696400" y="1815441"/>
            <a:ext cx="3053797" cy="369332"/>
          </a:xfrm>
          <a:prstGeom prst="rect">
            <a:avLst/>
          </a:prstGeom>
          <a:noFill/>
        </p:spPr>
        <p:txBody>
          <a:bodyPr wrap="square" rtlCol="0">
            <a:spAutoFit/>
          </a:bodyPr>
          <a:lstStyle/>
          <a:p>
            <a:r>
              <a:rPr lang="en-US" dirty="0"/>
              <a:t>Compute  First  Hidden  Layer</a:t>
            </a:r>
          </a:p>
        </p:txBody>
      </p:sp>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8B0B7401-EFEA-24E3-6399-A57B13756914}"/>
                  </a:ext>
                </a:extLst>
              </p:cNvPr>
              <p:cNvGraphicFramePr>
                <a:graphicFrameLocks noGrp="1"/>
              </p:cNvGraphicFramePr>
              <p:nvPr>
                <p:extLst>
                  <p:ext uri="{D42A27DB-BD31-4B8C-83A1-F6EECF244321}">
                    <p14:modId xmlns:p14="http://schemas.microsoft.com/office/powerpoint/2010/main" val="4103525421"/>
                  </p:ext>
                </p:extLst>
              </p:nvPr>
            </p:nvGraphicFramePr>
            <p:xfrm>
              <a:off x="2704951" y="5081115"/>
              <a:ext cx="722620" cy="1483360"/>
            </p:xfrm>
            <a:graphic>
              <a:graphicData uri="http://schemas.openxmlformats.org/drawingml/2006/table">
                <a:tbl>
                  <a:tblPr firstRow="1" bandRow="1">
                    <a:tableStyleId>{69CF1AB2-1976-4502-BF36-3FF5EA218861}</a:tableStyleId>
                  </a:tblPr>
                  <a:tblGrid>
                    <a:gridCol w="722620">
                      <a:extLst>
                        <a:ext uri="{9D8B030D-6E8A-4147-A177-3AD203B41FA5}">
                          <a16:colId xmlns:a16="http://schemas.microsoft.com/office/drawing/2014/main" val="1020688925"/>
                        </a:ext>
                      </a:extLst>
                    </a:gridCol>
                  </a:tblGrid>
                  <a:tr h="370840">
                    <a:tc>
                      <a:txBody>
                        <a:bodyPr/>
                        <a:lstStyle/>
                        <a:p>
                          <a:pPr algn="ctr"/>
                          <a14:m>
                            <m:oMath xmlns:m="http://schemas.openxmlformats.org/officeDocument/2006/math">
                              <m:sSub>
                                <m:sSubPr>
                                  <m:ctrlPr>
                                    <a:rPr lang="en-US" b="1" i="1" dirty="0" smtClean="0">
                                      <a:latin typeface="Cambria Math" panose="02040503050406030204" pitchFamily="18" charset="0"/>
                                    </a:rPr>
                                  </m:ctrlPr>
                                </m:sSubPr>
                                <m:e>
                                  <m:r>
                                    <a:rPr lang="sv-SE" b="1" i="1" dirty="0" smtClean="0">
                                      <a:latin typeface="Cambria Math" panose="02040503050406030204" pitchFamily="18" charset="0"/>
                                    </a:rPr>
                                    <m:t>𝒇</m:t>
                                  </m:r>
                                  <m:r>
                                    <a:rPr lang="sv-SE" b="1" i="1" dirty="0" smtClean="0">
                                      <a:latin typeface="Cambria Math" panose="02040503050406030204" pitchFamily="18" charset="0"/>
                                    </a:rPr>
                                    <m:t>(</m:t>
                                  </m:r>
                                  <m:r>
                                    <a:rPr lang="sv-SE" b="1" i="0" dirty="0" smtClean="0">
                                      <a:latin typeface="Cambria Math" panose="02040503050406030204" pitchFamily="18" charset="0"/>
                                    </a:rPr>
                                    <m:t>𝐡</m:t>
                                  </m:r>
                                </m:e>
                                <m:sub>
                                  <m:r>
                                    <a:rPr lang="en-US" i="1" dirty="0" smtClean="0">
                                      <a:latin typeface="Cambria Math" panose="02040503050406030204" pitchFamily="18" charset="0"/>
                                    </a:rPr>
                                    <m:t>1</m:t>
                                  </m:r>
                                </m:sub>
                              </m:sSub>
                              <m:r>
                                <a:rPr lang="sv-SE" b="1" i="1" dirty="0" smtClean="0">
                                  <a:latin typeface="Cambria Math" panose="02040503050406030204" pitchFamily="18" charset="0"/>
                                </a:rPr>
                                <m:t>)</m:t>
                              </m:r>
                            </m:oMath>
                          </a14:m>
                          <a:r>
                            <a:rPr lang="en-US" dirty="0"/>
                            <a:t> </a:t>
                          </a:r>
                        </a:p>
                      </a:txBody>
                      <a:tcPr/>
                    </a:tc>
                    <a:extLst>
                      <a:ext uri="{0D108BD9-81ED-4DB2-BD59-A6C34878D82A}">
                        <a16:rowId xmlns:a16="http://schemas.microsoft.com/office/drawing/2014/main" val="2645738857"/>
                      </a:ext>
                    </a:extLst>
                  </a:tr>
                  <a:tr h="370840">
                    <a:tc>
                      <a:txBody>
                        <a:bodyPr/>
                        <a:lstStyle/>
                        <a:p>
                          <a:r>
                            <a:rPr lang="en-US" dirty="0"/>
                            <a:t>0.52</a:t>
                          </a:r>
                        </a:p>
                      </a:txBody>
                      <a:tcPr/>
                    </a:tc>
                    <a:extLst>
                      <a:ext uri="{0D108BD9-81ED-4DB2-BD59-A6C34878D82A}">
                        <a16:rowId xmlns:a16="http://schemas.microsoft.com/office/drawing/2014/main" val="3490234227"/>
                      </a:ext>
                    </a:extLst>
                  </a:tr>
                  <a:tr h="370840">
                    <a:tc>
                      <a:txBody>
                        <a:bodyPr/>
                        <a:lstStyle/>
                        <a:p>
                          <a:r>
                            <a:rPr lang="en-US" dirty="0"/>
                            <a:t>1.22</a:t>
                          </a:r>
                        </a:p>
                      </a:txBody>
                      <a:tcPr/>
                    </a:tc>
                    <a:extLst>
                      <a:ext uri="{0D108BD9-81ED-4DB2-BD59-A6C34878D82A}">
                        <a16:rowId xmlns:a16="http://schemas.microsoft.com/office/drawing/2014/main" val="3708431546"/>
                      </a:ext>
                    </a:extLst>
                  </a:tr>
                  <a:tr h="370840">
                    <a:tc>
                      <a:txBody>
                        <a:bodyPr/>
                        <a:lstStyle/>
                        <a:p>
                          <a:r>
                            <a:rPr lang="en-US" dirty="0"/>
                            <a:t>0.85</a:t>
                          </a:r>
                        </a:p>
                      </a:txBody>
                      <a:tcPr/>
                    </a:tc>
                    <a:extLst>
                      <a:ext uri="{0D108BD9-81ED-4DB2-BD59-A6C34878D82A}">
                        <a16:rowId xmlns:a16="http://schemas.microsoft.com/office/drawing/2014/main" val="154436168"/>
                      </a:ext>
                    </a:extLst>
                  </a:tr>
                </a:tbl>
              </a:graphicData>
            </a:graphic>
          </p:graphicFrame>
        </mc:Choice>
        <mc:Fallback xmlns="">
          <p:graphicFrame>
            <p:nvGraphicFramePr>
              <p:cNvPr id="27" name="Table 26">
                <a:extLst>
                  <a:ext uri="{FF2B5EF4-FFF2-40B4-BE49-F238E27FC236}">
                    <a16:creationId xmlns:a16="http://schemas.microsoft.com/office/drawing/2014/main" id="{8B0B7401-EFEA-24E3-6399-A57B13756914}"/>
                  </a:ext>
                </a:extLst>
              </p:cNvPr>
              <p:cNvGraphicFramePr>
                <a:graphicFrameLocks noGrp="1"/>
              </p:cNvGraphicFramePr>
              <p:nvPr>
                <p:extLst>
                  <p:ext uri="{D42A27DB-BD31-4B8C-83A1-F6EECF244321}">
                    <p14:modId xmlns:p14="http://schemas.microsoft.com/office/powerpoint/2010/main" val="4103525421"/>
                  </p:ext>
                </p:extLst>
              </p:nvPr>
            </p:nvGraphicFramePr>
            <p:xfrm>
              <a:off x="2704951" y="5081115"/>
              <a:ext cx="722620" cy="1483360"/>
            </p:xfrm>
            <a:graphic>
              <a:graphicData uri="http://schemas.openxmlformats.org/drawingml/2006/table">
                <a:tbl>
                  <a:tblPr firstRow="1" bandRow="1">
                    <a:tableStyleId>{69CF1AB2-1976-4502-BF36-3FF5EA218861}</a:tableStyleId>
                  </a:tblPr>
                  <a:tblGrid>
                    <a:gridCol w="722620">
                      <a:extLst>
                        <a:ext uri="{9D8B030D-6E8A-4147-A177-3AD203B41FA5}">
                          <a16:colId xmlns:a16="http://schemas.microsoft.com/office/drawing/2014/main" val="1020688925"/>
                        </a:ext>
                      </a:extLst>
                    </a:gridCol>
                  </a:tblGrid>
                  <a:tr h="370840">
                    <a:tc>
                      <a:txBody>
                        <a:bodyPr/>
                        <a:lstStyle/>
                        <a:p>
                          <a:endParaRPr lang="en-US"/>
                        </a:p>
                      </a:txBody>
                      <a:tcPr>
                        <a:blipFill>
                          <a:blip r:embed="rId5"/>
                          <a:stretch>
                            <a:fillRect t="-3448" r="-3448" b="-331034"/>
                          </a:stretch>
                        </a:blipFill>
                      </a:tcPr>
                    </a:tc>
                    <a:extLst>
                      <a:ext uri="{0D108BD9-81ED-4DB2-BD59-A6C34878D82A}">
                        <a16:rowId xmlns:a16="http://schemas.microsoft.com/office/drawing/2014/main" val="2645738857"/>
                      </a:ext>
                    </a:extLst>
                  </a:tr>
                  <a:tr h="370840">
                    <a:tc>
                      <a:txBody>
                        <a:bodyPr/>
                        <a:lstStyle/>
                        <a:p>
                          <a:r>
                            <a:rPr lang="en-US" dirty="0"/>
                            <a:t>0.52</a:t>
                          </a:r>
                        </a:p>
                      </a:txBody>
                      <a:tcPr/>
                    </a:tc>
                    <a:extLst>
                      <a:ext uri="{0D108BD9-81ED-4DB2-BD59-A6C34878D82A}">
                        <a16:rowId xmlns:a16="http://schemas.microsoft.com/office/drawing/2014/main" val="3490234227"/>
                      </a:ext>
                    </a:extLst>
                  </a:tr>
                  <a:tr h="370840">
                    <a:tc>
                      <a:txBody>
                        <a:bodyPr/>
                        <a:lstStyle/>
                        <a:p>
                          <a:r>
                            <a:rPr lang="en-US" dirty="0"/>
                            <a:t>1.22</a:t>
                          </a:r>
                        </a:p>
                      </a:txBody>
                      <a:tcPr/>
                    </a:tc>
                    <a:extLst>
                      <a:ext uri="{0D108BD9-81ED-4DB2-BD59-A6C34878D82A}">
                        <a16:rowId xmlns:a16="http://schemas.microsoft.com/office/drawing/2014/main" val="3708431546"/>
                      </a:ext>
                    </a:extLst>
                  </a:tr>
                  <a:tr h="370840">
                    <a:tc>
                      <a:txBody>
                        <a:bodyPr/>
                        <a:lstStyle/>
                        <a:p>
                          <a:r>
                            <a:rPr lang="en-US" dirty="0"/>
                            <a:t>0.85</a:t>
                          </a:r>
                        </a:p>
                      </a:txBody>
                      <a:tcPr/>
                    </a:tc>
                    <a:extLst>
                      <a:ext uri="{0D108BD9-81ED-4DB2-BD59-A6C34878D82A}">
                        <a16:rowId xmlns:a16="http://schemas.microsoft.com/office/drawing/2014/main" val="154436168"/>
                      </a:ext>
                    </a:extLst>
                  </a:tr>
                </a:tbl>
              </a:graphicData>
            </a:graphic>
          </p:graphicFrame>
        </mc:Fallback>
      </mc:AlternateContent>
      <p:graphicFrame>
        <p:nvGraphicFramePr>
          <p:cNvPr id="28" name="Table 27">
            <a:extLst>
              <a:ext uri="{FF2B5EF4-FFF2-40B4-BE49-F238E27FC236}">
                <a16:creationId xmlns:a16="http://schemas.microsoft.com/office/drawing/2014/main" id="{3D4EA16A-5ADD-27AA-63C4-57EFE15AC797}"/>
              </a:ext>
            </a:extLst>
          </p:cNvPr>
          <p:cNvGraphicFramePr>
            <a:graphicFrameLocks noGrp="1"/>
          </p:cNvGraphicFramePr>
          <p:nvPr>
            <p:extLst>
              <p:ext uri="{D42A27DB-BD31-4B8C-83A1-F6EECF244321}">
                <p14:modId xmlns:p14="http://schemas.microsoft.com/office/powerpoint/2010/main" val="3492764745"/>
              </p:ext>
            </p:extLst>
          </p:nvPr>
        </p:nvGraphicFramePr>
        <p:xfrm>
          <a:off x="1064859" y="5822795"/>
          <a:ext cx="1597307" cy="741680"/>
        </p:xfrm>
        <a:graphic>
          <a:graphicData uri="http://schemas.openxmlformats.org/drawingml/2006/table">
            <a:tbl>
              <a:tblPr firstRow="1" bandRow="1">
                <a:tableStyleId>{69CF1AB2-1976-4502-BF36-3FF5EA218861}</a:tableStyleId>
              </a:tblPr>
              <a:tblGrid>
                <a:gridCol w="578734">
                  <a:extLst>
                    <a:ext uri="{9D8B030D-6E8A-4147-A177-3AD203B41FA5}">
                      <a16:colId xmlns:a16="http://schemas.microsoft.com/office/drawing/2014/main" val="3743034317"/>
                    </a:ext>
                  </a:extLst>
                </a:gridCol>
                <a:gridCol w="486137">
                  <a:extLst>
                    <a:ext uri="{9D8B030D-6E8A-4147-A177-3AD203B41FA5}">
                      <a16:colId xmlns:a16="http://schemas.microsoft.com/office/drawing/2014/main" val="3661758852"/>
                    </a:ext>
                  </a:extLst>
                </a:gridCol>
                <a:gridCol w="532436">
                  <a:extLst>
                    <a:ext uri="{9D8B030D-6E8A-4147-A177-3AD203B41FA5}">
                      <a16:colId xmlns:a16="http://schemas.microsoft.com/office/drawing/2014/main" val="1835813846"/>
                    </a:ext>
                  </a:extLst>
                </a:gridCol>
              </a:tblGrid>
              <a:tr h="370840">
                <a:tc>
                  <a:txBody>
                    <a:bodyPr/>
                    <a:lstStyle/>
                    <a:p>
                      <a:r>
                        <a:rPr lang="en-US" dirty="0"/>
                        <a:t>0.7</a:t>
                      </a:r>
                    </a:p>
                  </a:txBody>
                  <a:tcPr/>
                </a:tc>
                <a:tc>
                  <a:txBody>
                    <a:bodyPr/>
                    <a:lstStyle/>
                    <a:p>
                      <a:r>
                        <a:rPr lang="en-US" dirty="0"/>
                        <a:t>0.3</a:t>
                      </a:r>
                    </a:p>
                  </a:txBody>
                  <a:tcPr/>
                </a:tc>
                <a:tc>
                  <a:txBody>
                    <a:bodyPr/>
                    <a:lstStyle/>
                    <a:p>
                      <a:r>
                        <a:rPr lang="en-US" dirty="0"/>
                        <a:t>0.5</a:t>
                      </a:r>
                    </a:p>
                  </a:txBody>
                  <a:tcPr/>
                </a:tc>
                <a:extLst>
                  <a:ext uri="{0D108BD9-81ED-4DB2-BD59-A6C34878D82A}">
                    <a16:rowId xmlns:a16="http://schemas.microsoft.com/office/drawing/2014/main" val="228614921"/>
                  </a:ext>
                </a:extLst>
              </a:tr>
              <a:tr h="370840">
                <a:tc>
                  <a:txBody>
                    <a:bodyPr/>
                    <a:lstStyle/>
                    <a:p>
                      <a:r>
                        <a:rPr lang="en-US" dirty="0"/>
                        <a:t>0.4</a:t>
                      </a:r>
                    </a:p>
                  </a:txBody>
                  <a:tcPr/>
                </a:tc>
                <a:tc>
                  <a:txBody>
                    <a:bodyPr/>
                    <a:lstStyle/>
                    <a:p>
                      <a:r>
                        <a:rPr lang="en-US" dirty="0"/>
                        <a:t>0.8</a:t>
                      </a:r>
                    </a:p>
                  </a:txBody>
                  <a:tcPr/>
                </a:tc>
                <a:tc>
                  <a:txBody>
                    <a:bodyPr/>
                    <a:lstStyle/>
                    <a:p>
                      <a:r>
                        <a:rPr lang="en-US" dirty="0"/>
                        <a:t>0.6</a:t>
                      </a:r>
                    </a:p>
                  </a:txBody>
                  <a:tcPr/>
                </a:tc>
                <a:extLst>
                  <a:ext uri="{0D108BD9-81ED-4DB2-BD59-A6C34878D82A}">
                    <a16:rowId xmlns:a16="http://schemas.microsoft.com/office/drawing/2014/main" val="102427673"/>
                  </a:ext>
                </a:extLst>
              </a:tr>
            </a:tbl>
          </a:graphicData>
        </a:graphic>
      </p:graphicFrame>
      <p:sp>
        <p:nvSpPr>
          <p:cNvPr id="29" name="TextBox 28">
            <a:extLst>
              <a:ext uri="{FF2B5EF4-FFF2-40B4-BE49-F238E27FC236}">
                <a16:creationId xmlns:a16="http://schemas.microsoft.com/office/drawing/2014/main" id="{D8DA4837-9F02-F213-36C7-F5450338F2D0}"/>
              </a:ext>
            </a:extLst>
          </p:cNvPr>
          <p:cNvSpPr txBox="1"/>
          <p:nvPr/>
        </p:nvSpPr>
        <p:spPr>
          <a:xfrm>
            <a:off x="338190" y="2534545"/>
            <a:ext cx="1265667" cy="646331"/>
          </a:xfrm>
          <a:prstGeom prst="rect">
            <a:avLst/>
          </a:prstGeom>
          <a:noFill/>
        </p:spPr>
        <p:txBody>
          <a:bodyPr wrap="none" rtlCol="0">
            <a:spAutoFit/>
          </a:bodyPr>
          <a:lstStyle/>
          <a:p>
            <a:r>
              <a:rPr lang="en-US" dirty="0"/>
              <a:t>Weights for</a:t>
            </a:r>
            <a:br>
              <a:rPr lang="en-US" dirty="0"/>
            </a:br>
            <a:r>
              <a:rPr lang="en-US" dirty="0"/>
              <a:t>layer 1 </a:t>
            </a:r>
          </a:p>
        </p:txBody>
      </p:sp>
      <p:sp>
        <p:nvSpPr>
          <p:cNvPr id="30" name="TextBox 29">
            <a:extLst>
              <a:ext uri="{FF2B5EF4-FFF2-40B4-BE49-F238E27FC236}">
                <a16:creationId xmlns:a16="http://schemas.microsoft.com/office/drawing/2014/main" id="{F3E6F262-D3D5-4C26-2546-49E98F250602}"/>
              </a:ext>
            </a:extLst>
          </p:cNvPr>
          <p:cNvSpPr txBox="1"/>
          <p:nvPr/>
        </p:nvSpPr>
        <p:spPr>
          <a:xfrm>
            <a:off x="1022074" y="5176464"/>
            <a:ext cx="1456854" cy="646331"/>
          </a:xfrm>
          <a:prstGeom prst="rect">
            <a:avLst/>
          </a:prstGeom>
          <a:noFill/>
        </p:spPr>
        <p:txBody>
          <a:bodyPr wrap="square" rtlCol="0">
            <a:spAutoFit/>
          </a:bodyPr>
          <a:lstStyle/>
          <a:p>
            <a:r>
              <a:rPr lang="en-US" dirty="0"/>
              <a:t>Weights for</a:t>
            </a:r>
            <a:br>
              <a:rPr lang="en-US" dirty="0"/>
            </a:br>
            <a:r>
              <a:rPr lang="en-US" dirty="0"/>
              <a:t>layer 2 </a:t>
            </a:r>
          </a:p>
        </p:txBody>
      </p:sp>
      <p:graphicFrame>
        <p:nvGraphicFramePr>
          <p:cNvPr id="31" name="Table 30">
            <a:extLst>
              <a:ext uri="{FF2B5EF4-FFF2-40B4-BE49-F238E27FC236}">
                <a16:creationId xmlns:a16="http://schemas.microsoft.com/office/drawing/2014/main" id="{1D99A494-DF19-6E5C-5A8B-026640D7DC9F}"/>
              </a:ext>
            </a:extLst>
          </p:cNvPr>
          <p:cNvGraphicFramePr>
            <a:graphicFrameLocks noGrp="1"/>
          </p:cNvGraphicFramePr>
          <p:nvPr>
            <p:extLst>
              <p:ext uri="{D42A27DB-BD31-4B8C-83A1-F6EECF244321}">
                <p14:modId xmlns:p14="http://schemas.microsoft.com/office/powerpoint/2010/main" val="4261040430"/>
              </p:ext>
            </p:extLst>
          </p:nvPr>
        </p:nvGraphicFramePr>
        <p:xfrm>
          <a:off x="4079970" y="2770111"/>
          <a:ext cx="780648" cy="1483360"/>
        </p:xfrm>
        <a:graphic>
          <a:graphicData uri="http://schemas.openxmlformats.org/drawingml/2006/table">
            <a:tbl>
              <a:tblPr firstRow="1" bandRow="1">
                <a:tableStyleId>{69CF1AB2-1976-4502-BF36-3FF5EA218861}</a:tableStyleId>
              </a:tblPr>
              <a:tblGrid>
                <a:gridCol w="780648">
                  <a:extLst>
                    <a:ext uri="{9D8B030D-6E8A-4147-A177-3AD203B41FA5}">
                      <a16:colId xmlns:a16="http://schemas.microsoft.com/office/drawing/2014/main" val="1020688925"/>
                    </a:ext>
                  </a:extLst>
                </a:gridCol>
              </a:tblGrid>
              <a:tr h="370840">
                <a:tc>
                  <a:txBody>
                    <a:bodyPr/>
                    <a:lstStyle/>
                    <a:p>
                      <a:pPr algn="ctr"/>
                      <a:r>
                        <a:rPr lang="en-US" dirty="0"/>
                        <a:t>Bias</a:t>
                      </a:r>
                    </a:p>
                  </a:txBody>
                  <a:tcPr/>
                </a:tc>
                <a:extLst>
                  <a:ext uri="{0D108BD9-81ED-4DB2-BD59-A6C34878D82A}">
                    <a16:rowId xmlns:a16="http://schemas.microsoft.com/office/drawing/2014/main" val="2645738857"/>
                  </a:ext>
                </a:extLst>
              </a:tr>
              <a:tr h="370840">
                <a:tc>
                  <a:txBody>
                    <a:bodyPr/>
                    <a:lstStyle/>
                    <a:p>
                      <a:r>
                        <a:rPr lang="en-US" dirty="0"/>
                        <a:t>0.1</a:t>
                      </a:r>
                    </a:p>
                  </a:txBody>
                  <a:tcPr/>
                </a:tc>
                <a:extLst>
                  <a:ext uri="{0D108BD9-81ED-4DB2-BD59-A6C34878D82A}">
                    <a16:rowId xmlns:a16="http://schemas.microsoft.com/office/drawing/2014/main" val="3490234227"/>
                  </a:ext>
                </a:extLst>
              </a:tr>
              <a:tr h="370840">
                <a:tc>
                  <a:txBody>
                    <a:bodyPr/>
                    <a:lstStyle/>
                    <a:p>
                      <a:r>
                        <a:rPr lang="en-US" dirty="0"/>
                        <a:t>0.2</a:t>
                      </a:r>
                    </a:p>
                  </a:txBody>
                  <a:tcPr/>
                </a:tc>
                <a:extLst>
                  <a:ext uri="{0D108BD9-81ED-4DB2-BD59-A6C34878D82A}">
                    <a16:rowId xmlns:a16="http://schemas.microsoft.com/office/drawing/2014/main" val="3708431546"/>
                  </a:ext>
                </a:extLst>
              </a:tr>
              <a:tr h="370840">
                <a:tc>
                  <a:txBody>
                    <a:bodyPr/>
                    <a:lstStyle/>
                    <a:p>
                      <a:r>
                        <a:rPr lang="en-US" dirty="0"/>
                        <a:t>0.3</a:t>
                      </a:r>
                    </a:p>
                  </a:txBody>
                  <a:tcPr/>
                </a:tc>
                <a:extLst>
                  <a:ext uri="{0D108BD9-81ED-4DB2-BD59-A6C34878D82A}">
                    <a16:rowId xmlns:a16="http://schemas.microsoft.com/office/drawing/2014/main" val="154436168"/>
                  </a:ext>
                </a:extLst>
              </a:tr>
            </a:tbl>
          </a:graphicData>
        </a:graphic>
      </p:graphicFrame>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FC2DD09-54DA-D90F-4C98-928046CC5100}"/>
                  </a:ext>
                </a:extLst>
              </p:cNvPr>
              <p:cNvSpPr txBox="1"/>
              <p:nvPr/>
            </p:nvSpPr>
            <p:spPr>
              <a:xfrm>
                <a:off x="3481174" y="5882887"/>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m:t>
                      </m:r>
                    </m:oMath>
                  </m:oMathPara>
                </a14:m>
                <a:endParaRPr lang="en-US" dirty="0"/>
              </a:p>
            </p:txBody>
          </p:sp>
        </mc:Choice>
        <mc:Fallback xmlns="">
          <p:sp>
            <p:nvSpPr>
              <p:cNvPr id="32" name="TextBox 31">
                <a:extLst>
                  <a:ext uri="{FF2B5EF4-FFF2-40B4-BE49-F238E27FC236}">
                    <a16:creationId xmlns:a16="http://schemas.microsoft.com/office/drawing/2014/main" id="{1FC2DD09-54DA-D90F-4C98-928046CC5100}"/>
                  </a:ext>
                </a:extLst>
              </p:cNvPr>
              <p:cNvSpPr txBox="1">
                <a:spLocks noRot="1" noChangeAspect="1" noMove="1" noResize="1" noEditPoints="1" noAdjustHandles="1" noChangeArrowheads="1" noChangeShapeType="1" noTextEdit="1"/>
              </p:cNvSpPr>
              <p:nvPr/>
            </p:nvSpPr>
            <p:spPr>
              <a:xfrm>
                <a:off x="3481174" y="5882887"/>
                <a:ext cx="226024" cy="276999"/>
              </a:xfrm>
              <a:prstGeom prst="rect">
                <a:avLst/>
              </a:prstGeom>
              <a:blipFill>
                <a:blip r:embed="rId6"/>
                <a:stretch>
                  <a:fillRect l="-22222" r="-22222"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F7C96D4-4AC6-6255-773E-5D7C14CDA015}"/>
                  </a:ext>
                </a:extLst>
              </p:cNvPr>
              <p:cNvSpPr txBox="1"/>
              <p:nvPr/>
            </p:nvSpPr>
            <p:spPr>
              <a:xfrm>
                <a:off x="4627546" y="5886640"/>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m:t>
                      </m:r>
                    </m:oMath>
                  </m:oMathPara>
                </a14:m>
                <a:endParaRPr lang="en-US" dirty="0"/>
              </a:p>
            </p:txBody>
          </p:sp>
        </mc:Choice>
        <mc:Fallback xmlns="">
          <p:sp>
            <p:nvSpPr>
              <p:cNvPr id="33" name="TextBox 32">
                <a:extLst>
                  <a:ext uri="{FF2B5EF4-FFF2-40B4-BE49-F238E27FC236}">
                    <a16:creationId xmlns:a16="http://schemas.microsoft.com/office/drawing/2014/main" id="{7F7C96D4-4AC6-6255-773E-5D7C14CDA015}"/>
                  </a:ext>
                </a:extLst>
              </p:cNvPr>
              <p:cNvSpPr txBox="1">
                <a:spLocks noRot="1" noChangeAspect="1" noMove="1" noResize="1" noEditPoints="1" noAdjustHandles="1" noChangeArrowheads="1" noChangeShapeType="1" noTextEdit="1"/>
              </p:cNvSpPr>
              <p:nvPr/>
            </p:nvSpPr>
            <p:spPr>
              <a:xfrm>
                <a:off x="4627546" y="5886640"/>
                <a:ext cx="226024" cy="276999"/>
              </a:xfrm>
              <a:prstGeom prst="rect">
                <a:avLst/>
              </a:prstGeom>
              <a:blipFill>
                <a:blip r:embed="rId7"/>
                <a:stretch>
                  <a:fillRect l="-10526" r="-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4" name="Table 33">
                <a:extLst>
                  <a:ext uri="{FF2B5EF4-FFF2-40B4-BE49-F238E27FC236}">
                    <a16:creationId xmlns:a16="http://schemas.microsoft.com/office/drawing/2014/main" id="{648FC328-37BE-857D-CC03-69846146C39B}"/>
                  </a:ext>
                </a:extLst>
              </p:cNvPr>
              <p:cNvGraphicFramePr>
                <a:graphicFrameLocks noGrp="1"/>
              </p:cNvGraphicFramePr>
              <p:nvPr>
                <p:extLst>
                  <p:ext uri="{D42A27DB-BD31-4B8C-83A1-F6EECF244321}">
                    <p14:modId xmlns:p14="http://schemas.microsoft.com/office/powerpoint/2010/main" val="2084669923"/>
                  </p:ext>
                </p:extLst>
              </p:nvPr>
            </p:nvGraphicFramePr>
            <p:xfrm>
              <a:off x="4939667" y="5441269"/>
              <a:ext cx="840672" cy="1327278"/>
            </p:xfrm>
            <a:graphic>
              <a:graphicData uri="http://schemas.openxmlformats.org/drawingml/2006/table">
                <a:tbl>
                  <a:tblPr firstRow="1" bandRow="1">
                    <a:tableStyleId>{69CF1AB2-1976-4502-BF36-3FF5EA218861}</a:tableStyleId>
                  </a:tblPr>
                  <a:tblGrid>
                    <a:gridCol w="840672">
                      <a:extLst>
                        <a:ext uri="{9D8B030D-6E8A-4147-A177-3AD203B41FA5}">
                          <a16:colId xmlns:a16="http://schemas.microsoft.com/office/drawing/2014/main" val="1020688925"/>
                        </a:ext>
                      </a:extLst>
                    </a:gridCol>
                  </a:tblGrid>
                  <a:tr h="370840">
                    <a:tc>
                      <a:txBody>
                        <a:bodyPr/>
                        <a:lstStyle/>
                        <a:p>
                          <a14:m>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𝑧</m:t>
                                  </m:r>
                                </m:e>
                                <m:sub>
                                  <m:r>
                                    <a:rPr lang="sv-SE" b="0" i="1" smtClean="0">
                                      <a:latin typeface="Cambria Math" panose="02040503050406030204" pitchFamily="18" charset="0"/>
                                    </a:rPr>
                                    <m:t>h</m:t>
                                  </m:r>
                                  <m:sSub>
                                    <m:sSubPr>
                                      <m:ctrlPr>
                                        <a:rPr lang="sv-SE" b="0" i="1" smtClean="0">
                                          <a:latin typeface="Cambria Math" panose="02040503050406030204" pitchFamily="18" charset="0"/>
                                        </a:rPr>
                                      </m:ctrlPr>
                                    </m:sSubPr>
                                    <m:e>
                                      <m:r>
                                        <a:rPr lang="sv-SE" b="0" i="1" smtClean="0">
                                          <a:latin typeface="Cambria Math" panose="02040503050406030204" pitchFamily="18" charset="0"/>
                                        </a:rPr>
                                        <m:t>2</m:t>
                                      </m:r>
                                    </m:e>
                                    <m:sub>
                                      <m:r>
                                        <a:rPr lang="sv-SE" b="0" i="1" smtClean="0">
                                          <a:latin typeface="Cambria Math" panose="02040503050406030204" pitchFamily="18" charset="0"/>
                                        </a:rPr>
                                        <m:t>1</m:t>
                                      </m:r>
                                    </m:sub>
                                  </m:sSub>
                                </m:sub>
                              </m:sSub>
                            </m:oMath>
                          </a14:m>
                          <a:r>
                            <a:rPr lang="en-US" b="0" dirty="0"/>
                            <a:t>= 1.355</a:t>
                          </a:r>
                        </a:p>
                      </a:txBody>
                      <a:tcPr/>
                    </a:tc>
                    <a:extLst>
                      <a:ext uri="{0D108BD9-81ED-4DB2-BD59-A6C34878D82A}">
                        <a16:rowId xmlns:a16="http://schemas.microsoft.com/office/drawing/2014/main" val="3708431546"/>
                      </a:ext>
                    </a:extLst>
                  </a:tr>
                  <a:tr h="370840">
                    <a:tc>
                      <a:txBody>
                        <a:bodyPr/>
                        <a:lstStyle/>
                        <a:p>
                          <a14:m>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𝑧</m:t>
                                  </m:r>
                                </m:e>
                                <m:sub>
                                  <m:r>
                                    <a:rPr lang="sv-SE" b="0" i="1" smtClean="0">
                                      <a:latin typeface="Cambria Math" panose="02040503050406030204" pitchFamily="18" charset="0"/>
                                    </a:rPr>
                                    <m:t>h</m:t>
                                  </m:r>
                                  <m:sSub>
                                    <m:sSubPr>
                                      <m:ctrlPr>
                                        <a:rPr lang="sv-SE" b="0" i="1" smtClean="0">
                                          <a:latin typeface="Cambria Math" panose="02040503050406030204" pitchFamily="18" charset="0"/>
                                        </a:rPr>
                                      </m:ctrlPr>
                                    </m:sSubPr>
                                    <m:e>
                                      <m:r>
                                        <a:rPr lang="sv-SE" b="0" i="1" smtClean="0">
                                          <a:latin typeface="Cambria Math" panose="02040503050406030204" pitchFamily="18" charset="0"/>
                                        </a:rPr>
                                        <m:t>2</m:t>
                                      </m:r>
                                    </m:e>
                                    <m:sub>
                                      <m:r>
                                        <a:rPr lang="sv-SE" b="0" i="1" smtClean="0">
                                          <a:latin typeface="Cambria Math" panose="02040503050406030204" pitchFamily="18" charset="0"/>
                                        </a:rPr>
                                        <m:t>1</m:t>
                                      </m:r>
                                    </m:sub>
                                  </m:sSub>
                                </m:sub>
                              </m:sSub>
                              <m:r>
                                <a:rPr lang="sv-SE" b="0" i="1" smtClean="0">
                                  <a:latin typeface="Cambria Math" panose="02040503050406030204" pitchFamily="18" charset="0"/>
                                </a:rPr>
                                <m:t>=</m:t>
                              </m:r>
                            </m:oMath>
                          </a14:m>
                          <a:r>
                            <a:rPr lang="en-US" b="0" dirty="0"/>
                            <a:t> </a:t>
                          </a:r>
                          <a:r>
                            <a:rPr lang="en-US" dirty="0"/>
                            <a:t>1.794</a:t>
                          </a:r>
                        </a:p>
                      </a:txBody>
                      <a:tcPr/>
                    </a:tc>
                    <a:extLst>
                      <a:ext uri="{0D108BD9-81ED-4DB2-BD59-A6C34878D82A}">
                        <a16:rowId xmlns:a16="http://schemas.microsoft.com/office/drawing/2014/main" val="154436168"/>
                      </a:ext>
                    </a:extLst>
                  </a:tr>
                </a:tbl>
              </a:graphicData>
            </a:graphic>
          </p:graphicFrame>
        </mc:Choice>
        <mc:Fallback xmlns="">
          <p:graphicFrame>
            <p:nvGraphicFramePr>
              <p:cNvPr id="34" name="Table 33">
                <a:extLst>
                  <a:ext uri="{FF2B5EF4-FFF2-40B4-BE49-F238E27FC236}">
                    <a16:creationId xmlns:a16="http://schemas.microsoft.com/office/drawing/2014/main" id="{648FC328-37BE-857D-CC03-69846146C39B}"/>
                  </a:ext>
                </a:extLst>
              </p:cNvPr>
              <p:cNvGraphicFramePr>
                <a:graphicFrameLocks noGrp="1"/>
              </p:cNvGraphicFramePr>
              <p:nvPr>
                <p:extLst>
                  <p:ext uri="{D42A27DB-BD31-4B8C-83A1-F6EECF244321}">
                    <p14:modId xmlns:p14="http://schemas.microsoft.com/office/powerpoint/2010/main" val="2084669923"/>
                  </p:ext>
                </p:extLst>
              </p:nvPr>
            </p:nvGraphicFramePr>
            <p:xfrm>
              <a:off x="4939667" y="5441269"/>
              <a:ext cx="840672" cy="1327278"/>
            </p:xfrm>
            <a:graphic>
              <a:graphicData uri="http://schemas.openxmlformats.org/drawingml/2006/table">
                <a:tbl>
                  <a:tblPr firstRow="1" bandRow="1">
                    <a:tableStyleId>{69CF1AB2-1976-4502-BF36-3FF5EA218861}</a:tableStyleId>
                  </a:tblPr>
                  <a:tblGrid>
                    <a:gridCol w="840672">
                      <a:extLst>
                        <a:ext uri="{9D8B030D-6E8A-4147-A177-3AD203B41FA5}">
                          <a16:colId xmlns:a16="http://schemas.microsoft.com/office/drawing/2014/main" val="1020688925"/>
                        </a:ext>
                      </a:extLst>
                    </a:gridCol>
                  </a:tblGrid>
                  <a:tr h="663639">
                    <a:tc>
                      <a:txBody>
                        <a:bodyPr/>
                        <a:lstStyle/>
                        <a:p>
                          <a:endParaRPr lang="en-US"/>
                        </a:p>
                      </a:txBody>
                      <a:tcPr>
                        <a:blipFill>
                          <a:blip r:embed="rId8"/>
                          <a:stretch>
                            <a:fillRect t="-3774" r="-1471" b="-113208"/>
                          </a:stretch>
                        </a:blipFill>
                      </a:tcPr>
                    </a:tc>
                    <a:extLst>
                      <a:ext uri="{0D108BD9-81ED-4DB2-BD59-A6C34878D82A}">
                        <a16:rowId xmlns:a16="http://schemas.microsoft.com/office/drawing/2014/main" val="3708431546"/>
                      </a:ext>
                    </a:extLst>
                  </a:tr>
                  <a:tr h="663639">
                    <a:tc>
                      <a:txBody>
                        <a:bodyPr/>
                        <a:lstStyle/>
                        <a:p>
                          <a:endParaRPr lang="en-US"/>
                        </a:p>
                      </a:txBody>
                      <a:tcPr>
                        <a:blipFill>
                          <a:blip r:embed="rId8"/>
                          <a:stretch>
                            <a:fillRect t="-105769" r="-1471" b="-15385"/>
                          </a:stretch>
                        </a:blipFill>
                      </a:tcPr>
                    </a:tc>
                    <a:extLst>
                      <a:ext uri="{0D108BD9-81ED-4DB2-BD59-A6C34878D82A}">
                        <a16:rowId xmlns:a16="http://schemas.microsoft.com/office/drawing/2014/main" val="154436168"/>
                      </a:ext>
                    </a:extLst>
                  </a:tr>
                </a:tbl>
              </a:graphicData>
            </a:graphic>
          </p:graphicFrame>
        </mc:Fallback>
      </mc:AlternateContent>
      <p:sp>
        <p:nvSpPr>
          <p:cNvPr id="35" name="TextBox 34">
            <a:extLst>
              <a:ext uri="{FF2B5EF4-FFF2-40B4-BE49-F238E27FC236}">
                <a16:creationId xmlns:a16="http://schemas.microsoft.com/office/drawing/2014/main" id="{B77190D1-49A2-A448-269F-47E365D99B83}"/>
              </a:ext>
            </a:extLst>
          </p:cNvPr>
          <p:cNvSpPr txBox="1"/>
          <p:nvPr/>
        </p:nvSpPr>
        <p:spPr>
          <a:xfrm>
            <a:off x="6760861" y="4548455"/>
            <a:ext cx="2394714" cy="369332"/>
          </a:xfrm>
          <a:prstGeom prst="rect">
            <a:avLst/>
          </a:prstGeom>
          <a:noFill/>
        </p:spPr>
        <p:txBody>
          <a:bodyPr wrap="square" rtlCol="0">
            <a:spAutoFit/>
          </a:bodyPr>
          <a:lstStyle/>
          <a:p>
            <a:r>
              <a:rPr lang="en-US" dirty="0"/>
              <a:t>Compute Output Layer</a:t>
            </a:r>
          </a:p>
        </p:txBody>
      </p:sp>
      <p:graphicFrame>
        <p:nvGraphicFramePr>
          <p:cNvPr id="36" name="Table 35">
            <a:extLst>
              <a:ext uri="{FF2B5EF4-FFF2-40B4-BE49-F238E27FC236}">
                <a16:creationId xmlns:a16="http://schemas.microsoft.com/office/drawing/2014/main" id="{ACA6A746-84A3-8641-D68A-BE229563ECEE}"/>
              </a:ext>
            </a:extLst>
          </p:cNvPr>
          <p:cNvGraphicFramePr>
            <a:graphicFrameLocks noGrp="1"/>
          </p:cNvGraphicFramePr>
          <p:nvPr>
            <p:extLst>
              <p:ext uri="{D42A27DB-BD31-4B8C-83A1-F6EECF244321}">
                <p14:modId xmlns:p14="http://schemas.microsoft.com/office/powerpoint/2010/main" val="2358316371"/>
              </p:ext>
            </p:extLst>
          </p:nvPr>
        </p:nvGraphicFramePr>
        <p:xfrm>
          <a:off x="6096000" y="5812109"/>
          <a:ext cx="1021905" cy="370840"/>
        </p:xfrm>
        <a:graphic>
          <a:graphicData uri="http://schemas.openxmlformats.org/drawingml/2006/table">
            <a:tbl>
              <a:tblPr>
                <a:tableStyleId>{5C22544A-7EE6-4342-B048-85BDC9FD1C3A}</a:tableStyleId>
              </a:tblPr>
              <a:tblGrid>
                <a:gridCol w="524193">
                  <a:extLst>
                    <a:ext uri="{9D8B030D-6E8A-4147-A177-3AD203B41FA5}">
                      <a16:colId xmlns:a16="http://schemas.microsoft.com/office/drawing/2014/main" val="2223245966"/>
                    </a:ext>
                  </a:extLst>
                </a:gridCol>
                <a:gridCol w="497712">
                  <a:extLst>
                    <a:ext uri="{9D8B030D-6E8A-4147-A177-3AD203B41FA5}">
                      <a16:colId xmlns:a16="http://schemas.microsoft.com/office/drawing/2014/main" val="2673777553"/>
                    </a:ext>
                  </a:extLst>
                </a:gridCol>
              </a:tblGrid>
              <a:tr h="370840">
                <a:tc>
                  <a:txBody>
                    <a:bodyPr/>
                    <a:lstStyle/>
                    <a:p>
                      <a:r>
                        <a:rPr lang="en-US" dirty="0"/>
                        <a:t>0.5</a:t>
                      </a:r>
                    </a:p>
                  </a:txBody>
                  <a:tcPr>
                    <a:lnT w="12700" cmpd="sng">
                      <a:noFill/>
                    </a:lnT>
                  </a:tcPr>
                </a:tc>
                <a:tc>
                  <a:txBody>
                    <a:bodyPr/>
                    <a:lstStyle/>
                    <a:p>
                      <a:r>
                        <a:rPr lang="en-US" dirty="0"/>
                        <a:t>0.7</a:t>
                      </a:r>
                    </a:p>
                  </a:txBody>
                  <a:tcPr>
                    <a:lnT w="12700" cmpd="sng">
                      <a:noFill/>
                    </a:lnT>
                  </a:tcPr>
                </a:tc>
                <a:extLst>
                  <a:ext uri="{0D108BD9-81ED-4DB2-BD59-A6C34878D82A}">
                    <a16:rowId xmlns:a16="http://schemas.microsoft.com/office/drawing/2014/main" val="221697349"/>
                  </a:ext>
                </a:extLst>
              </a:tr>
            </a:tbl>
          </a:graphicData>
        </a:graphic>
      </p:graphicFrame>
      <p:sp>
        <p:nvSpPr>
          <p:cNvPr id="37" name="TextBox 36">
            <a:extLst>
              <a:ext uri="{FF2B5EF4-FFF2-40B4-BE49-F238E27FC236}">
                <a16:creationId xmlns:a16="http://schemas.microsoft.com/office/drawing/2014/main" id="{10B70038-9B81-A9D6-D818-8F30F2E93377}"/>
              </a:ext>
            </a:extLst>
          </p:cNvPr>
          <p:cNvSpPr txBox="1"/>
          <p:nvPr/>
        </p:nvSpPr>
        <p:spPr>
          <a:xfrm>
            <a:off x="5894990" y="5165778"/>
            <a:ext cx="1456854" cy="646331"/>
          </a:xfrm>
          <a:prstGeom prst="rect">
            <a:avLst/>
          </a:prstGeom>
          <a:noFill/>
        </p:spPr>
        <p:txBody>
          <a:bodyPr wrap="square" rtlCol="0">
            <a:spAutoFit/>
          </a:bodyPr>
          <a:lstStyle/>
          <a:p>
            <a:r>
              <a:rPr lang="en-US" dirty="0"/>
              <a:t>Weights for</a:t>
            </a:r>
            <a:br>
              <a:rPr lang="en-US" dirty="0"/>
            </a:br>
            <a:r>
              <a:rPr lang="en-US" dirty="0"/>
              <a:t>output layers</a:t>
            </a:r>
          </a:p>
        </p:txBody>
      </p:sp>
      <p:graphicFrame>
        <p:nvGraphicFramePr>
          <p:cNvPr id="39" name="Table 38">
            <a:extLst>
              <a:ext uri="{FF2B5EF4-FFF2-40B4-BE49-F238E27FC236}">
                <a16:creationId xmlns:a16="http://schemas.microsoft.com/office/drawing/2014/main" id="{55F58C78-2554-077D-7B6A-71EA11393E1E}"/>
              </a:ext>
            </a:extLst>
          </p:cNvPr>
          <p:cNvGraphicFramePr>
            <a:graphicFrameLocks noGrp="1"/>
          </p:cNvGraphicFramePr>
          <p:nvPr>
            <p:extLst>
              <p:ext uri="{D42A27DB-BD31-4B8C-83A1-F6EECF244321}">
                <p14:modId xmlns:p14="http://schemas.microsoft.com/office/powerpoint/2010/main" val="2695552568"/>
              </p:ext>
            </p:extLst>
          </p:nvPr>
        </p:nvGraphicFramePr>
        <p:xfrm>
          <a:off x="7269589" y="5430033"/>
          <a:ext cx="722620" cy="741680"/>
        </p:xfrm>
        <a:graphic>
          <a:graphicData uri="http://schemas.openxmlformats.org/drawingml/2006/table">
            <a:tbl>
              <a:tblPr firstRow="1" bandRow="1">
                <a:tableStyleId>{69CF1AB2-1976-4502-BF36-3FF5EA218861}</a:tableStyleId>
              </a:tblPr>
              <a:tblGrid>
                <a:gridCol w="722620">
                  <a:extLst>
                    <a:ext uri="{9D8B030D-6E8A-4147-A177-3AD203B41FA5}">
                      <a16:colId xmlns:a16="http://schemas.microsoft.com/office/drawing/2014/main" val="1020688925"/>
                    </a:ext>
                  </a:extLst>
                </a:gridCol>
              </a:tblGrid>
              <a:tr h="370840">
                <a:tc>
                  <a:txBody>
                    <a:bodyPr/>
                    <a:lstStyle/>
                    <a:p>
                      <a:r>
                        <a:rPr lang="en-US" dirty="0"/>
                        <a:t>1.355</a:t>
                      </a:r>
                    </a:p>
                  </a:txBody>
                  <a:tcPr/>
                </a:tc>
                <a:extLst>
                  <a:ext uri="{0D108BD9-81ED-4DB2-BD59-A6C34878D82A}">
                    <a16:rowId xmlns:a16="http://schemas.microsoft.com/office/drawing/2014/main" val="3708431546"/>
                  </a:ext>
                </a:extLst>
              </a:tr>
              <a:tr h="370840">
                <a:tc>
                  <a:txBody>
                    <a:bodyPr/>
                    <a:lstStyle/>
                    <a:p>
                      <a:r>
                        <a:rPr lang="en-US" dirty="0"/>
                        <a:t>1.794</a:t>
                      </a:r>
                    </a:p>
                  </a:txBody>
                  <a:tcPr/>
                </a:tc>
                <a:extLst>
                  <a:ext uri="{0D108BD9-81ED-4DB2-BD59-A6C34878D82A}">
                    <a16:rowId xmlns:a16="http://schemas.microsoft.com/office/drawing/2014/main" val="154436168"/>
                  </a:ext>
                </a:extLst>
              </a:tr>
            </a:tbl>
          </a:graphicData>
        </a:graphic>
      </p:graphicFrame>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11E4D5D-D188-FAF2-0DBD-DF57776B9069}"/>
                  </a:ext>
                </a:extLst>
              </p:cNvPr>
              <p:cNvSpPr txBox="1"/>
              <p:nvPr/>
            </p:nvSpPr>
            <p:spPr>
              <a:xfrm>
                <a:off x="8121431" y="5673609"/>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m:t>
                      </m:r>
                    </m:oMath>
                  </m:oMathPara>
                </a14:m>
                <a:endParaRPr lang="en-US" dirty="0"/>
              </a:p>
            </p:txBody>
          </p:sp>
        </mc:Choice>
        <mc:Fallback xmlns="">
          <p:sp>
            <p:nvSpPr>
              <p:cNvPr id="40" name="TextBox 39">
                <a:extLst>
                  <a:ext uri="{FF2B5EF4-FFF2-40B4-BE49-F238E27FC236}">
                    <a16:creationId xmlns:a16="http://schemas.microsoft.com/office/drawing/2014/main" id="{511E4D5D-D188-FAF2-0DBD-DF57776B9069}"/>
                  </a:ext>
                </a:extLst>
              </p:cNvPr>
              <p:cNvSpPr txBox="1">
                <a:spLocks noRot="1" noChangeAspect="1" noMove="1" noResize="1" noEditPoints="1" noAdjustHandles="1" noChangeArrowheads="1" noChangeShapeType="1" noTextEdit="1"/>
              </p:cNvSpPr>
              <p:nvPr/>
            </p:nvSpPr>
            <p:spPr>
              <a:xfrm>
                <a:off x="8121431" y="5673609"/>
                <a:ext cx="226024" cy="276999"/>
              </a:xfrm>
              <a:prstGeom prst="rect">
                <a:avLst/>
              </a:prstGeom>
              <a:blipFill>
                <a:blip r:embed="rId9"/>
                <a:stretch>
                  <a:fillRect l="-15789" r="-15789" b="-4348"/>
                </a:stretch>
              </a:blipFill>
            </p:spPr>
            <p:txBody>
              <a:bodyPr/>
              <a:lstStyle/>
              <a:p>
                <a:r>
                  <a:rPr lang="en-US">
                    <a:noFill/>
                  </a:rPr>
                  <a:t> </a:t>
                </a:r>
              </a:p>
            </p:txBody>
          </p:sp>
        </mc:Fallback>
      </mc:AlternateContent>
      <p:graphicFrame>
        <p:nvGraphicFramePr>
          <p:cNvPr id="41" name="Table 40">
            <a:extLst>
              <a:ext uri="{FF2B5EF4-FFF2-40B4-BE49-F238E27FC236}">
                <a16:creationId xmlns:a16="http://schemas.microsoft.com/office/drawing/2014/main" id="{0070907F-F840-B8B6-0818-85FB3A5324F1}"/>
              </a:ext>
            </a:extLst>
          </p:cNvPr>
          <p:cNvGraphicFramePr>
            <a:graphicFrameLocks noGrp="1"/>
          </p:cNvGraphicFramePr>
          <p:nvPr>
            <p:extLst>
              <p:ext uri="{D42A27DB-BD31-4B8C-83A1-F6EECF244321}">
                <p14:modId xmlns:p14="http://schemas.microsoft.com/office/powerpoint/2010/main" val="1889812181"/>
              </p:ext>
            </p:extLst>
          </p:nvPr>
        </p:nvGraphicFramePr>
        <p:xfrm>
          <a:off x="8416776" y="5209433"/>
          <a:ext cx="780648" cy="741680"/>
        </p:xfrm>
        <a:graphic>
          <a:graphicData uri="http://schemas.openxmlformats.org/drawingml/2006/table">
            <a:tbl>
              <a:tblPr firstRow="1" bandRow="1">
                <a:tableStyleId>{69CF1AB2-1976-4502-BF36-3FF5EA218861}</a:tableStyleId>
              </a:tblPr>
              <a:tblGrid>
                <a:gridCol w="780648">
                  <a:extLst>
                    <a:ext uri="{9D8B030D-6E8A-4147-A177-3AD203B41FA5}">
                      <a16:colId xmlns:a16="http://schemas.microsoft.com/office/drawing/2014/main" val="1020688925"/>
                    </a:ext>
                  </a:extLst>
                </a:gridCol>
              </a:tblGrid>
              <a:tr h="370840">
                <a:tc>
                  <a:txBody>
                    <a:bodyPr/>
                    <a:lstStyle/>
                    <a:p>
                      <a:pPr algn="ctr"/>
                      <a:r>
                        <a:rPr lang="en-US" dirty="0"/>
                        <a:t>Bias</a:t>
                      </a:r>
                    </a:p>
                  </a:txBody>
                  <a:tcPr/>
                </a:tc>
                <a:extLst>
                  <a:ext uri="{0D108BD9-81ED-4DB2-BD59-A6C34878D82A}">
                    <a16:rowId xmlns:a16="http://schemas.microsoft.com/office/drawing/2014/main" val="2645738857"/>
                  </a:ext>
                </a:extLst>
              </a:tr>
              <a:tr h="370840">
                <a:tc>
                  <a:txBody>
                    <a:bodyPr/>
                    <a:lstStyle/>
                    <a:p>
                      <a:r>
                        <a:rPr lang="en-US" dirty="0"/>
                        <a:t>0.3</a:t>
                      </a:r>
                    </a:p>
                  </a:txBody>
                  <a:tcPr/>
                </a:tc>
                <a:extLst>
                  <a:ext uri="{0D108BD9-81ED-4DB2-BD59-A6C34878D82A}">
                    <a16:rowId xmlns:a16="http://schemas.microsoft.com/office/drawing/2014/main" val="3490234227"/>
                  </a:ext>
                </a:extLst>
              </a:tr>
            </a:tbl>
          </a:graphicData>
        </a:graphic>
      </p:graphicFrame>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3B7D6FB-F83B-FCD5-F964-3FF9AD00E924}"/>
                  </a:ext>
                </a:extLst>
              </p:cNvPr>
              <p:cNvSpPr txBox="1"/>
              <p:nvPr/>
            </p:nvSpPr>
            <p:spPr>
              <a:xfrm>
                <a:off x="9261025" y="5664586"/>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m:t>
                      </m:r>
                    </m:oMath>
                  </m:oMathPara>
                </a14:m>
                <a:endParaRPr lang="en-US" dirty="0"/>
              </a:p>
            </p:txBody>
          </p:sp>
        </mc:Choice>
        <mc:Fallback xmlns="">
          <p:sp>
            <p:nvSpPr>
              <p:cNvPr id="42" name="TextBox 41">
                <a:extLst>
                  <a:ext uri="{FF2B5EF4-FFF2-40B4-BE49-F238E27FC236}">
                    <a16:creationId xmlns:a16="http://schemas.microsoft.com/office/drawing/2014/main" id="{33B7D6FB-F83B-FCD5-F964-3FF9AD00E924}"/>
                  </a:ext>
                </a:extLst>
              </p:cNvPr>
              <p:cNvSpPr txBox="1">
                <a:spLocks noRot="1" noChangeAspect="1" noMove="1" noResize="1" noEditPoints="1" noAdjustHandles="1" noChangeArrowheads="1" noChangeShapeType="1" noTextEdit="1"/>
              </p:cNvSpPr>
              <p:nvPr/>
            </p:nvSpPr>
            <p:spPr>
              <a:xfrm>
                <a:off x="9261025" y="5664586"/>
                <a:ext cx="226024" cy="276999"/>
              </a:xfrm>
              <a:prstGeom prst="rect">
                <a:avLst/>
              </a:prstGeom>
              <a:blipFill>
                <a:blip r:embed="rId10"/>
                <a:stretch>
                  <a:fillRect l="-11111" r="-16667"/>
                </a:stretch>
              </a:blipFill>
            </p:spPr>
            <p:txBody>
              <a:bodyPr/>
              <a:lstStyle/>
              <a:p>
                <a:r>
                  <a:rPr lang="en-US">
                    <a:noFill/>
                  </a:rPr>
                  <a:t> </a:t>
                </a:r>
              </a:p>
            </p:txBody>
          </p:sp>
        </mc:Fallback>
      </mc:AlternateContent>
      <p:cxnSp>
        <p:nvCxnSpPr>
          <p:cNvPr id="46" name="Straight Arrow Connector 45">
            <a:extLst>
              <a:ext uri="{FF2B5EF4-FFF2-40B4-BE49-F238E27FC236}">
                <a16:creationId xmlns:a16="http://schemas.microsoft.com/office/drawing/2014/main" id="{3220B256-840C-8143-EC19-0D7462AF1524}"/>
              </a:ext>
            </a:extLst>
          </p:cNvPr>
          <p:cNvCxnSpPr>
            <a:cxnSpLocks/>
          </p:cNvCxnSpPr>
          <p:nvPr/>
        </p:nvCxnSpPr>
        <p:spPr>
          <a:xfrm>
            <a:off x="9821290" y="5910827"/>
            <a:ext cx="0" cy="4916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F7B58691-B332-C722-475D-A659D00B9219}"/>
              </a:ext>
            </a:extLst>
          </p:cNvPr>
          <p:cNvSpPr txBox="1"/>
          <p:nvPr/>
        </p:nvSpPr>
        <p:spPr>
          <a:xfrm>
            <a:off x="9802711" y="5910814"/>
            <a:ext cx="933269" cy="369332"/>
          </a:xfrm>
          <a:prstGeom prst="rect">
            <a:avLst/>
          </a:prstGeom>
          <a:noFill/>
        </p:spPr>
        <p:txBody>
          <a:bodyPr wrap="none" rtlCol="0">
            <a:spAutoFit/>
          </a:bodyPr>
          <a:lstStyle/>
          <a:p>
            <a:r>
              <a:rPr lang="en-US" dirty="0"/>
              <a:t>Sigmoid</a:t>
            </a:r>
          </a:p>
        </p:txBody>
      </p:sp>
      <p:sp>
        <p:nvSpPr>
          <p:cNvPr id="50" name="TextBox 49">
            <a:extLst>
              <a:ext uri="{FF2B5EF4-FFF2-40B4-BE49-F238E27FC236}">
                <a16:creationId xmlns:a16="http://schemas.microsoft.com/office/drawing/2014/main" id="{873963F6-DF81-CD4D-1FD3-9A6647008846}"/>
              </a:ext>
            </a:extLst>
          </p:cNvPr>
          <p:cNvSpPr txBox="1"/>
          <p:nvPr/>
        </p:nvSpPr>
        <p:spPr>
          <a:xfrm>
            <a:off x="9504115" y="6389212"/>
            <a:ext cx="780648" cy="369332"/>
          </a:xfrm>
          <a:prstGeom prst="rect">
            <a:avLst/>
          </a:prstGeom>
          <a:noFill/>
        </p:spPr>
        <p:txBody>
          <a:bodyPr wrap="square">
            <a:spAutoFit/>
          </a:bodyPr>
          <a:lstStyle/>
          <a:p>
            <a:r>
              <a:rPr lang="en-US" dirty="0"/>
              <a:t>0.903</a:t>
            </a:r>
          </a:p>
        </p:txBody>
      </p:sp>
      <mc:AlternateContent xmlns:mc="http://schemas.openxmlformats.org/markup-compatibility/2006" xmlns:a14="http://schemas.microsoft.com/office/drawing/2010/main">
        <mc:Choice Requires="a14">
          <p:graphicFrame>
            <p:nvGraphicFramePr>
              <p:cNvPr id="51" name="Table 50">
                <a:extLst>
                  <a:ext uri="{FF2B5EF4-FFF2-40B4-BE49-F238E27FC236}">
                    <a16:creationId xmlns:a16="http://schemas.microsoft.com/office/drawing/2014/main" id="{12F0963F-14D4-81AE-9C37-BBDE0A8D16F4}"/>
                  </a:ext>
                </a:extLst>
              </p:cNvPr>
              <p:cNvGraphicFramePr>
                <a:graphicFrameLocks noGrp="1"/>
              </p:cNvGraphicFramePr>
              <p:nvPr>
                <p:extLst>
                  <p:ext uri="{D42A27DB-BD31-4B8C-83A1-F6EECF244321}">
                    <p14:modId xmlns:p14="http://schemas.microsoft.com/office/powerpoint/2010/main" val="4129158666"/>
                  </p:ext>
                </p:extLst>
              </p:nvPr>
            </p:nvGraphicFramePr>
            <p:xfrm>
              <a:off x="9562143" y="5147544"/>
              <a:ext cx="722620" cy="741680"/>
            </p:xfrm>
            <a:graphic>
              <a:graphicData uri="http://schemas.openxmlformats.org/drawingml/2006/table">
                <a:tbl>
                  <a:tblPr firstRow="1" bandRow="1">
                    <a:tableStyleId>{69CF1AB2-1976-4502-BF36-3FF5EA218861}</a:tableStyleId>
                  </a:tblPr>
                  <a:tblGrid>
                    <a:gridCol w="722620">
                      <a:extLst>
                        <a:ext uri="{9D8B030D-6E8A-4147-A177-3AD203B41FA5}">
                          <a16:colId xmlns:a16="http://schemas.microsoft.com/office/drawing/2014/main" val="1020688925"/>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sv-SE" b="0" i="1" dirty="0" smtClean="0">
                                        <a:latin typeface="Cambria Math" panose="02040503050406030204" pitchFamily="18" charset="0"/>
                                      </a:rPr>
                                      <m:t>𝑧</m:t>
                                    </m:r>
                                  </m:e>
                                  <m:sub>
                                    <m:r>
                                      <a:rPr lang="en-US" b="0" i="1" dirty="0" smtClean="0">
                                        <a:latin typeface="Cambria Math" panose="02040503050406030204" pitchFamily="18" charset="0"/>
                                      </a:rPr>
                                      <m:t>𝑜</m:t>
                                    </m:r>
                                  </m:sub>
                                </m:sSub>
                              </m:oMath>
                            </m:oMathPara>
                          </a14:m>
                          <a:endParaRPr lang="en-US" b="0" i="1" dirty="0"/>
                        </a:p>
                      </a:txBody>
                      <a:tcPr/>
                    </a:tc>
                    <a:extLst>
                      <a:ext uri="{0D108BD9-81ED-4DB2-BD59-A6C34878D82A}">
                        <a16:rowId xmlns:a16="http://schemas.microsoft.com/office/drawing/2014/main" val="2645738857"/>
                      </a:ext>
                    </a:extLst>
                  </a:tr>
                  <a:tr h="370840">
                    <a:tc>
                      <a:txBody>
                        <a:bodyPr/>
                        <a:lstStyle/>
                        <a:p>
                          <a:r>
                            <a:rPr lang="en-US" dirty="0"/>
                            <a:t>2.333</a:t>
                          </a:r>
                        </a:p>
                      </a:txBody>
                      <a:tcPr/>
                    </a:tc>
                    <a:extLst>
                      <a:ext uri="{0D108BD9-81ED-4DB2-BD59-A6C34878D82A}">
                        <a16:rowId xmlns:a16="http://schemas.microsoft.com/office/drawing/2014/main" val="3490234227"/>
                      </a:ext>
                    </a:extLst>
                  </a:tr>
                </a:tbl>
              </a:graphicData>
            </a:graphic>
          </p:graphicFrame>
        </mc:Choice>
        <mc:Fallback xmlns="">
          <p:graphicFrame>
            <p:nvGraphicFramePr>
              <p:cNvPr id="51" name="Table 50">
                <a:extLst>
                  <a:ext uri="{FF2B5EF4-FFF2-40B4-BE49-F238E27FC236}">
                    <a16:creationId xmlns:a16="http://schemas.microsoft.com/office/drawing/2014/main" id="{12F0963F-14D4-81AE-9C37-BBDE0A8D16F4}"/>
                  </a:ext>
                </a:extLst>
              </p:cNvPr>
              <p:cNvGraphicFramePr>
                <a:graphicFrameLocks noGrp="1"/>
              </p:cNvGraphicFramePr>
              <p:nvPr>
                <p:extLst>
                  <p:ext uri="{D42A27DB-BD31-4B8C-83A1-F6EECF244321}">
                    <p14:modId xmlns:p14="http://schemas.microsoft.com/office/powerpoint/2010/main" val="4129158666"/>
                  </p:ext>
                </p:extLst>
              </p:nvPr>
            </p:nvGraphicFramePr>
            <p:xfrm>
              <a:off x="9562143" y="5147544"/>
              <a:ext cx="722620" cy="741680"/>
            </p:xfrm>
            <a:graphic>
              <a:graphicData uri="http://schemas.openxmlformats.org/drawingml/2006/table">
                <a:tbl>
                  <a:tblPr firstRow="1" bandRow="1">
                    <a:tableStyleId>{69CF1AB2-1976-4502-BF36-3FF5EA218861}</a:tableStyleId>
                  </a:tblPr>
                  <a:tblGrid>
                    <a:gridCol w="722620">
                      <a:extLst>
                        <a:ext uri="{9D8B030D-6E8A-4147-A177-3AD203B41FA5}">
                          <a16:colId xmlns:a16="http://schemas.microsoft.com/office/drawing/2014/main" val="1020688925"/>
                        </a:ext>
                      </a:extLst>
                    </a:gridCol>
                  </a:tblGrid>
                  <a:tr h="370840">
                    <a:tc>
                      <a:txBody>
                        <a:bodyPr/>
                        <a:lstStyle/>
                        <a:p>
                          <a:endParaRPr lang="en-US"/>
                        </a:p>
                      </a:txBody>
                      <a:tcPr>
                        <a:blipFill>
                          <a:blip r:embed="rId11"/>
                          <a:stretch>
                            <a:fillRect t="-3333" r="-3448" b="-123333"/>
                          </a:stretch>
                        </a:blipFill>
                      </a:tcPr>
                    </a:tc>
                    <a:extLst>
                      <a:ext uri="{0D108BD9-81ED-4DB2-BD59-A6C34878D82A}">
                        <a16:rowId xmlns:a16="http://schemas.microsoft.com/office/drawing/2014/main" val="2645738857"/>
                      </a:ext>
                    </a:extLst>
                  </a:tr>
                  <a:tr h="370840">
                    <a:tc>
                      <a:txBody>
                        <a:bodyPr/>
                        <a:lstStyle/>
                        <a:p>
                          <a:r>
                            <a:rPr lang="en-US" dirty="0"/>
                            <a:t>2.333</a:t>
                          </a:r>
                        </a:p>
                      </a:txBody>
                      <a:tcPr/>
                    </a:tc>
                    <a:extLst>
                      <a:ext uri="{0D108BD9-81ED-4DB2-BD59-A6C34878D82A}">
                        <a16:rowId xmlns:a16="http://schemas.microsoft.com/office/drawing/2014/main" val="3490234227"/>
                      </a:ext>
                    </a:extLst>
                  </a:tr>
                </a:tbl>
              </a:graphicData>
            </a:graphic>
          </p:graphicFrame>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1FE584B-0D36-7354-6B35-5907EA7EF125}"/>
                  </a:ext>
                </a:extLst>
              </p:cNvPr>
              <p:cNvSpPr txBox="1"/>
              <p:nvPr/>
            </p:nvSpPr>
            <p:spPr>
              <a:xfrm>
                <a:off x="5183471" y="3105720"/>
                <a:ext cx="671659" cy="3931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dirty="0" smtClean="0">
                              <a:latin typeface="Cambria Math" panose="02040503050406030204" pitchFamily="18" charset="0"/>
                            </a:rPr>
                          </m:ctrlPr>
                        </m:sSubPr>
                        <m:e>
                          <m:r>
                            <a:rPr lang="en-US" i="1" dirty="0" smtClean="0">
                              <a:latin typeface="Cambria Math" panose="02040503050406030204" pitchFamily="18" charset="0"/>
                            </a:rPr>
                            <m:t>𝑍</m:t>
                          </m:r>
                        </m:e>
                        <m:sub>
                          <m:r>
                            <a:rPr lang="sv-SE" b="0" i="1" dirty="0" smtClean="0">
                              <a:latin typeface="Cambria Math" panose="02040503050406030204" pitchFamily="18" charset="0"/>
                            </a:rPr>
                            <m:t>h</m:t>
                          </m:r>
                          <m:sSub>
                            <m:sSubPr>
                              <m:ctrlPr>
                                <a:rPr lang="sv-SE" b="0" i="1" dirty="0" smtClean="0">
                                  <a:latin typeface="Cambria Math" panose="02040503050406030204" pitchFamily="18" charset="0"/>
                                </a:rPr>
                              </m:ctrlPr>
                            </m:sSubPr>
                            <m:e>
                              <m:r>
                                <a:rPr lang="sv-SE" b="0" i="1" dirty="0" smtClean="0">
                                  <a:latin typeface="Cambria Math" panose="02040503050406030204" pitchFamily="18" charset="0"/>
                                </a:rPr>
                                <m:t>1</m:t>
                              </m:r>
                            </m:e>
                            <m:sub>
                              <m:r>
                                <a:rPr lang="sv-SE" b="0" i="1" dirty="0" smtClean="0">
                                  <a:latin typeface="Cambria Math" panose="02040503050406030204" pitchFamily="18" charset="0"/>
                                </a:rPr>
                                <m:t>1</m:t>
                              </m:r>
                            </m:sub>
                          </m:sSub>
                        </m:sub>
                      </m:sSub>
                    </m:oMath>
                  </m:oMathPara>
                </a14:m>
                <a:endParaRPr lang="en-US" dirty="0"/>
              </a:p>
            </p:txBody>
          </p:sp>
        </mc:Choice>
        <mc:Fallback xmlns="">
          <p:sp>
            <p:nvSpPr>
              <p:cNvPr id="52" name="TextBox 51">
                <a:extLst>
                  <a:ext uri="{FF2B5EF4-FFF2-40B4-BE49-F238E27FC236}">
                    <a16:creationId xmlns:a16="http://schemas.microsoft.com/office/drawing/2014/main" id="{61FE584B-0D36-7354-6B35-5907EA7EF125}"/>
                  </a:ext>
                </a:extLst>
              </p:cNvPr>
              <p:cNvSpPr txBox="1">
                <a:spLocks noRot="1" noChangeAspect="1" noMove="1" noResize="1" noEditPoints="1" noAdjustHandles="1" noChangeArrowheads="1" noChangeShapeType="1" noTextEdit="1"/>
              </p:cNvSpPr>
              <p:nvPr/>
            </p:nvSpPr>
            <p:spPr>
              <a:xfrm>
                <a:off x="5183471" y="3105720"/>
                <a:ext cx="671659" cy="393121"/>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18C5307-E228-84DB-DE87-F042E084D819}"/>
                  </a:ext>
                </a:extLst>
              </p:cNvPr>
              <p:cNvSpPr txBox="1"/>
              <p:nvPr/>
            </p:nvSpPr>
            <p:spPr>
              <a:xfrm>
                <a:off x="5173538" y="3468755"/>
                <a:ext cx="671658" cy="3931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dirty="0" smtClean="0">
                              <a:latin typeface="Cambria Math" panose="02040503050406030204" pitchFamily="18" charset="0"/>
                            </a:rPr>
                          </m:ctrlPr>
                        </m:sSubPr>
                        <m:e>
                          <m:r>
                            <a:rPr lang="en-US" i="1" dirty="0" smtClean="0">
                              <a:latin typeface="Cambria Math" panose="02040503050406030204" pitchFamily="18" charset="0"/>
                            </a:rPr>
                            <m:t>𝑍</m:t>
                          </m:r>
                        </m:e>
                        <m:sub>
                          <m:r>
                            <a:rPr lang="sv-SE" b="0" i="1" dirty="0" smtClean="0">
                              <a:latin typeface="Cambria Math" panose="02040503050406030204" pitchFamily="18" charset="0"/>
                            </a:rPr>
                            <m:t>h</m:t>
                          </m:r>
                          <m:sSub>
                            <m:sSubPr>
                              <m:ctrlPr>
                                <a:rPr lang="sv-SE" b="0" i="1" dirty="0" smtClean="0">
                                  <a:latin typeface="Cambria Math" panose="02040503050406030204" pitchFamily="18" charset="0"/>
                                </a:rPr>
                              </m:ctrlPr>
                            </m:sSubPr>
                            <m:e>
                              <m:r>
                                <a:rPr lang="sv-SE" b="0" i="1" dirty="0" smtClean="0">
                                  <a:latin typeface="Cambria Math" panose="02040503050406030204" pitchFamily="18" charset="0"/>
                                </a:rPr>
                                <m:t>1</m:t>
                              </m:r>
                            </m:e>
                            <m:sub>
                              <m:r>
                                <a:rPr lang="sv-SE" b="0" i="1" dirty="0" smtClean="0">
                                  <a:latin typeface="Cambria Math" panose="02040503050406030204" pitchFamily="18" charset="0"/>
                                </a:rPr>
                                <m:t>2</m:t>
                              </m:r>
                            </m:sub>
                          </m:sSub>
                        </m:sub>
                      </m:sSub>
                    </m:oMath>
                  </m:oMathPara>
                </a14:m>
                <a:endParaRPr lang="en-US" dirty="0"/>
              </a:p>
            </p:txBody>
          </p:sp>
        </mc:Choice>
        <mc:Fallback xmlns="">
          <p:sp>
            <p:nvSpPr>
              <p:cNvPr id="53" name="TextBox 52">
                <a:extLst>
                  <a:ext uri="{FF2B5EF4-FFF2-40B4-BE49-F238E27FC236}">
                    <a16:creationId xmlns:a16="http://schemas.microsoft.com/office/drawing/2014/main" id="{418C5307-E228-84DB-DE87-F042E084D819}"/>
                  </a:ext>
                </a:extLst>
              </p:cNvPr>
              <p:cNvSpPr txBox="1">
                <a:spLocks noRot="1" noChangeAspect="1" noMove="1" noResize="1" noEditPoints="1" noAdjustHandles="1" noChangeArrowheads="1" noChangeShapeType="1" noTextEdit="1"/>
              </p:cNvSpPr>
              <p:nvPr/>
            </p:nvSpPr>
            <p:spPr>
              <a:xfrm>
                <a:off x="5173538" y="3468755"/>
                <a:ext cx="671658" cy="39312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87F2A429-E608-D33A-F082-8FEA9B11BC3A}"/>
                  </a:ext>
                </a:extLst>
              </p:cNvPr>
              <p:cNvSpPr txBox="1"/>
              <p:nvPr/>
            </p:nvSpPr>
            <p:spPr>
              <a:xfrm>
                <a:off x="5156947" y="3875101"/>
                <a:ext cx="671658" cy="3944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sv-SE" b="0" i="1" dirty="0" smtClean="0">
                              <a:latin typeface="Cambria Math" panose="02040503050406030204" pitchFamily="18" charset="0"/>
                            </a:rPr>
                          </m:ctrlPr>
                        </m:sSubPr>
                        <m:e>
                          <m:r>
                            <a:rPr lang="en-US" i="1" dirty="0" smtClean="0">
                              <a:latin typeface="Cambria Math" panose="02040503050406030204" pitchFamily="18" charset="0"/>
                            </a:rPr>
                            <m:t>𝑍</m:t>
                          </m:r>
                        </m:e>
                        <m:sub>
                          <m:r>
                            <a:rPr lang="sv-SE" b="0" i="1" dirty="0" smtClean="0">
                              <a:latin typeface="Cambria Math" panose="02040503050406030204" pitchFamily="18" charset="0"/>
                            </a:rPr>
                            <m:t>h</m:t>
                          </m:r>
                          <m:sSub>
                            <m:sSubPr>
                              <m:ctrlPr>
                                <a:rPr lang="sv-SE" b="0" i="1" dirty="0" smtClean="0">
                                  <a:latin typeface="Cambria Math" panose="02040503050406030204" pitchFamily="18" charset="0"/>
                                </a:rPr>
                              </m:ctrlPr>
                            </m:sSubPr>
                            <m:e>
                              <m:r>
                                <a:rPr lang="sv-SE" b="0" i="1" dirty="0" smtClean="0">
                                  <a:latin typeface="Cambria Math" panose="02040503050406030204" pitchFamily="18" charset="0"/>
                                </a:rPr>
                                <m:t>1</m:t>
                              </m:r>
                            </m:e>
                            <m:sub>
                              <m:r>
                                <a:rPr lang="sv-SE" b="0" i="1" dirty="0" smtClean="0">
                                  <a:latin typeface="Cambria Math" panose="02040503050406030204" pitchFamily="18" charset="0"/>
                                </a:rPr>
                                <m:t>3</m:t>
                              </m:r>
                            </m:sub>
                          </m:sSub>
                        </m:sub>
                      </m:sSub>
                    </m:oMath>
                  </m:oMathPara>
                </a14:m>
                <a:endParaRPr lang="en-US" dirty="0"/>
              </a:p>
            </p:txBody>
          </p:sp>
        </mc:Choice>
        <mc:Fallback xmlns="">
          <p:sp>
            <p:nvSpPr>
              <p:cNvPr id="54" name="TextBox 53">
                <a:extLst>
                  <a:ext uri="{FF2B5EF4-FFF2-40B4-BE49-F238E27FC236}">
                    <a16:creationId xmlns:a16="http://schemas.microsoft.com/office/drawing/2014/main" id="{87F2A429-E608-D33A-F082-8FEA9B11BC3A}"/>
                  </a:ext>
                </a:extLst>
              </p:cNvPr>
              <p:cNvSpPr txBox="1">
                <a:spLocks noRot="1" noChangeAspect="1" noMove="1" noResize="1" noEditPoints="1" noAdjustHandles="1" noChangeArrowheads="1" noChangeShapeType="1" noTextEdit="1"/>
              </p:cNvSpPr>
              <p:nvPr/>
            </p:nvSpPr>
            <p:spPr>
              <a:xfrm>
                <a:off x="5156947" y="3875101"/>
                <a:ext cx="671658" cy="394403"/>
              </a:xfrm>
              <a:prstGeom prst="rect">
                <a:avLst/>
              </a:prstGeom>
              <a:blipFill>
                <a:blip r:embed="rId14"/>
                <a:stretch>
                  <a:fillRect/>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6F0FCBF8-68BC-0318-060D-A6A958C0F084}"/>
              </a:ext>
            </a:extLst>
          </p:cNvPr>
          <p:cNvSpPr>
            <a:spLocks noGrp="1"/>
          </p:cNvSpPr>
          <p:nvPr>
            <p:ph type="dt" sz="half" idx="10"/>
          </p:nvPr>
        </p:nvSpPr>
        <p:spPr/>
        <p:txBody>
          <a:bodyPr/>
          <a:lstStyle/>
          <a:p>
            <a:fld id="{0E1707CF-9F63-9F48-A8E0-7B2E7BDBB41F}" type="datetime1">
              <a:rPr lang="en-US" noProof="0" smtClean="0"/>
              <a:t>2/23/26</a:t>
            </a:fld>
            <a:endParaRPr lang="en-GB" noProof="0"/>
          </a:p>
        </p:txBody>
      </p:sp>
      <p:sp>
        <p:nvSpPr>
          <p:cNvPr id="4" name="Slide Number Placeholder 3">
            <a:extLst>
              <a:ext uri="{FF2B5EF4-FFF2-40B4-BE49-F238E27FC236}">
                <a16:creationId xmlns:a16="http://schemas.microsoft.com/office/drawing/2014/main" id="{FEB650F1-CD3C-F14C-277D-D247D6CB5D55}"/>
              </a:ext>
            </a:extLst>
          </p:cNvPr>
          <p:cNvSpPr>
            <a:spLocks noGrp="1"/>
          </p:cNvSpPr>
          <p:nvPr>
            <p:ph type="sldNum" sz="quarter" idx="12"/>
          </p:nvPr>
        </p:nvSpPr>
        <p:spPr/>
        <p:txBody>
          <a:bodyPr/>
          <a:lstStyle/>
          <a:p>
            <a:fld id="{B716C8F4-20CD-364A-8A8E-DE130115B178}" type="slidenum">
              <a:rPr lang="en-GB" noProof="0" smtClean="0"/>
              <a:pPr/>
              <a:t>18</a:t>
            </a:fld>
            <a:endParaRPr lang="en-GB" noProof="0"/>
          </a:p>
        </p:txBody>
      </p:sp>
    </p:spTree>
    <p:extLst>
      <p:ext uri="{BB962C8B-B14F-4D97-AF65-F5344CB8AC3E}">
        <p14:creationId xmlns:p14="http://schemas.microsoft.com/office/powerpoint/2010/main" val="2276679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F36A9-FF73-BFE1-71B4-ADCA235A1258}"/>
              </a:ext>
            </a:extLst>
          </p:cNvPr>
          <p:cNvSpPr>
            <a:spLocks noGrp="1"/>
          </p:cNvSpPr>
          <p:nvPr>
            <p:ph type="title"/>
          </p:nvPr>
        </p:nvSpPr>
        <p:spPr/>
        <p:txBody>
          <a:bodyPr/>
          <a:lstStyle/>
          <a:p>
            <a:r>
              <a:rPr lang="en-US" dirty="0"/>
              <a:t>Error Calculation </a:t>
            </a:r>
          </a:p>
        </p:txBody>
      </p:sp>
      <p:sp>
        <p:nvSpPr>
          <p:cNvPr id="3" name="Text Placeholder 2">
            <a:extLst>
              <a:ext uri="{FF2B5EF4-FFF2-40B4-BE49-F238E27FC236}">
                <a16:creationId xmlns:a16="http://schemas.microsoft.com/office/drawing/2014/main" id="{16ECBED6-E51C-6372-56E3-1B410C98B910}"/>
              </a:ext>
            </a:extLst>
          </p:cNvPr>
          <p:cNvSpPr>
            <a:spLocks noGrp="1"/>
          </p:cNvSpPr>
          <p:nvPr>
            <p:ph type="body" idx="1"/>
          </p:nvPr>
        </p:nvSpPr>
        <p:spPr>
          <a:xfrm>
            <a:off x="980564" y="4573823"/>
            <a:ext cx="10142547" cy="962681"/>
          </a:xfrm>
        </p:spPr>
        <p:txBody>
          <a:bodyPr/>
          <a:lstStyle/>
          <a:p>
            <a:r>
              <a:rPr lang="en-US" sz="2400" dirty="0">
                <a:latin typeface="+mn-lt"/>
              </a:rPr>
              <a:t>From now on we will use </a:t>
            </a:r>
            <a:r>
              <a:rPr lang="en-US" sz="2400" b="1" dirty="0">
                <a:latin typeface="+mn-lt"/>
              </a:rPr>
              <a:t>Binary Cross-Entropy Loss </a:t>
            </a:r>
            <a:r>
              <a:rPr lang="en-US" sz="2400" dirty="0">
                <a:latin typeface="+mn-lt"/>
              </a:rPr>
              <a:t>in the following slides</a:t>
            </a:r>
          </a:p>
        </p:txBody>
      </p:sp>
      <p:pic>
        <p:nvPicPr>
          <p:cNvPr id="7" name="Picture 6" descr="A white background with black text&#10;&#10;AI-generated content may be incorrect.">
            <a:extLst>
              <a:ext uri="{FF2B5EF4-FFF2-40B4-BE49-F238E27FC236}">
                <a16:creationId xmlns:a16="http://schemas.microsoft.com/office/drawing/2014/main" id="{08D8DD90-875A-34B7-DFDC-CADE42BE8433}"/>
              </a:ext>
            </a:extLst>
          </p:cNvPr>
          <p:cNvPicPr>
            <a:picLocks noChangeAspect="1"/>
          </p:cNvPicPr>
          <p:nvPr/>
        </p:nvPicPr>
        <p:blipFill>
          <a:blip r:embed="rId2"/>
          <a:stretch>
            <a:fillRect/>
          </a:stretch>
        </p:blipFill>
        <p:spPr>
          <a:xfrm>
            <a:off x="980565" y="1490117"/>
            <a:ext cx="8547991" cy="2703090"/>
          </a:xfrm>
          <a:prstGeom prst="rect">
            <a:avLst/>
          </a:prstGeom>
        </p:spPr>
      </p:pic>
      <p:sp>
        <p:nvSpPr>
          <p:cNvPr id="4" name="Slide Number Placeholder 3">
            <a:extLst>
              <a:ext uri="{FF2B5EF4-FFF2-40B4-BE49-F238E27FC236}">
                <a16:creationId xmlns:a16="http://schemas.microsoft.com/office/drawing/2014/main" id="{65D904A8-28EB-BE3E-3AA8-171A5E36B5E8}"/>
              </a:ext>
            </a:extLst>
          </p:cNvPr>
          <p:cNvSpPr>
            <a:spLocks noGrp="1"/>
          </p:cNvSpPr>
          <p:nvPr>
            <p:ph type="sldNum" idx="12"/>
          </p:nvPr>
        </p:nvSpPr>
        <p:spPr/>
        <p:txBody>
          <a:bodyPr/>
          <a:lstStyle/>
          <a:p>
            <a:fld id="{00000000-1234-1234-1234-123412341234}" type="slidenum">
              <a:rPr lang="en-GB" smtClean="0"/>
              <a:pPr/>
              <a:t>19</a:t>
            </a:fld>
            <a:endParaRPr lang="en-GB"/>
          </a:p>
        </p:txBody>
      </p:sp>
    </p:spTree>
    <p:extLst>
      <p:ext uri="{BB962C8B-B14F-4D97-AF65-F5344CB8AC3E}">
        <p14:creationId xmlns:p14="http://schemas.microsoft.com/office/powerpoint/2010/main" val="806216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4833-56B3-106A-A80A-17C1085673E6}"/>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90B1C49-35EE-04D6-B099-128665C50A20}"/>
                  </a:ext>
                </a:extLst>
              </p:cNvPr>
              <p:cNvSpPr>
                <a:spLocks noGrp="1"/>
              </p:cNvSpPr>
              <p:nvPr>
                <p:ph type="body" idx="1"/>
              </p:nvPr>
            </p:nvSpPr>
            <p:spPr>
              <a:xfrm>
                <a:off x="415600" y="1526083"/>
                <a:ext cx="8601078" cy="4226535"/>
              </a:xfrm>
            </p:spPr>
            <p:txBody>
              <a:bodyPr/>
              <a:lstStyle/>
              <a:p>
                <a14:m>
                  <m:oMath xmlns:m="http://schemas.openxmlformats.org/officeDocument/2006/math">
                    <m:r>
                      <a:rPr lang="en-US" sz="2400" i="1" dirty="0" smtClean="0">
                        <a:latin typeface="Cambria Math" panose="02040503050406030204" pitchFamily="18" charset="0"/>
                      </a:rPr>
                      <m:t>𝐹𝑟𝑜𝑚</m:t>
                    </m:r>
                    <m:r>
                      <a:rPr lang="en-US" sz="2400" i="1" dirty="0" smtClean="0">
                        <a:latin typeface="Cambria Math" panose="02040503050406030204" pitchFamily="18" charset="0"/>
                      </a:rPr>
                      <m:t> </m:t>
                    </m:r>
                    <m:r>
                      <a:rPr lang="en-US" sz="2400" i="1" dirty="0" smtClean="0">
                        <a:latin typeface="Cambria Math" panose="02040503050406030204" pitchFamily="18" charset="0"/>
                      </a:rPr>
                      <m:t>𝑡h𝑒</m:t>
                    </m:r>
                    <m:r>
                      <a:rPr lang="en-US" sz="2400" i="1" dirty="0" smtClean="0">
                        <a:latin typeface="Cambria Math" panose="02040503050406030204" pitchFamily="18" charset="0"/>
                      </a:rPr>
                      <m:t> </m:t>
                    </m:r>
                    <m:r>
                      <a:rPr lang="en-US" sz="2400" b="1" i="1" dirty="0" smtClean="0">
                        <a:latin typeface="Cambria Math" panose="02040503050406030204" pitchFamily="18" charset="0"/>
                      </a:rPr>
                      <m:t>𝒇𝒐𝒓𝒘𝒂𝒓𝒅</m:t>
                    </m:r>
                    <m:r>
                      <a:rPr lang="en-US" sz="2400" b="1" i="1" dirty="0" smtClean="0">
                        <a:latin typeface="Cambria Math" panose="02040503050406030204" pitchFamily="18" charset="0"/>
                      </a:rPr>
                      <m:t> </m:t>
                    </m:r>
                    <m:r>
                      <a:rPr lang="en-US" sz="2400" b="1" i="1" dirty="0" smtClean="0">
                        <a:latin typeface="Cambria Math" panose="02040503050406030204" pitchFamily="18" charset="0"/>
                      </a:rPr>
                      <m:t>𝒑𝒂𝒔𝒔</m:t>
                    </m:r>
                    <m:r>
                      <a:rPr lang="en-US" sz="2400" i="1" dirty="0" smtClean="0">
                        <a:latin typeface="Cambria Math" panose="02040503050406030204" pitchFamily="18" charset="0"/>
                      </a:rPr>
                      <m:t>, </m:t>
                    </m:r>
                    <m:r>
                      <a:rPr lang="en-US" sz="2400" i="1" dirty="0" smtClean="0">
                        <a:latin typeface="Cambria Math" panose="02040503050406030204" pitchFamily="18" charset="0"/>
                      </a:rPr>
                      <m:t>𝑤𝑒</m:t>
                    </m:r>
                    <m:r>
                      <a:rPr lang="en-US" sz="2400" i="1" dirty="0" smtClean="0">
                        <a:latin typeface="Cambria Math" panose="02040503050406030204" pitchFamily="18" charset="0"/>
                      </a:rPr>
                      <m:t> </m:t>
                    </m:r>
                    <m:r>
                      <a:rPr lang="en-US" sz="2400" i="1" dirty="0" smtClean="0">
                        <a:latin typeface="Cambria Math" panose="02040503050406030204" pitchFamily="18" charset="0"/>
                      </a:rPr>
                      <m:t>𝑔𝑜𝑡</m:t>
                    </m:r>
                    <m:r>
                      <a:rPr lang="en-US" sz="2400" i="1" dirty="0" smtClean="0">
                        <a:latin typeface="Cambria Math" panose="02040503050406030204" pitchFamily="18" charset="0"/>
                      </a:rPr>
                      <m:t>:</m:t>
                    </m:r>
                  </m:oMath>
                </a14:m>
                <a:endParaRPr lang="sv-SE" sz="2400" i="1" dirty="0">
                  <a:latin typeface="Cambria Math" panose="02040503050406030204" pitchFamily="18" charset="0"/>
                </a:endParaRPr>
              </a:p>
              <a:p>
                <a:pPr lvl="1"/>
                <a14:m>
                  <m:oMath xmlns:m="http://schemas.openxmlformats.org/officeDocument/2006/math">
                    <m:acc>
                      <m:accPr>
                        <m:chr m:val="̂"/>
                        <m:ctrlPr>
                          <a:rPr lang="en-US" sz="2200" i="1" dirty="0" smtClean="0">
                            <a:latin typeface="Cambria Math" panose="02040503050406030204" pitchFamily="18" charset="0"/>
                          </a:rPr>
                        </m:ctrlPr>
                      </m:accPr>
                      <m:e>
                        <m:r>
                          <a:rPr lang="sv-SE" sz="2200" b="0" i="1" dirty="0" smtClean="0">
                            <a:latin typeface="Cambria Math" panose="02040503050406030204" pitchFamily="18" charset="0"/>
                          </a:rPr>
                          <m:t>𝑦</m:t>
                        </m:r>
                      </m:e>
                    </m:acc>
                    <m:r>
                      <a:rPr lang="sv-SE" sz="2200" b="0" i="1" dirty="0" smtClean="0">
                        <a:latin typeface="Cambria Math" panose="02040503050406030204" pitchFamily="18" charset="0"/>
                      </a:rPr>
                      <m:t> </m:t>
                    </m:r>
                    <m:r>
                      <a:rPr lang="en-US" sz="2200" i="1" dirty="0" smtClean="0">
                        <a:latin typeface="Cambria Math" panose="02040503050406030204" pitchFamily="18" charset="0"/>
                      </a:rPr>
                      <m:t> = 0.903 </m:t>
                    </m:r>
                    <m:d>
                      <m:dPr>
                        <m:ctrlPr>
                          <a:rPr lang="en-US" sz="2200" i="1" dirty="0" smtClean="0">
                            <a:latin typeface="Cambria Math" panose="02040503050406030204" pitchFamily="18" charset="0"/>
                          </a:rPr>
                        </m:ctrlPr>
                      </m:dPr>
                      <m:e>
                        <m:r>
                          <a:rPr lang="en-US" sz="2200" i="1" dirty="0" smtClean="0">
                            <a:latin typeface="Cambria Math" panose="02040503050406030204" pitchFamily="18" charset="0"/>
                          </a:rPr>
                          <m:t>𝑃𝑟𝑒𝑑𝑖𝑐𝑡𝑒𝑑</m:t>
                        </m:r>
                        <m:r>
                          <a:rPr lang="en-US" sz="2200" i="1" dirty="0" smtClean="0">
                            <a:latin typeface="Cambria Math" panose="02040503050406030204" pitchFamily="18" charset="0"/>
                          </a:rPr>
                          <m:t> </m:t>
                        </m:r>
                        <m:r>
                          <a:rPr lang="en-US" sz="2200" i="1" dirty="0" smtClean="0">
                            <a:latin typeface="Cambria Math" panose="02040503050406030204" pitchFamily="18" charset="0"/>
                          </a:rPr>
                          <m:t>𝑂𝑢𝑡𝑝𝑢𝑡</m:t>
                        </m:r>
                      </m:e>
                    </m:d>
                  </m:oMath>
                </a14:m>
                <a:endParaRPr lang="sv-SE" sz="2200" i="1" dirty="0">
                  <a:latin typeface="Cambria Math" panose="02040503050406030204" pitchFamily="18" charset="0"/>
                </a:endParaRPr>
              </a:p>
              <a:p>
                <a:pPr lvl="1"/>
                <a14:m>
                  <m:oMath xmlns:m="http://schemas.openxmlformats.org/officeDocument/2006/math">
                    <m:r>
                      <a:rPr lang="en-US" sz="2200" i="1" dirty="0" smtClean="0">
                        <a:latin typeface="Cambria Math" panose="02040503050406030204" pitchFamily="18" charset="0"/>
                      </a:rPr>
                      <m:t>𝑦</m:t>
                    </m:r>
                    <m:r>
                      <a:rPr lang="en-US" sz="2200" i="1" dirty="0" smtClean="0">
                        <a:latin typeface="Cambria Math" panose="02040503050406030204" pitchFamily="18" charset="0"/>
                      </a:rPr>
                      <m:t>=1 (</m:t>
                    </m:r>
                    <m:r>
                      <a:rPr lang="en-US" sz="2200" i="1" dirty="0" smtClean="0">
                        <a:latin typeface="Cambria Math" panose="02040503050406030204" pitchFamily="18" charset="0"/>
                      </a:rPr>
                      <m:t>𝐴𝑐𝑡𝑢𝑎𝑙</m:t>
                    </m:r>
                    <m:r>
                      <a:rPr lang="en-US" sz="2200" i="1" dirty="0" smtClean="0">
                        <a:latin typeface="Cambria Math" panose="02040503050406030204" pitchFamily="18" charset="0"/>
                      </a:rPr>
                      <m:t> </m:t>
                    </m:r>
                    <m:r>
                      <a:rPr lang="en-US" sz="2200" i="1" dirty="0" smtClean="0">
                        <a:latin typeface="Cambria Math" panose="02040503050406030204" pitchFamily="18" charset="0"/>
                      </a:rPr>
                      <m:t>𝐿𝑎𝑏𝑒𝑙</m:t>
                    </m:r>
                    <m:r>
                      <a:rPr lang="en-US" sz="2200" i="1" dirty="0" smtClean="0">
                        <a:latin typeface="Cambria Math" panose="02040503050406030204" pitchFamily="18" charset="0"/>
                      </a:rPr>
                      <m:t>)</m:t>
                    </m:r>
                  </m:oMath>
                </a14:m>
                <a:endParaRPr lang="en-US" sz="2200" dirty="0"/>
              </a:p>
              <a:p>
                <a14:m>
                  <m:oMath xmlns:m="http://schemas.openxmlformats.org/officeDocument/2006/math">
                    <m:r>
                      <a:rPr lang="en-US" sz="2400" i="1" dirty="0" smtClean="0">
                        <a:latin typeface="Cambria Math" panose="02040503050406030204" pitchFamily="18" charset="0"/>
                      </a:rPr>
                      <m:t>𝑁𝑜𝑤</m:t>
                    </m:r>
                    <m:r>
                      <a:rPr lang="en-US" sz="2400" i="1" dirty="0" smtClean="0">
                        <a:latin typeface="Cambria Math" panose="02040503050406030204" pitchFamily="18" charset="0"/>
                      </a:rPr>
                      <m:t>, </m:t>
                    </m:r>
                    <m:r>
                      <a:rPr lang="en-US" sz="2400" i="1" dirty="0" smtClean="0">
                        <a:latin typeface="Cambria Math" panose="02040503050406030204" pitchFamily="18" charset="0"/>
                      </a:rPr>
                      <m:t>𝑠𝑢𝑏𝑠𝑡𝑖𝑡𝑢𝑡𝑖𝑛𝑔</m:t>
                    </m:r>
                    <m:r>
                      <a:rPr lang="en-US" sz="2400" i="1" dirty="0" smtClean="0">
                        <a:latin typeface="Cambria Math" panose="02040503050406030204" pitchFamily="18" charset="0"/>
                      </a:rPr>
                      <m:t> </m:t>
                    </m:r>
                    <m:r>
                      <a:rPr lang="en-US" sz="2400" i="1" dirty="0" smtClean="0">
                        <a:latin typeface="Cambria Math" panose="02040503050406030204" pitchFamily="18" charset="0"/>
                      </a:rPr>
                      <m:t>𝑣𝑎𝑙𝑢𝑒𝑠</m:t>
                    </m:r>
                    <m:r>
                      <a:rPr lang="en-US" sz="2400" i="1" dirty="0" smtClean="0">
                        <a:latin typeface="Cambria Math" panose="02040503050406030204" pitchFamily="18" charset="0"/>
                      </a:rPr>
                      <m:t>:</m:t>
                    </m:r>
                  </m:oMath>
                </a14:m>
                <a:endParaRPr lang="en-US" sz="2400" dirty="0"/>
              </a:p>
              <a:p>
                <a:pPr lvl="1"/>
                <a14:m>
                  <m:oMath xmlns:m="http://schemas.openxmlformats.org/officeDocument/2006/math">
                    <m:r>
                      <a:rPr lang="en-US" sz="2200" i="1" dirty="0" smtClean="0">
                        <a:latin typeface="Cambria Math" panose="02040503050406030204" pitchFamily="18" charset="0"/>
                      </a:rPr>
                      <m:t>𝐿</m:t>
                    </m:r>
                    <m:r>
                      <a:rPr lang="en-US" sz="2200" i="1" dirty="0" smtClean="0">
                        <a:latin typeface="Cambria Math" panose="02040503050406030204" pitchFamily="18" charset="0"/>
                      </a:rPr>
                      <m:t>=−</m:t>
                    </m:r>
                    <m:d>
                      <m:dPr>
                        <m:ctrlPr>
                          <a:rPr lang="en-US" sz="2200" i="1" dirty="0" smtClean="0">
                            <a:latin typeface="Cambria Math" panose="02040503050406030204" pitchFamily="18" charset="0"/>
                          </a:rPr>
                        </m:ctrlPr>
                      </m:dPr>
                      <m:e>
                        <m:r>
                          <a:rPr lang="en-US" sz="2200" i="1" dirty="0" smtClean="0">
                            <a:latin typeface="Cambria Math" panose="02040503050406030204" pitchFamily="18" charset="0"/>
                          </a:rPr>
                          <m:t>1⋅</m:t>
                        </m:r>
                        <m:func>
                          <m:funcPr>
                            <m:ctrlPr>
                              <a:rPr lang="en-US" sz="2200" i="1" dirty="0" smtClean="0">
                                <a:latin typeface="Cambria Math" panose="02040503050406030204" pitchFamily="18" charset="0"/>
                              </a:rPr>
                            </m:ctrlPr>
                          </m:funcPr>
                          <m:fName>
                            <m:r>
                              <m:rPr>
                                <m:sty m:val="p"/>
                              </m:rPr>
                              <a:rPr lang="en-US" sz="2200" i="0" dirty="0" smtClean="0">
                                <a:latin typeface="Cambria Math" panose="02040503050406030204" pitchFamily="18" charset="0"/>
                              </a:rPr>
                              <m:t>log</m:t>
                            </m:r>
                          </m:fName>
                          <m:e>
                            <m:d>
                              <m:dPr>
                                <m:ctrlPr>
                                  <a:rPr lang="en-US" sz="2200" i="1" dirty="0" smtClean="0">
                                    <a:latin typeface="Cambria Math" panose="02040503050406030204" pitchFamily="18" charset="0"/>
                                  </a:rPr>
                                </m:ctrlPr>
                              </m:dPr>
                              <m:e>
                                <m:r>
                                  <a:rPr lang="en-US" sz="2200" i="1" dirty="0" smtClean="0">
                                    <a:latin typeface="Cambria Math" panose="02040503050406030204" pitchFamily="18" charset="0"/>
                                  </a:rPr>
                                  <m:t>0.903</m:t>
                                </m:r>
                              </m:e>
                            </m:d>
                          </m:e>
                        </m:func>
                        <m:r>
                          <a:rPr lang="en-US" sz="2200" i="1" dirty="0" smtClean="0">
                            <a:latin typeface="Cambria Math" panose="02040503050406030204" pitchFamily="18" charset="0"/>
                          </a:rPr>
                          <m:t>+0⋅</m:t>
                        </m:r>
                        <m:func>
                          <m:funcPr>
                            <m:ctrlPr>
                              <a:rPr lang="en-US" sz="2200" i="1" dirty="0" smtClean="0">
                                <a:latin typeface="Cambria Math" panose="02040503050406030204" pitchFamily="18" charset="0"/>
                              </a:rPr>
                            </m:ctrlPr>
                          </m:funcPr>
                          <m:fName>
                            <m:r>
                              <m:rPr>
                                <m:sty m:val="p"/>
                              </m:rPr>
                              <a:rPr lang="en-US" sz="2200" i="0" dirty="0" smtClean="0">
                                <a:latin typeface="Cambria Math" panose="02040503050406030204" pitchFamily="18" charset="0"/>
                              </a:rPr>
                              <m:t>log</m:t>
                            </m:r>
                          </m:fName>
                          <m:e>
                            <m:d>
                              <m:dPr>
                                <m:ctrlPr>
                                  <a:rPr lang="en-US" sz="2200" i="1" dirty="0" smtClean="0">
                                    <a:latin typeface="Cambria Math" panose="02040503050406030204" pitchFamily="18" charset="0"/>
                                  </a:rPr>
                                </m:ctrlPr>
                              </m:dPr>
                              <m:e>
                                <m:r>
                                  <a:rPr lang="en-US" sz="2200" i="1" dirty="0" smtClean="0">
                                    <a:latin typeface="Cambria Math" panose="02040503050406030204" pitchFamily="18" charset="0"/>
                                  </a:rPr>
                                  <m:t>1−0.903</m:t>
                                </m:r>
                              </m:e>
                            </m:d>
                          </m:e>
                        </m:func>
                      </m:e>
                    </m:d>
                    <m:r>
                      <a:rPr lang="en-US" sz="2200" i="1" dirty="0" smtClean="0">
                        <a:latin typeface="Cambria Math" panose="02040503050406030204" pitchFamily="18" charset="0"/>
                      </a:rPr>
                      <m:t>≈0.102</m:t>
                    </m:r>
                  </m:oMath>
                </a14:m>
                <a:endParaRPr lang="sv-SE" sz="2200" i="1" dirty="0">
                  <a:latin typeface="Cambria Math" panose="02040503050406030204" pitchFamily="18" charset="0"/>
                </a:endParaRPr>
              </a:p>
              <a:p>
                <a:pPr lvl="1"/>
                <a14:m>
                  <m:oMath xmlns:m="http://schemas.openxmlformats.org/officeDocument/2006/math">
                    <m:r>
                      <a:rPr lang="en-US" sz="2200" i="1" dirty="0" smtClean="0">
                        <a:latin typeface="Cambria Math" panose="02040503050406030204" pitchFamily="18" charset="0"/>
                      </a:rPr>
                      <m:t>𝑇h𝑢𝑠</m:t>
                    </m:r>
                    <m:r>
                      <a:rPr lang="en-US" sz="2200" i="1" dirty="0" smtClean="0">
                        <a:latin typeface="Cambria Math" panose="02040503050406030204" pitchFamily="18" charset="0"/>
                      </a:rPr>
                      <m:t>, </m:t>
                    </m:r>
                    <m:r>
                      <a:rPr lang="en-US" sz="2200" i="1" dirty="0" smtClean="0">
                        <a:latin typeface="Cambria Math" panose="02040503050406030204" pitchFamily="18" charset="0"/>
                      </a:rPr>
                      <m:t>𝑡h𝑒</m:t>
                    </m:r>
                    <m:r>
                      <a:rPr lang="en-US" sz="2200" i="1" dirty="0" smtClean="0">
                        <a:latin typeface="Cambria Math" panose="02040503050406030204" pitchFamily="18" charset="0"/>
                      </a:rPr>
                      <m:t> </m:t>
                    </m:r>
                    <m:r>
                      <a:rPr lang="en-US" sz="2200" b="1" i="1" dirty="0" smtClean="0">
                        <a:latin typeface="Cambria Math" panose="02040503050406030204" pitchFamily="18" charset="0"/>
                      </a:rPr>
                      <m:t>𝒍𝒐𝒔𝒔</m:t>
                    </m:r>
                    <m:r>
                      <a:rPr lang="en-US" sz="2200" b="1" i="1" dirty="0" smtClean="0">
                        <a:latin typeface="Cambria Math" panose="02040503050406030204" pitchFamily="18" charset="0"/>
                      </a:rPr>
                      <m:t> </m:t>
                    </m:r>
                    <m:r>
                      <a:rPr lang="en-US" sz="2200" b="1" i="1" dirty="0" smtClean="0">
                        <a:latin typeface="Cambria Math" panose="02040503050406030204" pitchFamily="18" charset="0"/>
                      </a:rPr>
                      <m:t>𝒊𝒔</m:t>
                    </m:r>
                    <m:r>
                      <a:rPr lang="en-US" sz="2200" b="1" i="1" dirty="0" smtClean="0">
                        <a:latin typeface="Cambria Math" panose="02040503050406030204" pitchFamily="18" charset="0"/>
                      </a:rPr>
                      <m:t> </m:t>
                    </m:r>
                    <m:r>
                      <a:rPr lang="en-US" sz="2200" b="1" i="1" dirty="0" smtClean="0">
                        <a:latin typeface="Cambria Math" panose="02040503050406030204" pitchFamily="18" charset="0"/>
                      </a:rPr>
                      <m:t>𝟎</m:t>
                    </m:r>
                    <m:r>
                      <a:rPr lang="en-US" sz="2200" b="1" i="1" dirty="0" smtClean="0">
                        <a:latin typeface="Cambria Math" panose="02040503050406030204" pitchFamily="18" charset="0"/>
                      </a:rPr>
                      <m:t>.</m:t>
                    </m:r>
                    <m:r>
                      <a:rPr lang="en-US" sz="2200" b="1" i="1" dirty="0" smtClean="0">
                        <a:latin typeface="Cambria Math" panose="02040503050406030204" pitchFamily="18" charset="0"/>
                      </a:rPr>
                      <m:t>𝟏𝟎𝟐</m:t>
                    </m:r>
                  </m:oMath>
                </a14:m>
                <a:endParaRPr lang="sv-SE" sz="2200" i="1" dirty="0">
                  <a:latin typeface="Cambria Math" panose="02040503050406030204" pitchFamily="18" charset="0"/>
                </a:endParaRPr>
              </a:p>
            </p:txBody>
          </p:sp>
        </mc:Choice>
        <mc:Fallback xmlns="">
          <p:sp>
            <p:nvSpPr>
              <p:cNvPr id="3" name="Text Placeholder 2">
                <a:extLst>
                  <a:ext uri="{FF2B5EF4-FFF2-40B4-BE49-F238E27FC236}">
                    <a16:creationId xmlns:a16="http://schemas.microsoft.com/office/drawing/2014/main" id="{A90B1C49-35EE-04D6-B099-128665C50A20}"/>
                  </a:ext>
                </a:extLst>
              </p:cNvPr>
              <p:cNvSpPr>
                <a:spLocks noGrp="1" noRot="1" noChangeAspect="1" noMove="1" noResize="1" noEditPoints="1" noAdjustHandles="1" noChangeArrowheads="1" noChangeShapeType="1" noTextEdit="1"/>
              </p:cNvSpPr>
              <p:nvPr>
                <p:ph type="body" idx="1"/>
              </p:nvPr>
            </p:nvSpPr>
            <p:spPr>
              <a:xfrm>
                <a:off x="415600" y="1526083"/>
                <a:ext cx="8601078" cy="4226535"/>
              </a:xfrm>
              <a:blipFill>
                <a:blip r:embed="rId2"/>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03CEC97-BCBE-F09F-D272-29AA509451C2}"/>
              </a:ext>
            </a:extLst>
          </p:cNvPr>
          <p:cNvSpPr>
            <a:spLocks noGrp="1"/>
          </p:cNvSpPr>
          <p:nvPr>
            <p:ph type="sldNum" idx="12"/>
          </p:nvPr>
        </p:nvSpPr>
        <p:spPr/>
        <p:txBody>
          <a:bodyPr/>
          <a:lstStyle/>
          <a:p>
            <a:fld id="{00000000-1234-1234-1234-123412341234}" type="slidenum">
              <a:rPr lang="en-GB" smtClean="0"/>
              <a:pPr/>
              <a:t>20</a:t>
            </a:fld>
            <a:endParaRPr lang="en-GB"/>
          </a:p>
        </p:txBody>
      </p:sp>
    </p:spTree>
    <p:extLst>
      <p:ext uri="{BB962C8B-B14F-4D97-AF65-F5344CB8AC3E}">
        <p14:creationId xmlns:p14="http://schemas.microsoft.com/office/powerpoint/2010/main" val="1516672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1FCF0-768F-4498-2C73-16FE5D25A6BF}"/>
              </a:ext>
            </a:extLst>
          </p:cNvPr>
          <p:cNvSpPr>
            <a:spLocks noGrp="1"/>
          </p:cNvSpPr>
          <p:nvPr>
            <p:ph type="title"/>
          </p:nvPr>
        </p:nvSpPr>
        <p:spPr/>
        <p:txBody>
          <a:bodyPr/>
          <a:lstStyle/>
          <a:p>
            <a:r>
              <a:rPr lang="en-US" dirty="0"/>
              <a:t>Backpropagations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06C35B6-3B46-4168-2E26-EE8003272DBF}"/>
                  </a:ext>
                </a:extLst>
              </p:cNvPr>
              <p:cNvSpPr>
                <a:spLocks noGrp="1"/>
              </p:cNvSpPr>
              <p:nvPr>
                <p:ph type="body" idx="1"/>
              </p:nvPr>
            </p:nvSpPr>
            <p:spPr>
              <a:xfrm>
                <a:off x="415600" y="1810011"/>
                <a:ext cx="11360800" cy="3805833"/>
              </a:xfrm>
            </p:spPr>
            <p:txBody>
              <a:bodyPr/>
              <a:lstStyle/>
              <a:p>
                <a:pPr marL="609596" indent="-457200">
                  <a:buFont typeface="+mj-lt"/>
                  <a:buAutoNum type="arabicPeriod"/>
                </a:pPr>
                <a:r>
                  <a:rPr lang="en-US" sz="2400" b="1" dirty="0">
                    <a:latin typeface="+mn-lt"/>
                  </a:rPr>
                  <a:t>Compute Loss Gradient</a:t>
                </a:r>
                <a:r>
                  <a:rPr lang="en-US" sz="2400" dirty="0">
                    <a:latin typeface="+mn-lt"/>
                  </a:rPr>
                  <a:t> at output neuron </a:t>
                </a:r>
                <a14:m>
                  <m:oMath xmlns:m="http://schemas.openxmlformats.org/officeDocument/2006/math">
                    <m:acc>
                      <m:accPr>
                        <m:chr m:val="̂"/>
                        <m:ctrlPr>
                          <a:rPr lang="en-US" sz="2400" i="1" smtClean="0">
                            <a:latin typeface="Cambria Math" panose="02040503050406030204" pitchFamily="18" charset="0"/>
                          </a:rPr>
                        </m:ctrlPr>
                      </m:accPr>
                      <m:e>
                        <m:r>
                          <a:rPr lang="sv-SE" sz="2400" b="0" i="1" smtClean="0">
                            <a:latin typeface="Cambria Math" panose="02040503050406030204" pitchFamily="18" charset="0"/>
                          </a:rPr>
                          <m:t>𝑦</m:t>
                        </m:r>
                      </m:e>
                    </m:acc>
                  </m:oMath>
                </a14:m>
                <a:r>
                  <a:rPr lang="en-US" sz="2400" dirty="0">
                    <a:latin typeface="+mn-lt"/>
                  </a:rPr>
                  <a:t>.</a:t>
                </a:r>
              </a:p>
              <a:p>
                <a:pPr marL="609596" indent="-457200">
                  <a:buFont typeface="+mj-lt"/>
                  <a:buAutoNum type="arabicPeriod"/>
                </a:pPr>
                <a:endParaRPr lang="en-US" sz="2400" dirty="0">
                  <a:latin typeface="+mn-lt"/>
                </a:endParaRPr>
              </a:p>
              <a:p>
                <a:pPr marL="609596" indent="-457200">
                  <a:buFont typeface="+mj-lt"/>
                  <a:buAutoNum type="arabicPeriod"/>
                </a:pPr>
                <a:r>
                  <a:rPr lang="en-US" sz="2400" b="1" dirty="0">
                    <a:latin typeface="+mn-lt"/>
                  </a:rPr>
                  <a:t>Backpropagate Error to Hidden Layers</a:t>
                </a:r>
                <a:r>
                  <a:rPr lang="en-US" sz="2400" dirty="0">
                    <a:latin typeface="+mn-lt"/>
                  </a:rPr>
                  <a:t> (</a:t>
                </a:r>
                <a14:m>
                  <m:oMath xmlns:m="http://schemas.openxmlformats.org/officeDocument/2006/math">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2</m:t>
                        </m:r>
                      </m:e>
                      <m:sub>
                        <m:r>
                          <a:rPr lang="en-US" sz="2400" i="1" dirty="0" smtClean="0">
                            <a:latin typeface="Cambria Math" panose="02040503050406030204" pitchFamily="18" charset="0"/>
                          </a:rPr>
                          <m:t>1</m:t>
                        </m:r>
                      </m:sub>
                    </m:sSub>
                    <m:r>
                      <a:rPr lang="en-US" sz="2400" i="1" dirty="0" smtClean="0">
                        <a:latin typeface="Cambria Math" panose="02040503050406030204" pitchFamily="18" charset="0"/>
                      </a:rPr>
                      <m:t>,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2</m:t>
                        </m:r>
                      </m:e>
                      <m:sub>
                        <m:r>
                          <a:rPr lang="en-US" sz="2400" i="1" dirty="0" smtClean="0">
                            <a:latin typeface="Cambria Math" panose="02040503050406030204" pitchFamily="18" charset="0"/>
                          </a:rPr>
                          <m:t>2</m:t>
                        </m:r>
                      </m:sub>
                    </m:sSub>
                    <m:r>
                      <a:rPr lang="en-US" sz="2400" i="1" dirty="0" smtClean="0">
                        <a:latin typeface="Cambria Math" panose="02040503050406030204" pitchFamily="18" charset="0"/>
                      </a:rPr>
                      <m:t> </m:t>
                    </m:r>
                    <m:r>
                      <a:rPr lang="en-US" sz="2400" i="1" dirty="0" smtClean="0">
                        <a:latin typeface="Cambria Math" panose="02040503050406030204" pitchFamily="18" charset="0"/>
                      </a:rPr>
                      <m:t>𝑡h𝑒𝑛</m:t>
                    </m:r>
                    <m:r>
                      <a:rPr lang="en-US" sz="2400" i="1" dirty="0" smtClean="0">
                        <a:latin typeface="Cambria Math" panose="02040503050406030204" pitchFamily="18" charset="0"/>
                      </a:rPr>
                      <m:t>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1</m:t>
                        </m:r>
                      </m:e>
                      <m:sub>
                        <m:r>
                          <a:rPr lang="en-US" sz="2400" i="1" dirty="0" smtClean="0">
                            <a:latin typeface="Cambria Math" panose="02040503050406030204" pitchFamily="18" charset="0"/>
                          </a:rPr>
                          <m:t>1</m:t>
                        </m:r>
                      </m:sub>
                    </m:sSub>
                    <m:r>
                      <a:rPr lang="en-US" sz="2400" i="1" dirty="0" smtClean="0">
                        <a:latin typeface="Cambria Math" panose="02040503050406030204" pitchFamily="18" charset="0"/>
                      </a:rPr>
                      <m:t>,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1</m:t>
                        </m:r>
                      </m:e>
                      <m:sub>
                        <m:r>
                          <a:rPr lang="en-US" sz="2400" i="1" dirty="0" smtClean="0">
                            <a:latin typeface="Cambria Math" panose="02040503050406030204" pitchFamily="18" charset="0"/>
                          </a:rPr>
                          <m:t>2</m:t>
                        </m:r>
                      </m:sub>
                    </m:sSub>
                    <m:r>
                      <a:rPr lang="en-US" sz="2400" i="1" dirty="0" smtClean="0">
                        <a:latin typeface="Cambria Math" panose="02040503050406030204" pitchFamily="18" charset="0"/>
                      </a:rPr>
                      <m:t>,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1</m:t>
                        </m:r>
                      </m:e>
                      <m:sub>
                        <m:r>
                          <a:rPr lang="en-US" sz="2400" i="1" dirty="0" smtClean="0">
                            <a:latin typeface="Cambria Math" panose="02040503050406030204" pitchFamily="18" charset="0"/>
                          </a:rPr>
                          <m:t>3</m:t>
                        </m:r>
                      </m:sub>
                    </m:sSub>
                  </m:oMath>
                </a14:m>
                <a:r>
                  <a:rPr lang="en-US" sz="2400" dirty="0">
                    <a:latin typeface="+mn-lt"/>
                  </a:rPr>
                  <a:t>​).</a:t>
                </a:r>
              </a:p>
              <a:p>
                <a:pPr marL="609596" indent="-457200">
                  <a:buFont typeface="+mj-lt"/>
                  <a:buAutoNum type="arabicPeriod"/>
                </a:pPr>
                <a:endParaRPr lang="en-US" sz="2400" dirty="0">
                  <a:latin typeface="+mn-lt"/>
                </a:endParaRPr>
              </a:p>
              <a:p>
                <a:pPr marL="609596" indent="-457200">
                  <a:buFont typeface="+mj-lt"/>
                  <a:buAutoNum type="arabicPeriod"/>
                </a:pPr>
                <a:r>
                  <a:rPr lang="en-US" sz="2400" b="1" dirty="0">
                    <a:latin typeface="+mn-lt"/>
                  </a:rPr>
                  <a:t>Compute Gradients for All Weights and Biases</a:t>
                </a:r>
                <a:r>
                  <a:rPr lang="en-US" sz="2400" dirty="0">
                    <a:latin typeface="+mn-lt"/>
                  </a:rPr>
                  <a:t>.</a:t>
                </a:r>
              </a:p>
              <a:p>
                <a:pPr marL="609596" indent="-457200">
                  <a:buFont typeface="+mj-lt"/>
                  <a:buAutoNum type="arabicPeriod"/>
                </a:pPr>
                <a:endParaRPr lang="en-US" sz="2400" dirty="0">
                  <a:latin typeface="+mn-lt"/>
                </a:endParaRPr>
              </a:p>
              <a:p>
                <a:pPr marL="609596" indent="-457200">
                  <a:buFont typeface="+mj-lt"/>
                  <a:buAutoNum type="arabicPeriod"/>
                </a:pPr>
                <a:r>
                  <a:rPr lang="en-US" sz="2400" b="1" dirty="0">
                    <a:latin typeface="+mn-lt"/>
                  </a:rPr>
                  <a:t>Update Weights Using Gradient Descent</a:t>
                </a:r>
                <a:r>
                  <a:rPr lang="en-US" sz="2400" dirty="0">
                    <a:latin typeface="+mn-lt"/>
                  </a:rPr>
                  <a:t>.</a:t>
                </a:r>
              </a:p>
              <a:p>
                <a:pPr marL="609596" indent="-457200">
                  <a:buFont typeface="+mj-lt"/>
                  <a:buAutoNum type="arabicPeriod"/>
                </a:pPr>
                <a:endParaRPr lang="en-US" sz="2400" dirty="0">
                  <a:latin typeface="+mn-lt"/>
                </a:endParaRPr>
              </a:p>
              <a:p>
                <a:pPr marL="609596" indent="-457200">
                  <a:buFont typeface="+mj-lt"/>
                  <a:buAutoNum type="arabicPeriod"/>
                </a:pPr>
                <a:r>
                  <a:rPr lang="en-US" sz="2400" b="1" dirty="0">
                    <a:latin typeface="+mn-lt"/>
                  </a:rPr>
                  <a:t>Repeat Until Convergence</a:t>
                </a:r>
                <a:r>
                  <a:rPr lang="en-US" sz="2400" dirty="0">
                    <a:latin typeface="+mn-lt"/>
                  </a:rPr>
                  <a:t>.</a:t>
                </a:r>
              </a:p>
            </p:txBody>
          </p:sp>
        </mc:Choice>
        <mc:Fallback xmlns="">
          <p:sp>
            <p:nvSpPr>
              <p:cNvPr id="3" name="Text Placeholder 2">
                <a:extLst>
                  <a:ext uri="{FF2B5EF4-FFF2-40B4-BE49-F238E27FC236}">
                    <a16:creationId xmlns:a16="http://schemas.microsoft.com/office/drawing/2014/main" id="{406C35B6-3B46-4168-2E26-EE8003272DBF}"/>
                  </a:ext>
                </a:extLst>
              </p:cNvPr>
              <p:cNvSpPr>
                <a:spLocks noGrp="1" noRot="1" noChangeAspect="1" noMove="1" noResize="1" noEditPoints="1" noAdjustHandles="1" noChangeArrowheads="1" noChangeShapeType="1" noTextEdit="1"/>
              </p:cNvSpPr>
              <p:nvPr>
                <p:ph type="body" idx="1"/>
              </p:nvPr>
            </p:nvSpPr>
            <p:spPr>
              <a:xfrm>
                <a:off x="415600" y="1810011"/>
                <a:ext cx="11360800" cy="3805833"/>
              </a:xfrm>
              <a:blipFill>
                <a:blip r:embed="rId2"/>
                <a:stretch>
                  <a:fillRect b="-598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8463F1F-7908-46EA-775F-CE8189C56C83}"/>
              </a:ext>
            </a:extLst>
          </p:cNvPr>
          <p:cNvSpPr>
            <a:spLocks noGrp="1"/>
          </p:cNvSpPr>
          <p:nvPr>
            <p:ph type="sldNum" idx="12"/>
          </p:nvPr>
        </p:nvSpPr>
        <p:spPr/>
        <p:txBody>
          <a:bodyPr/>
          <a:lstStyle/>
          <a:p>
            <a:fld id="{00000000-1234-1234-1234-123412341234}" type="slidenum">
              <a:rPr lang="en-GB" smtClean="0"/>
              <a:pPr/>
              <a:t>21</a:t>
            </a:fld>
            <a:endParaRPr lang="en-GB"/>
          </a:p>
        </p:txBody>
      </p:sp>
    </p:spTree>
    <p:extLst>
      <p:ext uri="{BB962C8B-B14F-4D97-AF65-F5344CB8AC3E}">
        <p14:creationId xmlns:p14="http://schemas.microsoft.com/office/powerpoint/2010/main" val="1681593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35108-A791-8448-6C9C-D1C31C695A9B}"/>
              </a:ext>
            </a:extLst>
          </p:cNvPr>
          <p:cNvSpPr>
            <a:spLocks noGrp="1"/>
          </p:cNvSpPr>
          <p:nvPr>
            <p:ph type="title"/>
          </p:nvPr>
        </p:nvSpPr>
        <p:spPr/>
        <p:txBody>
          <a:bodyPr/>
          <a:lstStyle/>
          <a:p>
            <a:r>
              <a:rPr lang="en-US" dirty="0"/>
              <a:t>Compute gradient of the output layer</a:t>
            </a:r>
            <a:endParaRPr lang="en-US" i="1" dirty="0"/>
          </a:p>
        </p:txBody>
      </p:sp>
      <p:pic>
        <p:nvPicPr>
          <p:cNvPr id="9" name="Picture 8" descr="A math equations and equations&#10;&#10;AI-generated content may be incorrect.">
            <a:extLst>
              <a:ext uri="{FF2B5EF4-FFF2-40B4-BE49-F238E27FC236}">
                <a16:creationId xmlns:a16="http://schemas.microsoft.com/office/drawing/2014/main" id="{AFEAD7F0-1A62-8D3F-8EC5-EF3AAFBAC412}"/>
              </a:ext>
            </a:extLst>
          </p:cNvPr>
          <p:cNvPicPr>
            <a:picLocks noChangeAspect="1"/>
          </p:cNvPicPr>
          <p:nvPr/>
        </p:nvPicPr>
        <p:blipFill>
          <a:blip r:embed="rId2"/>
          <a:srcRect r="-1835" b="37498"/>
          <a:stretch>
            <a:fillRect/>
          </a:stretch>
        </p:blipFill>
        <p:spPr>
          <a:xfrm>
            <a:off x="858511" y="1718411"/>
            <a:ext cx="5509545" cy="1165466"/>
          </a:xfrm>
          <a:prstGeom prst="rect">
            <a:avLst/>
          </a:prstGeom>
        </p:spPr>
      </p:pic>
      <p:pic>
        <p:nvPicPr>
          <p:cNvPr id="11" name="Picture 10" descr="A white paper with black text&#10;&#10;AI-generated content may be incorrect.">
            <a:extLst>
              <a:ext uri="{FF2B5EF4-FFF2-40B4-BE49-F238E27FC236}">
                <a16:creationId xmlns:a16="http://schemas.microsoft.com/office/drawing/2014/main" id="{2625D65A-792E-0BAF-80D7-05D8D66463AE}"/>
              </a:ext>
            </a:extLst>
          </p:cNvPr>
          <p:cNvPicPr>
            <a:picLocks noChangeAspect="1"/>
          </p:cNvPicPr>
          <p:nvPr/>
        </p:nvPicPr>
        <p:blipFill>
          <a:blip r:embed="rId3"/>
          <a:srcRect l="-6754" t="-46643" r="6754" b="81765"/>
          <a:stretch>
            <a:fillRect/>
          </a:stretch>
        </p:blipFill>
        <p:spPr>
          <a:xfrm>
            <a:off x="284953" y="3078671"/>
            <a:ext cx="5928396" cy="1600200"/>
          </a:xfrm>
          <a:prstGeom prst="rect">
            <a:avLst/>
          </a:prstGeom>
        </p:spPr>
      </p:pic>
      <p:pic>
        <p:nvPicPr>
          <p:cNvPr id="13" name="Picture 12" descr="A math equations with numbers&#10;&#10;AI-generated content may be incorrect.">
            <a:extLst>
              <a:ext uri="{FF2B5EF4-FFF2-40B4-BE49-F238E27FC236}">
                <a16:creationId xmlns:a16="http://schemas.microsoft.com/office/drawing/2014/main" id="{EEB15FF8-0EAF-6287-5326-2D50A9ACA193}"/>
              </a:ext>
            </a:extLst>
          </p:cNvPr>
          <p:cNvPicPr>
            <a:picLocks noChangeAspect="1"/>
          </p:cNvPicPr>
          <p:nvPr/>
        </p:nvPicPr>
        <p:blipFill>
          <a:blip r:embed="rId4"/>
          <a:srcRect b="40981"/>
          <a:stretch>
            <a:fillRect/>
          </a:stretch>
        </p:blipFill>
        <p:spPr>
          <a:xfrm>
            <a:off x="7671166" y="3381386"/>
            <a:ext cx="2933700" cy="944430"/>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334BFCA-278D-2186-6D1B-26EB4EA65B34}"/>
                  </a:ext>
                </a:extLst>
              </p:cNvPr>
              <p:cNvSpPr txBox="1"/>
              <p:nvPr/>
            </p:nvSpPr>
            <p:spPr>
              <a:xfrm>
                <a:off x="7366357" y="2791971"/>
                <a:ext cx="3818289" cy="461665"/>
              </a:xfrm>
              <a:prstGeom prst="rect">
                <a:avLst/>
              </a:prstGeom>
              <a:noFill/>
            </p:spPr>
            <p:txBody>
              <a:bodyPr wrap="none" rtlCol="0">
                <a:spAutoFit/>
              </a:bodyPr>
              <a:lstStyle/>
              <a:p>
                <a:r>
                  <a:rPr lang="en-US" sz="2400" dirty="0"/>
                  <a:t>3. Compute Gradient </a:t>
                </a:r>
                <a:r>
                  <a:rPr lang="en-US" sz="2400" dirty="0" err="1"/>
                  <a:t>w.r.t.</a:t>
                </a:r>
                <a:r>
                  <a:rPr lang="en-US" sz="2400" dirty="0"/>
                  <a:t>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𝑧</m:t>
                        </m:r>
                      </m:e>
                      <m:sub>
                        <m:r>
                          <a:rPr lang="en-US" sz="2400" i="1" dirty="0" smtClean="0">
                            <a:latin typeface="Cambria Math" panose="02040503050406030204" pitchFamily="18" charset="0"/>
                          </a:rPr>
                          <m:t>0</m:t>
                        </m:r>
                      </m:sub>
                    </m:sSub>
                  </m:oMath>
                </a14:m>
                <a:endParaRPr lang="en-US" sz="2400" dirty="0"/>
              </a:p>
            </p:txBody>
          </p:sp>
        </mc:Choice>
        <mc:Fallback xmlns="">
          <p:sp>
            <p:nvSpPr>
              <p:cNvPr id="14" name="TextBox 13">
                <a:extLst>
                  <a:ext uri="{FF2B5EF4-FFF2-40B4-BE49-F238E27FC236}">
                    <a16:creationId xmlns:a16="http://schemas.microsoft.com/office/drawing/2014/main" id="{5334BFCA-278D-2186-6D1B-26EB4EA65B34}"/>
                  </a:ext>
                </a:extLst>
              </p:cNvPr>
              <p:cNvSpPr txBox="1">
                <a:spLocks noRot="1" noChangeAspect="1" noMove="1" noResize="1" noEditPoints="1" noAdjustHandles="1" noChangeArrowheads="1" noChangeShapeType="1" noTextEdit="1"/>
              </p:cNvSpPr>
              <p:nvPr/>
            </p:nvSpPr>
            <p:spPr>
              <a:xfrm>
                <a:off x="7366357" y="2791971"/>
                <a:ext cx="3818289" cy="461665"/>
              </a:xfrm>
              <a:prstGeom prst="rect">
                <a:avLst/>
              </a:prstGeom>
              <a:blipFill>
                <a:blip r:embed="rId5"/>
                <a:stretch>
                  <a:fillRect l="-2318" t="-7895" b="-28947"/>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FEF69153-A4EA-3F08-420A-82666DD3E3D0}"/>
              </a:ext>
            </a:extLst>
          </p:cNvPr>
          <p:cNvSpPr txBox="1"/>
          <p:nvPr/>
        </p:nvSpPr>
        <p:spPr>
          <a:xfrm>
            <a:off x="685346" y="3536696"/>
            <a:ext cx="5682710" cy="461665"/>
          </a:xfrm>
          <a:prstGeom prst="rect">
            <a:avLst/>
          </a:prstGeom>
          <a:noFill/>
        </p:spPr>
        <p:txBody>
          <a:bodyPr wrap="none" rtlCol="0">
            <a:spAutoFit/>
          </a:bodyPr>
          <a:lstStyle/>
          <a:p>
            <a:r>
              <a:rPr lang="en-US" sz="2400" dirty="0"/>
              <a:t>2. Compute Derivative of Sigmoid Activation</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67B6754-C39A-94B2-5A38-7E2A6072008D}"/>
                  </a:ext>
                </a:extLst>
              </p:cNvPr>
              <p:cNvSpPr txBox="1"/>
              <p:nvPr/>
            </p:nvSpPr>
            <p:spPr>
              <a:xfrm>
                <a:off x="513568" y="1179881"/>
                <a:ext cx="6100174" cy="461665"/>
              </a:xfrm>
              <a:prstGeom prst="rect">
                <a:avLst/>
              </a:prstGeom>
              <a:noFill/>
            </p:spPr>
            <p:txBody>
              <a:bodyPr wrap="square">
                <a:spAutoFit/>
              </a:bodyPr>
              <a:lstStyle/>
              <a:p>
                <a:r>
                  <a:rPr lang="en-US" sz="2400" dirty="0"/>
                  <a:t>1. Compute Loss Derivative </a:t>
                </a:r>
                <a:r>
                  <a:rPr lang="en-US" sz="2400" dirty="0" err="1"/>
                  <a:t>w.r.t.</a:t>
                </a:r>
                <a:r>
                  <a:rPr lang="en-US" sz="2400" dirty="0"/>
                  <a:t> Output </a:t>
                </a:r>
                <a14:m>
                  <m:oMath xmlns:m="http://schemas.openxmlformats.org/officeDocument/2006/math">
                    <m:acc>
                      <m:accPr>
                        <m:chr m:val="̂"/>
                        <m:ctrlPr>
                          <a:rPr lang="en-US" sz="2400" i="1" smtClean="0">
                            <a:latin typeface="Cambria Math" panose="02040503050406030204" pitchFamily="18" charset="0"/>
                          </a:rPr>
                        </m:ctrlPr>
                      </m:accPr>
                      <m:e>
                        <m:r>
                          <a:rPr lang="sv-SE" sz="2400" b="0" i="1" smtClean="0">
                            <a:latin typeface="Cambria Math" panose="02040503050406030204" pitchFamily="18" charset="0"/>
                          </a:rPr>
                          <m:t>𝑦</m:t>
                        </m:r>
                      </m:e>
                    </m:acc>
                  </m:oMath>
                </a14:m>
                <a:endParaRPr lang="en-US" sz="2400" dirty="0"/>
              </a:p>
            </p:txBody>
          </p:sp>
        </mc:Choice>
        <mc:Fallback xmlns="">
          <p:sp>
            <p:nvSpPr>
              <p:cNvPr id="17" name="TextBox 16">
                <a:extLst>
                  <a:ext uri="{FF2B5EF4-FFF2-40B4-BE49-F238E27FC236}">
                    <a16:creationId xmlns:a16="http://schemas.microsoft.com/office/drawing/2014/main" id="{D67B6754-C39A-94B2-5A38-7E2A6072008D}"/>
                  </a:ext>
                </a:extLst>
              </p:cNvPr>
              <p:cNvSpPr txBox="1">
                <a:spLocks noRot="1" noChangeAspect="1" noMove="1" noResize="1" noEditPoints="1" noAdjustHandles="1" noChangeArrowheads="1" noChangeShapeType="1" noTextEdit="1"/>
              </p:cNvSpPr>
              <p:nvPr/>
            </p:nvSpPr>
            <p:spPr>
              <a:xfrm>
                <a:off x="513568" y="1179881"/>
                <a:ext cx="6100174" cy="461665"/>
              </a:xfrm>
              <a:prstGeom prst="rect">
                <a:avLst/>
              </a:prstGeom>
              <a:blipFill>
                <a:blip r:embed="rId6"/>
                <a:stretch>
                  <a:fillRect l="-1455" t="-8108" b="-29730"/>
                </a:stretch>
              </a:blipFill>
            </p:spPr>
            <p:txBody>
              <a:bodyPr/>
              <a:lstStyle/>
              <a:p>
                <a:r>
                  <a:rPr lang="en-US">
                    <a:noFill/>
                  </a:rPr>
                  <a:t> </a:t>
                </a:r>
              </a:p>
            </p:txBody>
          </p:sp>
        </mc:Fallback>
      </mc:AlternateContent>
      <p:pic>
        <p:nvPicPr>
          <p:cNvPr id="4" name="Picture 3" descr="A black and white math equation&#10;&#10;AI-generated content may be incorrect.">
            <a:extLst>
              <a:ext uri="{FF2B5EF4-FFF2-40B4-BE49-F238E27FC236}">
                <a16:creationId xmlns:a16="http://schemas.microsoft.com/office/drawing/2014/main" id="{A671C963-A7CC-5822-1AAA-ED9F07E4C326}"/>
              </a:ext>
            </a:extLst>
          </p:cNvPr>
          <p:cNvPicPr>
            <a:picLocks noChangeAspect="1"/>
          </p:cNvPicPr>
          <p:nvPr/>
        </p:nvPicPr>
        <p:blipFill>
          <a:blip r:embed="rId7"/>
          <a:stretch>
            <a:fillRect/>
          </a:stretch>
        </p:blipFill>
        <p:spPr>
          <a:xfrm>
            <a:off x="4083904" y="2674109"/>
            <a:ext cx="1719019" cy="754891"/>
          </a:xfrm>
          <a:prstGeom prst="rect">
            <a:avLst/>
          </a:prstGeom>
        </p:spPr>
      </p:pic>
      <p:pic>
        <p:nvPicPr>
          <p:cNvPr id="6" name="Picture 5" descr="A black and white math equation&#10;&#10;AI-generated content may be incorrect.">
            <a:extLst>
              <a:ext uri="{FF2B5EF4-FFF2-40B4-BE49-F238E27FC236}">
                <a16:creationId xmlns:a16="http://schemas.microsoft.com/office/drawing/2014/main" id="{C1B9FCDD-C15E-D105-C1F6-B7CE649497EC}"/>
              </a:ext>
            </a:extLst>
          </p:cNvPr>
          <p:cNvPicPr>
            <a:picLocks noChangeAspect="1"/>
          </p:cNvPicPr>
          <p:nvPr/>
        </p:nvPicPr>
        <p:blipFill>
          <a:blip r:embed="rId8"/>
          <a:stretch>
            <a:fillRect/>
          </a:stretch>
        </p:blipFill>
        <p:spPr>
          <a:xfrm>
            <a:off x="4543731" y="5388933"/>
            <a:ext cx="2168769" cy="866444"/>
          </a:xfrm>
          <a:prstGeom prst="rect">
            <a:avLst/>
          </a:prstGeom>
        </p:spPr>
      </p:pic>
      <p:pic>
        <p:nvPicPr>
          <p:cNvPr id="8" name="Picture 7" descr="A close-up of a number&#10;&#10;AI-generated content may be incorrect.">
            <a:extLst>
              <a:ext uri="{FF2B5EF4-FFF2-40B4-BE49-F238E27FC236}">
                <a16:creationId xmlns:a16="http://schemas.microsoft.com/office/drawing/2014/main" id="{2D29244D-0B8B-B28A-A499-534271FEB007}"/>
              </a:ext>
            </a:extLst>
          </p:cNvPr>
          <p:cNvPicPr>
            <a:picLocks noChangeAspect="1"/>
          </p:cNvPicPr>
          <p:nvPr/>
        </p:nvPicPr>
        <p:blipFill>
          <a:blip r:embed="rId9"/>
          <a:srcRect r="15955" b="14731"/>
          <a:stretch>
            <a:fillRect/>
          </a:stretch>
        </p:blipFill>
        <p:spPr>
          <a:xfrm>
            <a:off x="4768608" y="4759927"/>
            <a:ext cx="1444742" cy="458371"/>
          </a:xfrm>
          <a:prstGeom prst="rect">
            <a:avLst/>
          </a:prstGeom>
        </p:spPr>
      </p:pic>
      <p:pic>
        <p:nvPicPr>
          <p:cNvPr id="10" name="Picture 9" descr="A white paper with black text&#10;&#10;AI-generated content may be incorrect.">
            <a:extLst>
              <a:ext uri="{FF2B5EF4-FFF2-40B4-BE49-F238E27FC236}">
                <a16:creationId xmlns:a16="http://schemas.microsoft.com/office/drawing/2014/main" id="{E6655FBF-3CD6-B5AB-E491-51F2876347D8}"/>
              </a:ext>
            </a:extLst>
          </p:cNvPr>
          <p:cNvPicPr>
            <a:picLocks noChangeAspect="1"/>
          </p:cNvPicPr>
          <p:nvPr/>
        </p:nvPicPr>
        <p:blipFill>
          <a:blip r:embed="rId3"/>
          <a:srcRect l="61651" t="20114" r="6315" b="51479"/>
          <a:stretch>
            <a:fillRect/>
          </a:stretch>
        </p:blipFill>
        <p:spPr>
          <a:xfrm>
            <a:off x="2162907" y="4642924"/>
            <a:ext cx="2357928" cy="869921"/>
          </a:xfrm>
          <a:prstGeom prst="rect">
            <a:avLst/>
          </a:prstGeom>
        </p:spPr>
      </p:pic>
      <p:pic>
        <p:nvPicPr>
          <p:cNvPr id="16" name="Picture 15" descr="A black and white math equation&#10;&#10;AI-generated content may be incorrect.">
            <a:extLst>
              <a:ext uri="{FF2B5EF4-FFF2-40B4-BE49-F238E27FC236}">
                <a16:creationId xmlns:a16="http://schemas.microsoft.com/office/drawing/2014/main" id="{7BCA3CD9-BB97-CDF2-B2A6-5FAD30945CF0}"/>
              </a:ext>
            </a:extLst>
          </p:cNvPr>
          <p:cNvPicPr>
            <a:picLocks noChangeAspect="1"/>
          </p:cNvPicPr>
          <p:nvPr/>
        </p:nvPicPr>
        <p:blipFill>
          <a:blip r:embed="rId10"/>
          <a:stretch>
            <a:fillRect/>
          </a:stretch>
        </p:blipFill>
        <p:spPr>
          <a:xfrm>
            <a:off x="8091303" y="4301556"/>
            <a:ext cx="3791385" cy="916742"/>
          </a:xfrm>
          <a:prstGeom prst="rect">
            <a:avLst/>
          </a:prstGeom>
        </p:spPr>
      </p:pic>
      <p:pic>
        <p:nvPicPr>
          <p:cNvPr id="19" name="Picture 18" descr="A mathematical equation with black letters&#10;&#10;AI-generated content may be incorrect.">
            <a:extLst>
              <a:ext uri="{FF2B5EF4-FFF2-40B4-BE49-F238E27FC236}">
                <a16:creationId xmlns:a16="http://schemas.microsoft.com/office/drawing/2014/main" id="{FCAE19DA-D919-0D97-FE76-AADFACC5CD6C}"/>
              </a:ext>
            </a:extLst>
          </p:cNvPr>
          <p:cNvPicPr>
            <a:picLocks noChangeAspect="1"/>
          </p:cNvPicPr>
          <p:nvPr/>
        </p:nvPicPr>
        <p:blipFill>
          <a:blip r:embed="rId11"/>
          <a:stretch>
            <a:fillRect/>
          </a:stretch>
        </p:blipFill>
        <p:spPr>
          <a:xfrm>
            <a:off x="8091303" y="5135399"/>
            <a:ext cx="1555336" cy="754891"/>
          </a:xfrm>
          <a:prstGeom prst="rect">
            <a:avLst/>
          </a:prstGeom>
        </p:spPr>
      </p:pic>
      <p:sp>
        <p:nvSpPr>
          <p:cNvPr id="20" name="Slide Number Placeholder 19">
            <a:extLst>
              <a:ext uri="{FF2B5EF4-FFF2-40B4-BE49-F238E27FC236}">
                <a16:creationId xmlns:a16="http://schemas.microsoft.com/office/drawing/2014/main" id="{361D1E12-C145-36CB-C3B6-550F90136C9A}"/>
              </a:ext>
            </a:extLst>
          </p:cNvPr>
          <p:cNvSpPr>
            <a:spLocks noGrp="1"/>
          </p:cNvSpPr>
          <p:nvPr>
            <p:ph type="sldNum" idx="12"/>
          </p:nvPr>
        </p:nvSpPr>
        <p:spPr/>
        <p:txBody>
          <a:bodyPr/>
          <a:lstStyle/>
          <a:p>
            <a:fld id="{00000000-1234-1234-1234-123412341234}" type="slidenum">
              <a:rPr lang="en-GB" smtClean="0"/>
              <a:pPr/>
              <a:t>22</a:t>
            </a:fld>
            <a:endParaRPr lang="en-GB"/>
          </a:p>
        </p:txBody>
      </p:sp>
    </p:spTree>
    <p:extLst>
      <p:ext uri="{BB962C8B-B14F-4D97-AF65-F5344CB8AC3E}">
        <p14:creationId xmlns:p14="http://schemas.microsoft.com/office/powerpoint/2010/main" val="253992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5DE9-D89F-D0D9-D2B2-97D4E59AC03C}"/>
              </a:ext>
            </a:extLst>
          </p:cNvPr>
          <p:cNvSpPr>
            <a:spLocks noGrp="1"/>
          </p:cNvSpPr>
          <p:nvPr>
            <p:ph type="title"/>
          </p:nvPr>
        </p:nvSpPr>
        <p:spPr/>
        <p:txBody>
          <a:bodyPr/>
          <a:lstStyle/>
          <a:p>
            <a:r>
              <a:rPr lang="en-US" dirty="0"/>
              <a:t>Compute Gradients for Weights and Bias (Output Layer)</a:t>
            </a:r>
          </a:p>
        </p:txBody>
      </p:sp>
      <p:sp>
        <p:nvSpPr>
          <p:cNvPr id="3" name="Text Placeholder 2">
            <a:extLst>
              <a:ext uri="{FF2B5EF4-FFF2-40B4-BE49-F238E27FC236}">
                <a16:creationId xmlns:a16="http://schemas.microsoft.com/office/drawing/2014/main" id="{91D310E1-8DD4-8779-4ED0-014FAA8E4E16}"/>
              </a:ext>
            </a:extLst>
          </p:cNvPr>
          <p:cNvSpPr>
            <a:spLocks noGrp="1"/>
          </p:cNvSpPr>
          <p:nvPr>
            <p:ph type="body" idx="1"/>
          </p:nvPr>
        </p:nvSpPr>
        <p:spPr/>
        <p:txBody>
          <a:bodyPr/>
          <a:lstStyle/>
          <a:p>
            <a:endParaRPr lang="en-US" dirty="0"/>
          </a:p>
        </p:txBody>
      </p:sp>
      <p:pic>
        <p:nvPicPr>
          <p:cNvPr id="5" name="Picture 4" descr="A math equations with black text&#10;&#10;AI-generated content may be incorrect.">
            <a:extLst>
              <a:ext uri="{FF2B5EF4-FFF2-40B4-BE49-F238E27FC236}">
                <a16:creationId xmlns:a16="http://schemas.microsoft.com/office/drawing/2014/main" id="{A2F461E5-6218-1532-5E2A-A1207A852152}"/>
              </a:ext>
            </a:extLst>
          </p:cNvPr>
          <p:cNvPicPr>
            <a:picLocks noChangeAspect="1"/>
          </p:cNvPicPr>
          <p:nvPr/>
        </p:nvPicPr>
        <p:blipFill>
          <a:blip r:embed="rId2"/>
          <a:stretch>
            <a:fillRect/>
          </a:stretch>
        </p:blipFill>
        <p:spPr>
          <a:xfrm>
            <a:off x="1878349" y="2403230"/>
            <a:ext cx="3209466" cy="3090044"/>
          </a:xfrm>
          <a:prstGeom prst="rect">
            <a:avLst/>
          </a:prstGeom>
        </p:spPr>
      </p:pic>
      <p:pic>
        <p:nvPicPr>
          <p:cNvPr id="4" name="Picture 3" descr="A black and white math symbols&#10;&#10;AI-generated content may be incorrect.">
            <a:extLst>
              <a:ext uri="{FF2B5EF4-FFF2-40B4-BE49-F238E27FC236}">
                <a16:creationId xmlns:a16="http://schemas.microsoft.com/office/drawing/2014/main" id="{2AE27E7A-C7C7-2276-BA06-C41462AC0513}"/>
              </a:ext>
            </a:extLst>
          </p:cNvPr>
          <p:cNvPicPr>
            <a:picLocks noChangeAspect="1"/>
          </p:cNvPicPr>
          <p:nvPr/>
        </p:nvPicPr>
        <p:blipFill>
          <a:blip r:embed="rId3"/>
          <a:stretch>
            <a:fillRect/>
          </a:stretch>
        </p:blipFill>
        <p:spPr>
          <a:xfrm>
            <a:off x="6670431" y="1625443"/>
            <a:ext cx="4292600" cy="571500"/>
          </a:xfrm>
          <a:prstGeom prst="rect">
            <a:avLst/>
          </a:prstGeom>
        </p:spPr>
      </p:pic>
      <p:sp>
        <p:nvSpPr>
          <p:cNvPr id="6" name="Slide Number Placeholder 5">
            <a:extLst>
              <a:ext uri="{FF2B5EF4-FFF2-40B4-BE49-F238E27FC236}">
                <a16:creationId xmlns:a16="http://schemas.microsoft.com/office/drawing/2014/main" id="{88AC053B-7511-8C3E-FFAF-6BB8C076D534}"/>
              </a:ext>
            </a:extLst>
          </p:cNvPr>
          <p:cNvSpPr>
            <a:spLocks noGrp="1"/>
          </p:cNvSpPr>
          <p:nvPr>
            <p:ph type="sldNum" idx="12"/>
          </p:nvPr>
        </p:nvSpPr>
        <p:spPr/>
        <p:txBody>
          <a:bodyPr/>
          <a:lstStyle/>
          <a:p>
            <a:fld id="{00000000-1234-1234-1234-123412341234}" type="slidenum">
              <a:rPr lang="en-GB" smtClean="0"/>
              <a:pPr/>
              <a:t>23</a:t>
            </a:fld>
            <a:endParaRPr lang="en-GB"/>
          </a:p>
        </p:txBody>
      </p:sp>
    </p:spTree>
    <p:extLst>
      <p:ext uri="{BB962C8B-B14F-4D97-AF65-F5344CB8AC3E}">
        <p14:creationId xmlns:p14="http://schemas.microsoft.com/office/powerpoint/2010/main" val="575667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50824FB-9BC2-4DC1-0AD5-CB2A36588096}"/>
                  </a:ext>
                </a:extLst>
              </p:cNvPr>
              <p:cNvSpPr>
                <a:spLocks noGrp="1"/>
              </p:cNvSpPr>
              <p:nvPr>
                <p:ph type="title"/>
              </p:nvPr>
            </p:nvSpPr>
            <p:spPr/>
            <p:txBody>
              <a:bodyPr/>
              <a:lstStyle/>
              <a:p>
                <a:r>
                  <a:rPr lang="en-US" dirty="0"/>
                  <a:t>Compute gradient for second hidden layer </a:t>
                </a:r>
                <a14:m>
                  <m:oMath xmlns:m="http://schemas.openxmlformats.org/officeDocument/2006/math">
                    <m:r>
                      <a:rPr lang="en-US" i="1" dirty="0" smtClean="0">
                        <a:latin typeface="Cambria Math" panose="02040503050406030204" pitchFamily="18" charset="0"/>
                      </a:rPr>
                      <m:t>h</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2</m:t>
                        </m:r>
                      </m:e>
                      <m:sub>
                        <m:r>
                          <a:rPr lang="en-US" i="1" dirty="0" smtClean="0">
                            <a:latin typeface="Cambria Math" panose="02040503050406030204" pitchFamily="18" charset="0"/>
                          </a:rPr>
                          <m:t>1</m:t>
                        </m:r>
                      </m:sub>
                    </m:sSub>
                    <m:r>
                      <a:rPr lang="en-US" i="1" dirty="0" smtClean="0">
                        <a:latin typeface="Cambria Math" panose="02040503050406030204" pitchFamily="18" charset="0"/>
                      </a:rPr>
                      <m:t> , </m:t>
                    </m:r>
                    <m:r>
                      <a:rPr lang="en-US" i="1" dirty="0" smtClean="0">
                        <a:latin typeface="Cambria Math" panose="02040503050406030204" pitchFamily="18" charset="0"/>
                      </a:rPr>
                      <m:t>h</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2</m:t>
                        </m:r>
                      </m:e>
                      <m:sub>
                        <m:r>
                          <a:rPr lang="en-US" i="1" dirty="0" smtClean="0">
                            <a:latin typeface="Cambria Math" panose="02040503050406030204" pitchFamily="18" charset="0"/>
                          </a:rPr>
                          <m:t>2</m:t>
                        </m:r>
                      </m:sub>
                    </m:sSub>
                  </m:oMath>
                </a14:m>
                <a:r>
                  <a:rPr lang="en-US" dirty="0"/>
                  <a:t> </a:t>
                </a:r>
              </a:p>
            </p:txBody>
          </p:sp>
        </mc:Choice>
        <mc:Fallback xmlns="">
          <p:sp>
            <p:nvSpPr>
              <p:cNvPr id="2" name="Title 1">
                <a:extLst>
                  <a:ext uri="{FF2B5EF4-FFF2-40B4-BE49-F238E27FC236}">
                    <a16:creationId xmlns:a16="http://schemas.microsoft.com/office/drawing/2014/main" id="{350824FB-9BC2-4DC1-0AD5-CB2A36588096}"/>
                  </a:ext>
                </a:extLst>
              </p:cNvPr>
              <p:cNvSpPr>
                <a:spLocks noGrp="1" noRot="1" noChangeAspect="1" noMove="1" noResize="1" noEditPoints="1" noAdjustHandles="1" noChangeArrowheads="1" noChangeShapeType="1" noTextEdit="1"/>
              </p:cNvSpPr>
              <p:nvPr>
                <p:ph type="title"/>
              </p:nvPr>
            </p:nvSpPr>
            <p:spPr>
              <a:blipFill>
                <a:blip r:embed="rId2"/>
                <a:stretch>
                  <a:fillRect l="-1370" t="-3226" b="-64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8CC4D1B-E763-D5A1-0141-D9A85B3D6638}"/>
                  </a:ext>
                </a:extLst>
              </p:cNvPr>
              <p:cNvSpPr>
                <a:spLocks noGrp="1"/>
              </p:cNvSpPr>
              <p:nvPr>
                <p:ph type="body" idx="1"/>
              </p:nvPr>
            </p:nvSpPr>
            <p:spPr/>
            <p:txBody>
              <a:bodyPr/>
              <a:lstStyle/>
              <a:p>
                <a:r>
                  <a:rPr lang="en-US" sz="2400" dirty="0">
                    <a:latin typeface="+mn-lt"/>
                  </a:rPr>
                  <a:t>Compute Error Propagation to </a:t>
                </a:r>
                <a14:m>
                  <m:oMath xmlns:m="http://schemas.openxmlformats.org/officeDocument/2006/math">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2</m:t>
                        </m:r>
                      </m:e>
                      <m:sub>
                        <m:r>
                          <a:rPr lang="en-US" sz="2400" i="1" dirty="0" smtClean="0">
                            <a:latin typeface="Cambria Math" panose="02040503050406030204" pitchFamily="18" charset="0"/>
                          </a:rPr>
                          <m:t>1</m:t>
                        </m:r>
                      </m:sub>
                    </m:sSub>
                    <m:r>
                      <a:rPr lang="en-US" sz="2400" i="1" dirty="0" smtClean="0">
                        <a:latin typeface="Cambria Math" panose="02040503050406030204" pitchFamily="18" charset="0"/>
                      </a:rPr>
                      <m:t> ,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2</m:t>
                        </m:r>
                      </m:e>
                      <m:sub>
                        <m:r>
                          <a:rPr lang="en-US" sz="2400" i="1" dirty="0" smtClean="0">
                            <a:latin typeface="Cambria Math" panose="02040503050406030204" pitchFamily="18" charset="0"/>
                          </a:rPr>
                          <m:t>2</m:t>
                        </m:r>
                      </m:sub>
                    </m:sSub>
                  </m:oMath>
                </a14:m>
                <a:endParaRPr lang="en-US" sz="2400" dirty="0">
                  <a:latin typeface="+mn-lt"/>
                </a:endParaRPr>
              </a:p>
              <a:p>
                <a:pPr lvl="1"/>
                <a:r>
                  <a:rPr lang="en-US" sz="2400" dirty="0">
                    <a:latin typeface="+mn-lt"/>
                  </a:rPr>
                  <a:t>Using </a:t>
                </a:r>
                <a:r>
                  <a:rPr lang="en-US" sz="2400" b="1" dirty="0">
                    <a:latin typeface="+mn-lt"/>
                  </a:rPr>
                  <a:t>chain rule</a:t>
                </a:r>
                <a:r>
                  <a:rPr lang="en-US" sz="2400" dirty="0">
                    <a:latin typeface="+mn-lt"/>
                  </a:rPr>
                  <a:t>, we propagate error from the output layer back to the second hidden layer:</a:t>
                </a:r>
              </a:p>
              <a:p>
                <a:pPr lvl="1"/>
                <a:endParaRPr lang="en-US" sz="2400" dirty="0">
                  <a:latin typeface="+mn-lt"/>
                </a:endParaRPr>
              </a:p>
              <a:p>
                <a:pPr lvl="1"/>
                <a:endParaRPr lang="en-US" sz="2400" dirty="0">
                  <a:latin typeface="+mn-lt"/>
                </a:endParaRPr>
              </a:p>
              <a:p>
                <a:pPr lvl="1"/>
                <a:r>
                  <a:rPr lang="en-US" sz="2400" dirty="0">
                    <a:latin typeface="+mn-lt"/>
                  </a:rPr>
                  <a:t>Compute Activation Function Derivative (</a:t>
                </a:r>
                <a:r>
                  <a:rPr lang="en-US" sz="2400" dirty="0" err="1">
                    <a:latin typeface="+mn-lt"/>
                  </a:rPr>
                  <a:t>ReLU</a:t>
                </a:r>
                <a:r>
                  <a:rPr lang="en-US" sz="2400" dirty="0">
                    <a:latin typeface="+mn-lt"/>
                  </a:rPr>
                  <a:t>)</a:t>
                </a:r>
              </a:p>
              <a:p>
                <a:pPr lvl="1"/>
                <a:endParaRPr lang="en-US" dirty="0"/>
              </a:p>
            </p:txBody>
          </p:sp>
        </mc:Choice>
        <mc:Fallback xmlns="">
          <p:sp>
            <p:nvSpPr>
              <p:cNvPr id="3" name="Text Placeholder 2">
                <a:extLst>
                  <a:ext uri="{FF2B5EF4-FFF2-40B4-BE49-F238E27FC236}">
                    <a16:creationId xmlns:a16="http://schemas.microsoft.com/office/drawing/2014/main" id="{E8CC4D1B-E763-D5A1-0141-D9A85B3D6638}"/>
                  </a:ext>
                </a:extLst>
              </p:cNvPr>
              <p:cNvSpPr>
                <a:spLocks noGrp="1" noRot="1" noChangeAspect="1" noMove="1" noResize="1" noEditPoints="1" noAdjustHandles="1" noChangeArrowheads="1" noChangeShapeType="1" noTextEdit="1"/>
              </p:cNvSpPr>
              <p:nvPr>
                <p:ph type="body" idx="1"/>
              </p:nvPr>
            </p:nvSpPr>
            <p:spPr>
              <a:blipFill>
                <a:blip r:embed="rId3"/>
                <a:stretch>
                  <a:fillRect b="-667"/>
                </a:stretch>
              </a:blipFill>
            </p:spPr>
            <p:txBody>
              <a:bodyPr/>
              <a:lstStyle/>
              <a:p>
                <a:r>
                  <a:rPr lang="en-US">
                    <a:noFill/>
                  </a:rPr>
                  <a:t> </a:t>
                </a:r>
              </a:p>
            </p:txBody>
          </p:sp>
        </mc:Fallback>
      </mc:AlternateContent>
      <p:pic>
        <p:nvPicPr>
          <p:cNvPr id="5" name="Picture 4" descr="A number of letters and numbers&#10;&#10;AI-generated content may be incorrect.">
            <a:extLst>
              <a:ext uri="{FF2B5EF4-FFF2-40B4-BE49-F238E27FC236}">
                <a16:creationId xmlns:a16="http://schemas.microsoft.com/office/drawing/2014/main" id="{F5FEF306-5FA4-C209-F742-BC9CF4F05853}"/>
              </a:ext>
            </a:extLst>
          </p:cNvPr>
          <p:cNvPicPr>
            <a:picLocks noChangeAspect="1"/>
          </p:cNvPicPr>
          <p:nvPr/>
        </p:nvPicPr>
        <p:blipFill>
          <a:blip r:embed="rId4"/>
          <a:stretch>
            <a:fillRect/>
          </a:stretch>
        </p:blipFill>
        <p:spPr>
          <a:xfrm>
            <a:off x="4153509" y="3655859"/>
            <a:ext cx="2882900" cy="1625600"/>
          </a:xfrm>
          <a:prstGeom prst="rect">
            <a:avLst/>
          </a:prstGeom>
        </p:spPr>
      </p:pic>
      <p:pic>
        <p:nvPicPr>
          <p:cNvPr id="7" name="Picture 6" descr="A black and white math equation&#10;&#10;AI-generated content may be incorrect.">
            <a:extLst>
              <a:ext uri="{FF2B5EF4-FFF2-40B4-BE49-F238E27FC236}">
                <a16:creationId xmlns:a16="http://schemas.microsoft.com/office/drawing/2014/main" id="{FF7B6C89-45A9-5480-78B6-41A112A943F4}"/>
              </a:ext>
            </a:extLst>
          </p:cNvPr>
          <p:cNvPicPr>
            <a:picLocks noChangeAspect="1"/>
          </p:cNvPicPr>
          <p:nvPr/>
        </p:nvPicPr>
        <p:blipFill>
          <a:blip r:embed="rId5"/>
          <a:stretch>
            <a:fillRect/>
          </a:stretch>
        </p:blipFill>
        <p:spPr>
          <a:xfrm>
            <a:off x="7521618" y="5020033"/>
            <a:ext cx="3086100" cy="1244600"/>
          </a:xfrm>
          <a:prstGeom prst="rect">
            <a:avLst/>
          </a:prstGeom>
        </p:spPr>
      </p:pic>
      <p:sp>
        <p:nvSpPr>
          <p:cNvPr id="4" name="Slide Number Placeholder 3">
            <a:extLst>
              <a:ext uri="{FF2B5EF4-FFF2-40B4-BE49-F238E27FC236}">
                <a16:creationId xmlns:a16="http://schemas.microsoft.com/office/drawing/2014/main" id="{2AA89C87-0E22-A968-4F84-2D7DDC9636B4}"/>
              </a:ext>
            </a:extLst>
          </p:cNvPr>
          <p:cNvSpPr>
            <a:spLocks noGrp="1"/>
          </p:cNvSpPr>
          <p:nvPr>
            <p:ph type="sldNum" idx="12"/>
          </p:nvPr>
        </p:nvSpPr>
        <p:spPr/>
        <p:txBody>
          <a:bodyPr/>
          <a:lstStyle/>
          <a:p>
            <a:fld id="{00000000-1234-1234-1234-123412341234}" type="slidenum">
              <a:rPr lang="en-GB" smtClean="0"/>
              <a:pPr/>
              <a:t>24</a:t>
            </a:fld>
            <a:endParaRPr lang="en-GB"/>
          </a:p>
        </p:txBody>
      </p:sp>
    </p:spTree>
    <p:extLst>
      <p:ext uri="{BB962C8B-B14F-4D97-AF65-F5344CB8AC3E}">
        <p14:creationId xmlns:p14="http://schemas.microsoft.com/office/powerpoint/2010/main" val="3781817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4F83C8D-1776-84BA-8F71-8775DC1CF8BC}"/>
                  </a:ext>
                </a:extLst>
              </p:cNvPr>
              <p:cNvSpPr>
                <a:spLocks noGrp="1"/>
              </p:cNvSpPr>
              <p:nvPr>
                <p:ph type="body" idx="1"/>
              </p:nvPr>
            </p:nvSpPr>
            <p:spPr>
              <a:xfrm>
                <a:off x="759661" y="1526083"/>
                <a:ext cx="11360800" cy="3805833"/>
              </a:xfrm>
            </p:spPr>
            <p:txBody>
              <a:bodyPr/>
              <a:lstStyle/>
              <a:p>
                <a:r>
                  <a:rPr lang="en-US" sz="2400" dirty="0">
                    <a:latin typeface="+mn-lt"/>
                  </a:rPr>
                  <a:t>Compute Gradient </a:t>
                </a:r>
                <a:r>
                  <a:rPr lang="en-US" sz="2400" dirty="0" err="1">
                    <a:latin typeface="+mn-lt"/>
                  </a:rPr>
                  <a:t>w.r.t.</a:t>
                </a:r>
                <a:r>
                  <a:rPr lang="en-US" sz="2400" dirty="0">
                    <a:latin typeface="+mn-lt"/>
                  </a:rPr>
                  <a:t>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𝑧</m:t>
                        </m:r>
                      </m:e>
                      <m:sub>
                        <m:r>
                          <a:rPr lang="sv-SE" sz="2400" b="0" i="1" dirty="0" smtClean="0">
                            <a:latin typeface="Cambria Math" panose="02040503050406030204" pitchFamily="18" charset="0"/>
                          </a:rPr>
                          <m:t>h</m:t>
                        </m:r>
                        <m:sSub>
                          <m:sSubPr>
                            <m:ctrlPr>
                              <a:rPr lang="sv-SE" sz="2400" b="0" i="1" dirty="0" smtClean="0">
                                <a:latin typeface="Cambria Math" panose="02040503050406030204" pitchFamily="18" charset="0"/>
                              </a:rPr>
                            </m:ctrlPr>
                          </m:sSubPr>
                          <m:e>
                            <m:r>
                              <a:rPr lang="sv-SE" sz="2400" b="0" i="1" dirty="0" smtClean="0">
                                <a:latin typeface="Cambria Math" panose="02040503050406030204" pitchFamily="18" charset="0"/>
                              </a:rPr>
                              <m:t>2</m:t>
                            </m:r>
                          </m:e>
                          <m:sub>
                            <m:r>
                              <a:rPr lang="sv-SE" sz="2400" b="0" i="1" dirty="0" smtClean="0">
                                <a:latin typeface="Cambria Math" panose="02040503050406030204" pitchFamily="18" charset="0"/>
                              </a:rPr>
                              <m:t>1</m:t>
                            </m:r>
                          </m:sub>
                        </m:sSub>
                      </m:sub>
                    </m:sSub>
                    <m:r>
                      <a:rPr lang="en-US" sz="2400" i="1" dirty="0" smtClean="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𝑧</m:t>
                        </m:r>
                      </m:e>
                      <m:sub>
                        <m:r>
                          <a:rPr lang="sv-SE" sz="2400" i="1" dirty="0">
                            <a:latin typeface="Cambria Math" panose="02040503050406030204" pitchFamily="18" charset="0"/>
                          </a:rPr>
                          <m:t>h</m:t>
                        </m:r>
                        <m:sSub>
                          <m:sSubPr>
                            <m:ctrlPr>
                              <a:rPr lang="sv-SE" sz="2400" i="1" dirty="0">
                                <a:latin typeface="Cambria Math" panose="02040503050406030204" pitchFamily="18" charset="0"/>
                              </a:rPr>
                            </m:ctrlPr>
                          </m:sSubPr>
                          <m:e>
                            <m:r>
                              <a:rPr lang="sv-SE" sz="2400" i="1" dirty="0">
                                <a:latin typeface="Cambria Math" panose="02040503050406030204" pitchFamily="18" charset="0"/>
                              </a:rPr>
                              <m:t>2</m:t>
                            </m:r>
                          </m:e>
                          <m:sub>
                            <m:r>
                              <a:rPr lang="sv-SE" sz="2400" b="0" i="1" dirty="0" smtClean="0">
                                <a:latin typeface="Cambria Math" panose="02040503050406030204" pitchFamily="18" charset="0"/>
                              </a:rPr>
                              <m:t>2</m:t>
                            </m:r>
                          </m:sub>
                        </m:sSub>
                      </m:sub>
                    </m:sSub>
                  </m:oMath>
                </a14:m>
                <a:endParaRPr lang="en-US" sz="2400" dirty="0">
                  <a:latin typeface="+mn-lt"/>
                </a:endParaRPr>
              </a:p>
              <a:p>
                <a:endParaRPr lang="en-US" sz="2400" dirty="0">
                  <a:latin typeface="+mn-lt"/>
                </a:endParaRPr>
              </a:p>
              <a:p>
                <a:endParaRPr lang="en-US" sz="2400" dirty="0">
                  <a:latin typeface="+mn-lt"/>
                </a:endParaRPr>
              </a:p>
              <a:p>
                <a:endParaRPr lang="en-US" sz="2400" dirty="0">
                  <a:latin typeface="+mn-lt"/>
                </a:endParaRPr>
              </a:p>
              <a:p>
                <a:endParaRPr lang="en-US" sz="2400" dirty="0">
                  <a:latin typeface="+mn-lt"/>
                </a:endParaRPr>
              </a:p>
              <a:p>
                <a:r>
                  <a:rPr lang="en-US" sz="2400" dirty="0"/>
                  <a:t>Compute Gradients for Weights and Bias (Connecting </a:t>
                </a:r>
                <a14:m>
                  <m:oMath xmlns:m="http://schemas.openxmlformats.org/officeDocument/2006/math">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1</m:t>
                        </m:r>
                      </m:e>
                      <m:sub>
                        <m:r>
                          <a:rPr lang="en-US" sz="2400" i="1" dirty="0" smtClean="0">
                            <a:latin typeface="Cambria Math" panose="02040503050406030204" pitchFamily="18" charset="0"/>
                          </a:rPr>
                          <m:t>1</m:t>
                        </m:r>
                      </m:sub>
                    </m:sSub>
                    <m:r>
                      <a:rPr lang="en-US" sz="2400" i="1" dirty="0" smtClean="0">
                        <a:latin typeface="Cambria Math" panose="02040503050406030204" pitchFamily="18" charset="0"/>
                      </a:rPr>
                      <m:t>,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1</m:t>
                        </m:r>
                      </m:e>
                      <m:sub>
                        <m:r>
                          <a:rPr lang="en-US" sz="2400" i="1" dirty="0" smtClean="0">
                            <a:latin typeface="Cambria Math" panose="02040503050406030204" pitchFamily="18" charset="0"/>
                          </a:rPr>
                          <m:t>2</m:t>
                        </m:r>
                      </m:sub>
                    </m:sSub>
                    <m:r>
                      <a:rPr lang="en-US" sz="2400" i="1" dirty="0" smtClean="0">
                        <a:latin typeface="Cambria Math" panose="02040503050406030204" pitchFamily="18" charset="0"/>
                      </a:rPr>
                      <m:t>,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1</m:t>
                        </m:r>
                      </m:e>
                      <m:sub>
                        <m:r>
                          <a:rPr lang="en-US" sz="2400" i="1" dirty="0" smtClean="0">
                            <a:latin typeface="Cambria Math" panose="02040503050406030204" pitchFamily="18" charset="0"/>
                          </a:rPr>
                          <m:t>3</m:t>
                        </m:r>
                      </m:sub>
                    </m:sSub>
                  </m:oMath>
                </a14:m>
                <a:r>
                  <a:rPr lang="en-US" sz="2400" dirty="0"/>
                  <a:t> to </a:t>
                </a:r>
                <a14:m>
                  <m:oMath xmlns:m="http://schemas.openxmlformats.org/officeDocument/2006/math">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2</m:t>
                        </m:r>
                      </m:e>
                      <m:sub>
                        <m:r>
                          <a:rPr lang="en-US" sz="2400" i="1" dirty="0" smtClean="0">
                            <a:latin typeface="Cambria Math" panose="02040503050406030204" pitchFamily="18" charset="0"/>
                          </a:rPr>
                          <m:t>1</m:t>
                        </m:r>
                      </m:sub>
                    </m:sSub>
                    <m:r>
                      <a:rPr lang="en-US" sz="2400" i="1" dirty="0" smtClean="0">
                        <a:latin typeface="Cambria Math" panose="02040503050406030204" pitchFamily="18" charset="0"/>
                      </a:rPr>
                      <m:t>,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2</m:t>
                        </m:r>
                      </m:e>
                      <m:sub>
                        <m:r>
                          <a:rPr lang="en-US" sz="2400" i="1" dirty="0" smtClean="0">
                            <a:latin typeface="Cambria Math" panose="02040503050406030204" pitchFamily="18" charset="0"/>
                          </a:rPr>
                          <m:t>2</m:t>
                        </m:r>
                      </m:sub>
                    </m:sSub>
                    <m:r>
                      <a:rPr lang="en-US" sz="2400" i="1" dirty="0" smtClean="0">
                        <a:latin typeface="Cambria Math" panose="02040503050406030204" pitchFamily="18" charset="0"/>
                      </a:rPr>
                      <m:t>​</m:t>
                    </m:r>
                  </m:oMath>
                </a14:m>
                <a:r>
                  <a:rPr lang="en-US" sz="2400" dirty="0"/>
                  <a:t>)</a:t>
                </a:r>
              </a:p>
              <a:p>
                <a:endParaRPr lang="en-US" sz="2400" dirty="0">
                  <a:latin typeface="+mn-lt"/>
                </a:endParaRPr>
              </a:p>
              <a:p>
                <a:r>
                  <a:rPr lang="en-US" sz="2400" dirty="0">
                    <a:latin typeface="+mn-lt"/>
                  </a:rPr>
                  <a:t>Similar calculation for </a:t>
                </a:r>
                <a14:m>
                  <m:oMath xmlns:m="http://schemas.openxmlformats.org/officeDocument/2006/math">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2</m:t>
                        </m:r>
                      </m:e>
                      <m:sub>
                        <m:r>
                          <a:rPr lang="en-US" sz="2400" i="1" dirty="0" smtClean="0">
                            <a:latin typeface="Cambria Math" panose="02040503050406030204" pitchFamily="18" charset="0"/>
                          </a:rPr>
                          <m:t>2</m:t>
                        </m:r>
                      </m:sub>
                    </m:sSub>
                  </m:oMath>
                </a14:m>
                <a:endParaRPr lang="en-US" sz="2400" dirty="0">
                  <a:latin typeface="+mn-lt"/>
                </a:endParaRPr>
              </a:p>
            </p:txBody>
          </p:sp>
        </mc:Choice>
        <mc:Fallback xmlns="">
          <p:sp>
            <p:nvSpPr>
              <p:cNvPr id="3" name="Text Placeholder 2">
                <a:extLst>
                  <a:ext uri="{FF2B5EF4-FFF2-40B4-BE49-F238E27FC236}">
                    <a16:creationId xmlns:a16="http://schemas.microsoft.com/office/drawing/2014/main" id="{04F83C8D-1776-84BA-8F71-8775DC1CF8BC}"/>
                  </a:ext>
                </a:extLst>
              </p:cNvPr>
              <p:cNvSpPr>
                <a:spLocks noGrp="1" noRot="1" noChangeAspect="1" noMove="1" noResize="1" noEditPoints="1" noAdjustHandles="1" noChangeArrowheads="1" noChangeShapeType="1" noTextEdit="1"/>
              </p:cNvSpPr>
              <p:nvPr>
                <p:ph type="body" idx="1"/>
              </p:nvPr>
            </p:nvSpPr>
            <p:spPr>
              <a:xfrm>
                <a:off x="759661" y="1526083"/>
                <a:ext cx="11360800" cy="3805833"/>
              </a:xfrm>
              <a:blipFill>
                <a:blip r:embed="rId2"/>
                <a:stretch>
                  <a:fillRect b="-69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itle 1">
                <a:extLst>
                  <a:ext uri="{FF2B5EF4-FFF2-40B4-BE49-F238E27FC236}">
                    <a16:creationId xmlns:a16="http://schemas.microsoft.com/office/drawing/2014/main" id="{CEC7A502-A600-2ECE-27BE-78DBECE25807}"/>
                  </a:ext>
                </a:extLst>
              </p:cNvPr>
              <p:cNvSpPr txBox="1">
                <a:spLocks/>
              </p:cNvSpPr>
              <p:nvPr/>
            </p:nvSpPr>
            <p:spPr>
              <a:xfrm>
                <a:off x="759661" y="658085"/>
                <a:ext cx="11106509" cy="763600"/>
              </a:xfrm>
              <a:prstGeom prst="rect">
                <a:avLst/>
              </a:prstGeom>
              <a:noFill/>
              <a:ln>
                <a:noFill/>
              </a:ln>
            </p:spPr>
            <p:txBody>
              <a:bodyPr spcFirstLastPara="1" vert="horz" wrap="square" lIns="91425" tIns="91425" rIns="91425" bIns="91425" rtlCol="0" anchor="t" anchorCtr="0">
                <a:noAutofit/>
              </a:bodyPr>
              <a:lstStyle>
                <a:lvl1pPr lvl="0" algn="l" defTabSz="914400" rtl="0" eaLnBrk="1" latinLnBrk="0" hangingPunct="1">
                  <a:lnSpc>
                    <a:spcPct val="100000"/>
                  </a:lnSpc>
                  <a:spcBef>
                    <a:spcPts val="0"/>
                  </a:spcBef>
                  <a:spcAft>
                    <a:spcPts val="0"/>
                  </a:spcAft>
                  <a:buClr>
                    <a:schemeClr val="lt2"/>
                  </a:buClr>
                  <a:buSzPts val="2800"/>
                  <a:buFont typeface="Century Gothic"/>
                  <a:buNone/>
                  <a:defRPr sz="3200" kern="1200" baseline="0">
                    <a:solidFill>
                      <a:schemeClr val="tx1"/>
                    </a:solidFill>
                    <a:latin typeface="Work Sans" pitchFamily="2" charset="77"/>
                    <a:ea typeface="+mj-ea"/>
                    <a:cs typeface="+mj-cs"/>
                  </a:defRPr>
                </a:lvl1pPr>
                <a:lvl2pPr lvl="1" algn="l">
                  <a:lnSpc>
                    <a:spcPct val="100000"/>
                  </a:lnSpc>
                  <a:spcBef>
                    <a:spcPts val="0"/>
                  </a:spcBef>
                  <a:spcAft>
                    <a:spcPts val="0"/>
                  </a:spcAft>
                  <a:buClr>
                    <a:schemeClr val="dk2"/>
                  </a:buClr>
                  <a:buSzPts val="2800"/>
                  <a:buNone/>
                  <a:defRPr/>
                </a:lvl2pPr>
                <a:lvl3pPr lvl="2" algn="l">
                  <a:lnSpc>
                    <a:spcPct val="100000"/>
                  </a:lnSpc>
                  <a:spcBef>
                    <a:spcPts val="0"/>
                  </a:spcBef>
                  <a:spcAft>
                    <a:spcPts val="0"/>
                  </a:spcAft>
                  <a:buClr>
                    <a:schemeClr val="dk2"/>
                  </a:buClr>
                  <a:buSzPts val="2800"/>
                  <a:buNone/>
                  <a:defRPr/>
                </a:lvl3pPr>
                <a:lvl4pPr lvl="3" algn="l">
                  <a:lnSpc>
                    <a:spcPct val="100000"/>
                  </a:lnSpc>
                  <a:spcBef>
                    <a:spcPts val="0"/>
                  </a:spcBef>
                  <a:spcAft>
                    <a:spcPts val="0"/>
                  </a:spcAft>
                  <a:buClr>
                    <a:schemeClr val="dk2"/>
                  </a:buClr>
                  <a:buSzPts val="2800"/>
                  <a:buNone/>
                  <a:defRPr/>
                </a:lvl4pPr>
                <a:lvl5pPr lvl="4" algn="l">
                  <a:lnSpc>
                    <a:spcPct val="100000"/>
                  </a:lnSpc>
                  <a:spcBef>
                    <a:spcPts val="0"/>
                  </a:spcBef>
                  <a:spcAft>
                    <a:spcPts val="0"/>
                  </a:spcAft>
                  <a:buClr>
                    <a:schemeClr val="dk2"/>
                  </a:buClr>
                  <a:buSzPts val="2800"/>
                  <a:buNone/>
                  <a:defRPr/>
                </a:lvl5pPr>
                <a:lvl6pPr lvl="5" algn="l">
                  <a:lnSpc>
                    <a:spcPct val="100000"/>
                  </a:lnSpc>
                  <a:spcBef>
                    <a:spcPts val="0"/>
                  </a:spcBef>
                  <a:spcAft>
                    <a:spcPts val="0"/>
                  </a:spcAft>
                  <a:buClr>
                    <a:schemeClr val="dk2"/>
                  </a:buClr>
                  <a:buSzPts val="2800"/>
                  <a:buNone/>
                  <a:defRPr/>
                </a:lvl6pPr>
                <a:lvl7pPr lvl="6" algn="l">
                  <a:lnSpc>
                    <a:spcPct val="100000"/>
                  </a:lnSpc>
                  <a:spcBef>
                    <a:spcPts val="0"/>
                  </a:spcBef>
                  <a:spcAft>
                    <a:spcPts val="0"/>
                  </a:spcAft>
                  <a:buClr>
                    <a:schemeClr val="dk2"/>
                  </a:buClr>
                  <a:buSzPts val="2800"/>
                  <a:buNone/>
                  <a:defRPr/>
                </a:lvl7pPr>
                <a:lvl8pPr lvl="7" algn="l">
                  <a:lnSpc>
                    <a:spcPct val="100000"/>
                  </a:lnSpc>
                  <a:spcBef>
                    <a:spcPts val="0"/>
                  </a:spcBef>
                  <a:spcAft>
                    <a:spcPts val="0"/>
                  </a:spcAft>
                  <a:buClr>
                    <a:schemeClr val="dk2"/>
                  </a:buClr>
                  <a:buSzPts val="2800"/>
                  <a:buNone/>
                  <a:defRPr/>
                </a:lvl8pPr>
                <a:lvl9pPr lvl="8" algn="l">
                  <a:lnSpc>
                    <a:spcPct val="100000"/>
                  </a:lnSpc>
                  <a:spcBef>
                    <a:spcPts val="0"/>
                  </a:spcBef>
                  <a:spcAft>
                    <a:spcPts val="0"/>
                  </a:spcAft>
                  <a:buClr>
                    <a:schemeClr val="dk2"/>
                  </a:buClr>
                  <a:buSzPts val="2800"/>
                  <a:buNone/>
                  <a:defRPr/>
                </a:lvl9pPr>
              </a:lstStyle>
              <a:p>
                <a:r>
                  <a:rPr lang="en-US" dirty="0"/>
                  <a:t>Compute gradient for second hidden layer </a:t>
                </a:r>
                <a14:m>
                  <m:oMath xmlns:m="http://schemas.openxmlformats.org/officeDocument/2006/math">
                    <m:r>
                      <a:rPr lang="en-US" i="1" dirty="0" smtClean="0">
                        <a:latin typeface="Cambria Math" panose="02040503050406030204" pitchFamily="18" charset="0"/>
                      </a:rPr>
                      <m:t>h</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2</m:t>
                        </m:r>
                      </m:e>
                      <m:sub>
                        <m:r>
                          <a:rPr lang="en-US" i="1" dirty="0" smtClean="0">
                            <a:latin typeface="Cambria Math" panose="02040503050406030204" pitchFamily="18" charset="0"/>
                          </a:rPr>
                          <m:t>1</m:t>
                        </m:r>
                      </m:sub>
                    </m:sSub>
                    <m:r>
                      <a:rPr lang="en-US" i="1" dirty="0" smtClean="0">
                        <a:latin typeface="Cambria Math" panose="02040503050406030204" pitchFamily="18" charset="0"/>
                      </a:rPr>
                      <m:t> , </m:t>
                    </m:r>
                    <m:r>
                      <a:rPr lang="en-US" i="1" dirty="0" smtClean="0">
                        <a:latin typeface="Cambria Math" panose="02040503050406030204" pitchFamily="18" charset="0"/>
                      </a:rPr>
                      <m:t>h</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2</m:t>
                        </m:r>
                      </m:e>
                      <m:sub>
                        <m:r>
                          <a:rPr lang="en-US" i="1" dirty="0" smtClean="0">
                            <a:latin typeface="Cambria Math" panose="02040503050406030204" pitchFamily="18" charset="0"/>
                          </a:rPr>
                          <m:t>2</m:t>
                        </m:r>
                      </m:sub>
                    </m:sSub>
                  </m:oMath>
                </a14:m>
                <a:r>
                  <a:rPr lang="en-US" dirty="0"/>
                  <a:t> </a:t>
                </a:r>
              </a:p>
            </p:txBody>
          </p:sp>
        </mc:Choice>
        <mc:Fallback xmlns="">
          <p:sp>
            <p:nvSpPr>
              <p:cNvPr id="4" name="Title 1">
                <a:extLst>
                  <a:ext uri="{FF2B5EF4-FFF2-40B4-BE49-F238E27FC236}">
                    <a16:creationId xmlns:a16="http://schemas.microsoft.com/office/drawing/2014/main" id="{CEC7A502-A600-2ECE-27BE-78DBECE25807}"/>
                  </a:ext>
                </a:extLst>
              </p:cNvPr>
              <p:cNvSpPr txBox="1">
                <a:spLocks noRot="1" noChangeAspect="1" noMove="1" noResize="1" noEditPoints="1" noAdjustHandles="1" noChangeArrowheads="1" noChangeShapeType="1" noTextEdit="1"/>
              </p:cNvSpPr>
              <p:nvPr/>
            </p:nvSpPr>
            <p:spPr>
              <a:xfrm>
                <a:off x="759661" y="658085"/>
                <a:ext cx="11106509" cy="763600"/>
              </a:xfrm>
              <a:prstGeom prst="rect">
                <a:avLst/>
              </a:prstGeom>
              <a:blipFill>
                <a:blip r:embed="rId3"/>
                <a:stretch>
                  <a:fillRect l="-1371" t="-3279" b="-8197"/>
                </a:stretch>
              </a:blipFill>
              <a:ln>
                <a:noFill/>
              </a:ln>
            </p:spPr>
            <p:txBody>
              <a:bodyPr/>
              <a:lstStyle/>
              <a:p>
                <a:r>
                  <a:rPr lang="en-US">
                    <a:noFill/>
                  </a:rPr>
                  <a:t> </a:t>
                </a:r>
              </a:p>
            </p:txBody>
          </p:sp>
        </mc:Fallback>
      </mc:AlternateContent>
      <p:pic>
        <p:nvPicPr>
          <p:cNvPr id="6" name="Picture 5" descr="A number of mathematical equations&#10;&#10;AI-generated content may be incorrect.">
            <a:extLst>
              <a:ext uri="{FF2B5EF4-FFF2-40B4-BE49-F238E27FC236}">
                <a16:creationId xmlns:a16="http://schemas.microsoft.com/office/drawing/2014/main" id="{CD61D9E8-9DAC-3516-4A6A-D73603EFDF61}"/>
              </a:ext>
            </a:extLst>
          </p:cNvPr>
          <p:cNvPicPr>
            <a:picLocks noChangeAspect="1"/>
          </p:cNvPicPr>
          <p:nvPr/>
        </p:nvPicPr>
        <p:blipFill>
          <a:blip r:embed="rId4"/>
          <a:stretch>
            <a:fillRect/>
          </a:stretch>
        </p:blipFill>
        <p:spPr>
          <a:xfrm>
            <a:off x="6545807" y="1701799"/>
            <a:ext cx="2908300" cy="1727200"/>
          </a:xfrm>
          <a:prstGeom prst="rect">
            <a:avLst/>
          </a:prstGeom>
        </p:spPr>
      </p:pic>
      <p:pic>
        <p:nvPicPr>
          <p:cNvPr id="8" name="Picture 7" descr="A math equations and formulas&#10;&#10;AI-generated content may be incorrect.">
            <a:extLst>
              <a:ext uri="{FF2B5EF4-FFF2-40B4-BE49-F238E27FC236}">
                <a16:creationId xmlns:a16="http://schemas.microsoft.com/office/drawing/2014/main" id="{C9307F91-4F51-7DFC-CF29-C789EAD54D9A}"/>
              </a:ext>
            </a:extLst>
          </p:cNvPr>
          <p:cNvPicPr>
            <a:picLocks noChangeAspect="1"/>
          </p:cNvPicPr>
          <p:nvPr/>
        </p:nvPicPr>
        <p:blipFill>
          <a:blip r:embed="rId5"/>
          <a:stretch>
            <a:fillRect/>
          </a:stretch>
        </p:blipFill>
        <p:spPr>
          <a:xfrm>
            <a:off x="6312915" y="4241800"/>
            <a:ext cx="3162300" cy="2616200"/>
          </a:xfrm>
          <a:prstGeom prst="rect">
            <a:avLst/>
          </a:prstGeom>
        </p:spPr>
      </p:pic>
      <p:sp>
        <p:nvSpPr>
          <p:cNvPr id="2" name="Slide Number Placeholder 1">
            <a:extLst>
              <a:ext uri="{FF2B5EF4-FFF2-40B4-BE49-F238E27FC236}">
                <a16:creationId xmlns:a16="http://schemas.microsoft.com/office/drawing/2014/main" id="{3CD93DB2-E718-0D71-4302-F1E76C632F7F}"/>
              </a:ext>
            </a:extLst>
          </p:cNvPr>
          <p:cNvSpPr>
            <a:spLocks noGrp="1"/>
          </p:cNvSpPr>
          <p:nvPr>
            <p:ph type="sldNum" idx="12"/>
          </p:nvPr>
        </p:nvSpPr>
        <p:spPr/>
        <p:txBody>
          <a:bodyPr/>
          <a:lstStyle/>
          <a:p>
            <a:fld id="{00000000-1234-1234-1234-123412341234}" type="slidenum">
              <a:rPr lang="en-GB" smtClean="0"/>
              <a:pPr/>
              <a:t>25</a:t>
            </a:fld>
            <a:endParaRPr lang="en-GB"/>
          </a:p>
        </p:txBody>
      </p:sp>
    </p:spTree>
    <p:extLst>
      <p:ext uri="{BB962C8B-B14F-4D97-AF65-F5344CB8AC3E}">
        <p14:creationId xmlns:p14="http://schemas.microsoft.com/office/powerpoint/2010/main" val="3291396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72B7667-1BFA-D30E-F209-A3FE6BE3C904}"/>
                  </a:ext>
                </a:extLst>
              </p:cNvPr>
              <p:cNvSpPr>
                <a:spLocks noGrp="1"/>
              </p:cNvSpPr>
              <p:nvPr>
                <p:ph type="title"/>
              </p:nvPr>
            </p:nvSpPr>
            <p:spPr/>
            <p:txBody>
              <a:bodyPr/>
              <a:lstStyle/>
              <a:p>
                <a:r>
                  <a:rPr lang="en-US" dirty="0"/>
                  <a:t>Compute gradient for First hidden layer </a:t>
                </a:r>
                <a14:m>
                  <m:oMath xmlns:m="http://schemas.openxmlformats.org/officeDocument/2006/math">
                    <m:r>
                      <a:rPr lang="en-US" i="1" dirty="0" smtClean="0">
                        <a:latin typeface="Cambria Math" panose="02040503050406030204" pitchFamily="18" charset="0"/>
                      </a:rPr>
                      <m:t>h</m:t>
                    </m:r>
                    <m:sSub>
                      <m:sSubPr>
                        <m:ctrlPr>
                          <a:rPr lang="en-US" i="1" dirty="0" smtClean="0">
                            <a:latin typeface="Cambria Math" panose="02040503050406030204" pitchFamily="18" charset="0"/>
                          </a:rPr>
                        </m:ctrlPr>
                      </m:sSubPr>
                      <m:e>
                        <m:r>
                          <a:rPr lang="sv-SE" b="0" i="1" dirty="0" smtClean="0">
                            <a:latin typeface="Cambria Math" panose="02040503050406030204" pitchFamily="18" charset="0"/>
                          </a:rPr>
                          <m:t>1</m:t>
                        </m:r>
                      </m:e>
                      <m:sub>
                        <m:r>
                          <a:rPr lang="en-US" i="1" dirty="0" smtClean="0">
                            <a:latin typeface="Cambria Math" panose="02040503050406030204" pitchFamily="18" charset="0"/>
                          </a:rPr>
                          <m:t>1</m:t>
                        </m:r>
                      </m:sub>
                    </m:sSub>
                    <m:r>
                      <a:rPr lang="en-US" i="1" dirty="0" smtClean="0">
                        <a:latin typeface="Cambria Math" panose="02040503050406030204" pitchFamily="18" charset="0"/>
                      </a:rPr>
                      <m:t> , </m:t>
                    </m:r>
                    <m:r>
                      <a:rPr lang="en-US" i="1" dirty="0" smtClean="0">
                        <a:latin typeface="Cambria Math" panose="02040503050406030204" pitchFamily="18" charset="0"/>
                      </a:rPr>
                      <m:t>h</m:t>
                    </m:r>
                    <m:sSub>
                      <m:sSubPr>
                        <m:ctrlPr>
                          <a:rPr lang="en-US" i="1" dirty="0" smtClean="0">
                            <a:latin typeface="Cambria Math" panose="02040503050406030204" pitchFamily="18" charset="0"/>
                          </a:rPr>
                        </m:ctrlPr>
                      </m:sSubPr>
                      <m:e>
                        <m:r>
                          <a:rPr lang="sv-SE" b="0" i="1" dirty="0" smtClean="0">
                            <a:latin typeface="Cambria Math" panose="02040503050406030204" pitchFamily="18" charset="0"/>
                          </a:rPr>
                          <m:t>1</m:t>
                        </m:r>
                      </m:e>
                      <m:sub>
                        <m:r>
                          <a:rPr lang="en-US" i="1" dirty="0" smtClean="0">
                            <a:latin typeface="Cambria Math" panose="02040503050406030204" pitchFamily="18" charset="0"/>
                          </a:rPr>
                          <m:t>2</m:t>
                        </m:r>
                      </m:sub>
                    </m:sSub>
                    <m:r>
                      <a:rPr lang="sv-SE" b="0" i="1" dirty="0" smtClean="0">
                        <a:latin typeface="Cambria Math" panose="02040503050406030204" pitchFamily="18" charset="0"/>
                      </a:rPr>
                      <m:t>, </m:t>
                    </m:r>
                    <m:r>
                      <a:rPr lang="sv-SE" b="0" i="1" dirty="0" smtClean="0">
                        <a:latin typeface="Cambria Math" panose="02040503050406030204" pitchFamily="18" charset="0"/>
                      </a:rPr>
                      <m:t>h</m:t>
                    </m:r>
                    <m:sSub>
                      <m:sSubPr>
                        <m:ctrlPr>
                          <a:rPr lang="sv-SE" b="0" i="1" dirty="0" smtClean="0">
                            <a:latin typeface="Cambria Math" panose="02040503050406030204" pitchFamily="18" charset="0"/>
                          </a:rPr>
                        </m:ctrlPr>
                      </m:sSubPr>
                      <m:e>
                        <m:r>
                          <a:rPr lang="sv-SE" b="0" i="1" dirty="0" smtClean="0">
                            <a:latin typeface="Cambria Math" panose="02040503050406030204" pitchFamily="18" charset="0"/>
                          </a:rPr>
                          <m:t>1</m:t>
                        </m:r>
                      </m:e>
                      <m:sub>
                        <m:r>
                          <a:rPr lang="sv-SE" b="0" i="1" dirty="0" smtClean="0">
                            <a:latin typeface="Cambria Math" panose="02040503050406030204" pitchFamily="18" charset="0"/>
                          </a:rPr>
                          <m:t>3</m:t>
                        </m:r>
                      </m:sub>
                    </m:sSub>
                  </m:oMath>
                </a14:m>
                <a:r>
                  <a:rPr lang="en-US" dirty="0"/>
                  <a:t> </a:t>
                </a:r>
                <a:br>
                  <a:rPr lang="en-US" dirty="0"/>
                </a:br>
                <a:endParaRPr lang="en-US" dirty="0"/>
              </a:p>
            </p:txBody>
          </p:sp>
        </mc:Choice>
        <mc:Fallback xmlns="">
          <p:sp>
            <p:nvSpPr>
              <p:cNvPr id="2" name="Title 1">
                <a:extLst>
                  <a:ext uri="{FF2B5EF4-FFF2-40B4-BE49-F238E27FC236}">
                    <a16:creationId xmlns:a16="http://schemas.microsoft.com/office/drawing/2014/main" id="{672B7667-1BFA-D30E-F209-A3FE6BE3C904}"/>
                  </a:ext>
                </a:extLst>
              </p:cNvPr>
              <p:cNvSpPr>
                <a:spLocks noGrp="1" noRot="1" noChangeAspect="1" noMove="1" noResize="1" noEditPoints="1" noAdjustHandles="1" noChangeArrowheads="1" noChangeShapeType="1" noTextEdit="1"/>
              </p:cNvSpPr>
              <p:nvPr>
                <p:ph type="title"/>
              </p:nvPr>
            </p:nvSpPr>
            <p:spPr>
              <a:blipFill>
                <a:blip r:embed="rId2"/>
                <a:stretch>
                  <a:fillRect l="-1370" t="-3226" b="-64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EFBC379-EB98-0994-BB32-8DC39DE3A43D}"/>
                  </a:ext>
                </a:extLst>
              </p:cNvPr>
              <p:cNvSpPr>
                <a:spLocks noGrp="1"/>
              </p:cNvSpPr>
              <p:nvPr>
                <p:ph type="body" idx="1"/>
              </p:nvPr>
            </p:nvSpPr>
            <p:spPr>
              <a:xfrm>
                <a:off x="542745" y="1356967"/>
                <a:ext cx="11360800" cy="5181619"/>
              </a:xfrm>
            </p:spPr>
            <p:txBody>
              <a:bodyPr/>
              <a:lstStyle/>
              <a:p>
                <a:r>
                  <a:rPr lang="en-US" sz="2400" dirty="0">
                    <a:latin typeface="+mn-lt"/>
                  </a:rPr>
                  <a:t>Compute the error propagated to </a:t>
                </a:r>
                <a14:m>
                  <m:oMath xmlns:m="http://schemas.openxmlformats.org/officeDocument/2006/math">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sv-SE" sz="2400" b="0" i="1" dirty="0" smtClean="0">
                            <a:latin typeface="Cambria Math" panose="02040503050406030204" pitchFamily="18" charset="0"/>
                          </a:rPr>
                          <m:t>1</m:t>
                        </m:r>
                      </m:e>
                      <m:sub>
                        <m:r>
                          <a:rPr lang="en-US" sz="2400" i="1" dirty="0" smtClean="0">
                            <a:latin typeface="Cambria Math" panose="02040503050406030204" pitchFamily="18" charset="0"/>
                          </a:rPr>
                          <m:t>1</m:t>
                        </m:r>
                      </m:sub>
                    </m:sSub>
                    <m:r>
                      <a:rPr lang="en-US" sz="2400" i="1" dirty="0" smtClean="0">
                        <a:latin typeface="Cambria Math" panose="02040503050406030204" pitchFamily="18" charset="0"/>
                      </a:rPr>
                      <m:t> ,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sv-SE" sz="2400" b="0" i="1" dirty="0" smtClean="0">
                            <a:latin typeface="Cambria Math" panose="02040503050406030204" pitchFamily="18" charset="0"/>
                          </a:rPr>
                          <m:t>1</m:t>
                        </m:r>
                      </m:e>
                      <m:sub>
                        <m:r>
                          <a:rPr lang="en-US" sz="2400" i="1" dirty="0" smtClean="0">
                            <a:latin typeface="Cambria Math" panose="02040503050406030204" pitchFamily="18" charset="0"/>
                          </a:rPr>
                          <m:t>2</m:t>
                        </m:r>
                      </m:sub>
                    </m:sSub>
                    <m:r>
                      <a:rPr lang="sv-SE" sz="2400" b="0" i="1" dirty="0" smtClean="0">
                        <a:latin typeface="Cambria Math" panose="02040503050406030204" pitchFamily="18" charset="0"/>
                      </a:rPr>
                      <m:t>, </m:t>
                    </m:r>
                    <m:r>
                      <a:rPr lang="sv-SE" sz="2400" b="0" i="1" dirty="0" smtClean="0">
                        <a:latin typeface="Cambria Math" panose="02040503050406030204" pitchFamily="18" charset="0"/>
                      </a:rPr>
                      <m:t>h</m:t>
                    </m:r>
                    <m:sSub>
                      <m:sSubPr>
                        <m:ctrlPr>
                          <a:rPr lang="sv-SE" sz="2400" b="0" i="1" dirty="0" smtClean="0">
                            <a:latin typeface="Cambria Math" panose="02040503050406030204" pitchFamily="18" charset="0"/>
                          </a:rPr>
                        </m:ctrlPr>
                      </m:sSubPr>
                      <m:e>
                        <m:r>
                          <a:rPr lang="sv-SE" sz="2400" b="0" i="1" dirty="0" smtClean="0">
                            <a:latin typeface="Cambria Math" panose="02040503050406030204" pitchFamily="18" charset="0"/>
                          </a:rPr>
                          <m:t>1</m:t>
                        </m:r>
                      </m:e>
                      <m:sub>
                        <m:r>
                          <a:rPr lang="sv-SE" sz="2400" b="0" i="1" dirty="0" smtClean="0">
                            <a:latin typeface="Cambria Math" panose="02040503050406030204" pitchFamily="18" charset="0"/>
                          </a:rPr>
                          <m:t>3</m:t>
                        </m:r>
                      </m:sub>
                    </m:sSub>
                  </m:oMath>
                </a14:m>
                <a:endParaRPr lang="en-US" sz="2400" dirty="0">
                  <a:latin typeface="+mn-lt"/>
                </a:endParaRPr>
              </a:p>
              <a:p>
                <a:endParaRPr lang="en-US" sz="2400" dirty="0">
                  <a:latin typeface="+mn-lt"/>
                </a:endParaRPr>
              </a:p>
              <a:p>
                <a:endParaRPr lang="en-US" sz="2400" dirty="0">
                  <a:latin typeface="+mn-lt"/>
                </a:endParaRPr>
              </a:p>
              <a:p>
                <a:pPr marL="152396" indent="0">
                  <a:buNone/>
                </a:pPr>
                <a:endParaRPr lang="en-US" sz="2400" dirty="0">
                  <a:latin typeface="+mn-lt"/>
                </a:endParaRPr>
              </a:p>
              <a:p>
                <a:r>
                  <a:rPr lang="en-US" sz="2400" dirty="0">
                    <a:latin typeface="+mn-lt"/>
                  </a:rPr>
                  <a:t>Same calculations for </a:t>
                </a:r>
                <a14:m>
                  <m:oMath xmlns:m="http://schemas.openxmlformats.org/officeDocument/2006/math">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sv-SE" sz="2400" b="0" i="1" dirty="0" smtClean="0">
                            <a:latin typeface="Cambria Math" panose="02040503050406030204" pitchFamily="18" charset="0"/>
                          </a:rPr>
                          <m:t>1</m:t>
                        </m:r>
                      </m:e>
                      <m:sub>
                        <m:r>
                          <a:rPr lang="en-US" sz="2400" i="1" dirty="0" smtClean="0">
                            <a:latin typeface="Cambria Math" panose="02040503050406030204" pitchFamily="18" charset="0"/>
                          </a:rPr>
                          <m:t>2</m:t>
                        </m:r>
                      </m:sub>
                    </m:sSub>
                    <m:r>
                      <a:rPr lang="sv-SE" sz="2400" b="0" i="1" dirty="0" smtClean="0">
                        <a:latin typeface="Cambria Math" panose="02040503050406030204" pitchFamily="18" charset="0"/>
                      </a:rPr>
                      <m:t>, </m:t>
                    </m:r>
                    <m:r>
                      <a:rPr lang="sv-SE" sz="2400" b="0" i="1" dirty="0" smtClean="0">
                        <a:latin typeface="Cambria Math" panose="02040503050406030204" pitchFamily="18" charset="0"/>
                      </a:rPr>
                      <m:t>h</m:t>
                    </m:r>
                    <m:sSub>
                      <m:sSubPr>
                        <m:ctrlPr>
                          <a:rPr lang="sv-SE" sz="2400" b="0" i="1" dirty="0" smtClean="0">
                            <a:latin typeface="Cambria Math" panose="02040503050406030204" pitchFamily="18" charset="0"/>
                          </a:rPr>
                        </m:ctrlPr>
                      </m:sSubPr>
                      <m:e>
                        <m:r>
                          <a:rPr lang="sv-SE" sz="2400" b="0" i="1" dirty="0" smtClean="0">
                            <a:latin typeface="Cambria Math" panose="02040503050406030204" pitchFamily="18" charset="0"/>
                          </a:rPr>
                          <m:t>1</m:t>
                        </m:r>
                      </m:e>
                      <m:sub>
                        <m:r>
                          <a:rPr lang="sv-SE" sz="2400" b="0" i="1" dirty="0" smtClean="0">
                            <a:latin typeface="Cambria Math" panose="02040503050406030204" pitchFamily="18" charset="0"/>
                          </a:rPr>
                          <m:t>3</m:t>
                        </m:r>
                      </m:sub>
                    </m:sSub>
                  </m:oMath>
                </a14:m>
                <a:endParaRPr lang="en-US" sz="2400" dirty="0">
                  <a:latin typeface="+mn-lt"/>
                </a:endParaRPr>
              </a:p>
              <a:p>
                <a:r>
                  <a:rPr lang="en-US" sz="2400" dirty="0">
                    <a:latin typeface="+mn-lt"/>
                  </a:rPr>
                  <a:t>Compute Activation Function Derivative (</a:t>
                </a:r>
                <a:r>
                  <a:rPr lang="en-US" sz="2400" dirty="0" err="1">
                    <a:latin typeface="+mn-lt"/>
                  </a:rPr>
                  <a:t>ReLU</a:t>
                </a:r>
                <a:r>
                  <a:rPr lang="en-US" sz="2400" dirty="0">
                    <a:latin typeface="+mn-lt"/>
                  </a:rPr>
                  <a:t>)</a:t>
                </a:r>
              </a:p>
              <a:p>
                <a:r>
                  <a:rPr lang="en-US" sz="2400" dirty="0">
                    <a:latin typeface="+mn-lt"/>
                  </a:rPr>
                  <a:t>Compute Gradient </a:t>
                </a:r>
                <a:r>
                  <a:rPr lang="en-US" sz="2400" dirty="0" err="1">
                    <a:latin typeface="+mn-lt"/>
                  </a:rPr>
                  <a:t>w.r.t.</a:t>
                </a:r>
                <a:r>
                  <a:rPr lang="en-US" sz="2400" dirty="0">
                    <a:latin typeface="+mn-lt"/>
                  </a:rPr>
                  <a:t> </a:t>
                </a:r>
                <a14:m>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𝑧</m:t>
                        </m:r>
                      </m:e>
                      <m:sub>
                        <m:r>
                          <a:rPr lang="sv-SE" sz="2400" b="0" i="1" dirty="0" smtClean="0">
                            <a:latin typeface="Cambria Math" panose="02040503050406030204" pitchFamily="18" charset="0"/>
                          </a:rPr>
                          <m:t>h</m:t>
                        </m:r>
                        <m:r>
                          <a:rPr lang="sv-SE" sz="2400" b="0" i="1" dirty="0" smtClean="0">
                            <a:latin typeface="Cambria Math" panose="02040503050406030204" pitchFamily="18" charset="0"/>
                          </a:rPr>
                          <m:t>1</m:t>
                        </m:r>
                      </m:sub>
                    </m:sSub>
                  </m:oMath>
                </a14:m>
                <a:r>
                  <a:rPr lang="en-US" sz="2400" dirty="0">
                    <a:latin typeface="+mn-lt"/>
                  </a:rPr>
                  <a:t>​</a:t>
                </a:r>
              </a:p>
              <a:p>
                <a:pPr marL="152396" indent="0">
                  <a:buNone/>
                </a:pPr>
                <a:endParaRPr lang="en-US" sz="2400" dirty="0">
                  <a:latin typeface="+mn-lt"/>
                </a:endParaRPr>
              </a:p>
              <a:p>
                <a:r>
                  <a:rPr lang="en-US" sz="2400" dirty="0">
                    <a:latin typeface="+mn-lt"/>
                  </a:rPr>
                  <a:t>Compute Gradients for </a:t>
                </a:r>
                <a:r>
                  <a:rPr lang="en-US" sz="2400" b="1" dirty="0">
                    <a:latin typeface="+mn-lt"/>
                  </a:rPr>
                  <a:t>Weights and Bias</a:t>
                </a:r>
                <a:r>
                  <a:rPr lang="en-US" sz="2400" dirty="0">
                    <a:latin typeface="+mn-lt"/>
                  </a:rPr>
                  <a:t> </a:t>
                </a:r>
                <a:br>
                  <a:rPr lang="en-US" sz="2400" dirty="0">
                    <a:latin typeface="+mn-lt"/>
                  </a:rPr>
                </a:br>
                <a:r>
                  <a:rPr lang="en-US" sz="2400" dirty="0">
                    <a:latin typeface="+mn-lt"/>
                  </a:rPr>
                  <a:t>(Connecting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1</m:t>
                        </m:r>
                      </m:sub>
                    </m:sSub>
                    <m:r>
                      <a:rPr lang="en-US" sz="2400" i="1" dirty="0" smtClean="0">
                        <a:latin typeface="Cambria Math" panose="02040503050406030204" pitchFamily="18" charset="0"/>
                      </a:rPr>
                      <m:t>, </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𝑥</m:t>
                        </m:r>
                      </m:e>
                      <m:sub>
                        <m:r>
                          <a:rPr lang="en-US" sz="2400" i="1" dirty="0" smtClean="0">
                            <a:latin typeface="Cambria Math" panose="02040503050406030204" pitchFamily="18" charset="0"/>
                          </a:rPr>
                          <m:t>2</m:t>
                        </m:r>
                      </m:sub>
                    </m:sSub>
                    <m:r>
                      <a:rPr lang="en-US" sz="2400" i="1" dirty="0" smtClean="0">
                        <a:latin typeface="Cambria Math" panose="02040503050406030204" pitchFamily="18" charset="0"/>
                      </a:rPr>
                      <m:t>​ </m:t>
                    </m:r>
                    <m:r>
                      <a:rPr lang="en-US" sz="2400" i="1" dirty="0" smtClean="0">
                        <a:latin typeface="Cambria Math" panose="02040503050406030204" pitchFamily="18" charset="0"/>
                      </a:rPr>
                      <m:t>𝑡𝑜</m:t>
                    </m:r>
                    <m:r>
                      <a:rPr lang="en-US" sz="2400" i="1" dirty="0" smtClean="0">
                        <a:latin typeface="Cambria Math" panose="02040503050406030204" pitchFamily="18" charset="0"/>
                      </a:rPr>
                      <m:t>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1</m:t>
                        </m:r>
                      </m:e>
                      <m:sub>
                        <m:r>
                          <a:rPr lang="en-US" sz="2400" i="1" dirty="0" smtClean="0">
                            <a:latin typeface="Cambria Math" panose="02040503050406030204" pitchFamily="18" charset="0"/>
                          </a:rPr>
                          <m:t>1</m:t>
                        </m:r>
                      </m:sub>
                    </m:sSub>
                    <m:r>
                      <a:rPr lang="en-US" sz="2400" i="1" dirty="0" smtClean="0">
                        <a:latin typeface="Cambria Math" panose="02040503050406030204" pitchFamily="18" charset="0"/>
                      </a:rPr>
                      <m:t>,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1</m:t>
                        </m:r>
                      </m:e>
                      <m:sub>
                        <m:r>
                          <a:rPr lang="en-US" sz="2400" i="1" dirty="0" smtClean="0">
                            <a:latin typeface="Cambria Math" panose="02040503050406030204" pitchFamily="18" charset="0"/>
                          </a:rPr>
                          <m:t>2</m:t>
                        </m:r>
                      </m:sub>
                    </m:sSub>
                    <m:r>
                      <a:rPr lang="en-US" sz="2400" i="1" dirty="0" smtClean="0">
                        <a:latin typeface="Cambria Math" panose="02040503050406030204" pitchFamily="18" charset="0"/>
                      </a:rPr>
                      <m:t>,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1</m:t>
                        </m:r>
                      </m:e>
                      <m:sub>
                        <m:r>
                          <a:rPr lang="en-US" sz="2400" i="1" dirty="0" smtClean="0">
                            <a:latin typeface="Cambria Math" panose="02040503050406030204" pitchFamily="18" charset="0"/>
                          </a:rPr>
                          <m:t>3</m:t>
                        </m:r>
                      </m:sub>
                    </m:sSub>
                    <m:r>
                      <a:rPr lang="en-US" sz="2400" i="1" dirty="0" smtClean="0">
                        <a:latin typeface="Cambria Math" panose="02040503050406030204" pitchFamily="18" charset="0"/>
                      </a:rPr>
                      <m:t>​</m:t>
                    </m:r>
                  </m:oMath>
                </a14:m>
                <a:r>
                  <a:rPr lang="en-US" sz="2400" dirty="0">
                    <a:latin typeface="+mn-lt"/>
                  </a:rPr>
                  <a:t>)</a:t>
                </a:r>
              </a:p>
              <a:p>
                <a:r>
                  <a:rPr lang="en-US" sz="2400" dirty="0">
                    <a:latin typeface="+mn-lt"/>
                  </a:rPr>
                  <a:t>Similar Calculations for </a:t>
                </a:r>
                <a14:m>
                  <m:oMath xmlns:m="http://schemas.openxmlformats.org/officeDocument/2006/math">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1</m:t>
                        </m:r>
                      </m:e>
                      <m:sub>
                        <m:r>
                          <a:rPr lang="en-US" sz="2400" i="1" dirty="0" smtClean="0">
                            <a:latin typeface="Cambria Math" panose="02040503050406030204" pitchFamily="18" charset="0"/>
                          </a:rPr>
                          <m:t>2</m:t>
                        </m:r>
                      </m:sub>
                    </m:sSub>
                    <m:r>
                      <a:rPr lang="en-US" sz="2400" i="1" dirty="0" smtClean="0">
                        <a:latin typeface="Cambria Math" panose="02040503050406030204" pitchFamily="18" charset="0"/>
                      </a:rPr>
                      <m:t>, </m:t>
                    </m:r>
                    <m:r>
                      <a:rPr lang="en-US" sz="2400" i="1" dirty="0" smtClean="0">
                        <a:latin typeface="Cambria Math" panose="02040503050406030204" pitchFamily="18" charset="0"/>
                      </a:rPr>
                      <m:t>h</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1</m:t>
                        </m:r>
                      </m:e>
                      <m:sub>
                        <m:r>
                          <a:rPr lang="en-US" sz="2400" i="1" dirty="0" smtClean="0">
                            <a:latin typeface="Cambria Math" panose="02040503050406030204" pitchFamily="18" charset="0"/>
                          </a:rPr>
                          <m:t>3</m:t>
                        </m:r>
                      </m:sub>
                    </m:sSub>
                  </m:oMath>
                </a14:m>
                <a:endParaRPr lang="en-US" sz="2400" dirty="0">
                  <a:latin typeface="+mn-lt"/>
                </a:endParaRPr>
              </a:p>
            </p:txBody>
          </p:sp>
        </mc:Choice>
        <mc:Fallback xmlns="">
          <p:sp>
            <p:nvSpPr>
              <p:cNvPr id="3" name="Text Placeholder 2">
                <a:extLst>
                  <a:ext uri="{FF2B5EF4-FFF2-40B4-BE49-F238E27FC236}">
                    <a16:creationId xmlns:a16="http://schemas.microsoft.com/office/drawing/2014/main" id="{0EFBC379-EB98-0994-BB32-8DC39DE3A43D}"/>
                  </a:ext>
                </a:extLst>
              </p:cNvPr>
              <p:cNvSpPr>
                <a:spLocks noGrp="1" noRot="1" noChangeAspect="1" noMove="1" noResize="1" noEditPoints="1" noAdjustHandles="1" noChangeArrowheads="1" noChangeShapeType="1" noTextEdit="1"/>
              </p:cNvSpPr>
              <p:nvPr>
                <p:ph type="body" idx="1"/>
              </p:nvPr>
            </p:nvSpPr>
            <p:spPr>
              <a:xfrm>
                <a:off x="542745" y="1356967"/>
                <a:ext cx="11360800" cy="5181619"/>
              </a:xfrm>
              <a:blipFill>
                <a:blip r:embed="rId3"/>
                <a:stretch>
                  <a:fillRect/>
                </a:stretch>
              </a:blipFill>
            </p:spPr>
            <p:txBody>
              <a:bodyPr/>
              <a:lstStyle/>
              <a:p>
                <a:r>
                  <a:rPr lang="en-US">
                    <a:noFill/>
                  </a:rPr>
                  <a:t> </a:t>
                </a:r>
              </a:p>
            </p:txBody>
          </p:sp>
        </mc:Fallback>
      </mc:AlternateContent>
      <p:pic>
        <p:nvPicPr>
          <p:cNvPr id="5" name="Picture 4" descr="A black text on a white background&#10;&#10;AI-generated content may be incorrect.">
            <a:extLst>
              <a:ext uri="{FF2B5EF4-FFF2-40B4-BE49-F238E27FC236}">
                <a16:creationId xmlns:a16="http://schemas.microsoft.com/office/drawing/2014/main" id="{602799A0-BD63-69D1-E3E6-F3DFD4901EDF}"/>
              </a:ext>
            </a:extLst>
          </p:cNvPr>
          <p:cNvPicPr>
            <a:picLocks noChangeAspect="1"/>
          </p:cNvPicPr>
          <p:nvPr/>
        </p:nvPicPr>
        <p:blipFill>
          <a:blip r:embed="rId4"/>
          <a:stretch>
            <a:fillRect/>
          </a:stretch>
        </p:blipFill>
        <p:spPr>
          <a:xfrm>
            <a:off x="3606800" y="2087656"/>
            <a:ext cx="4978400" cy="812800"/>
          </a:xfrm>
          <a:prstGeom prst="rect">
            <a:avLst/>
          </a:prstGeom>
        </p:spPr>
      </p:pic>
      <p:pic>
        <p:nvPicPr>
          <p:cNvPr id="7" name="Picture 6" descr="A close-up of a number&#10;&#10;AI-generated content may be incorrect.">
            <a:extLst>
              <a:ext uri="{FF2B5EF4-FFF2-40B4-BE49-F238E27FC236}">
                <a16:creationId xmlns:a16="http://schemas.microsoft.com/office/drawing/2014/main" id="{F22A1619-2049-267E-B58E-A61BF2B1F43F}"/>
              </a:ext>
            </a:extLst>
          </p:cNvPr>
          <p:cNvPicPr>
            <a:picLocks noChangeAspect="1"/>
          </p:cNvPicPr>
          <p:nvPr/>
        </p:nvPicPr>
        <p:blipFill>
          <a:blip r:embed="rId5"/>
          <a:stretch>
            <a:fillRect/>
          </a:stretch>
        </p:blipFill>
        <p:spPr>
          <a:xfrm>
            <a:off x="7413118" y="3053106"/>
            <a:ext cx="3035300" cy="965200"/>
          </a:xfrm>
          <a:prstGeom prst="rect">
            <a:avLst/>
          </a:prstGeom>
        </p:spPr>
      </p:pic>
      <p:pic>
        <p:nvPicPr>
          <p:cNvPr id="9" name="Picture 8" descr="A black text on a white background&#10;&#10;AI-generated content may be incorrect.">
            <a:extLst>
              <a:ext uri="{FF2B5EF4-FFF2-40B4-BE49-F238E27FC236}">
                <a16:creationId xmlns:a16="http://schemas.microsoft.com/office/drawing/2014/main" id="{0F008032-C23C-0390-D8E2-E103EADBC5BA}"/>
              </a:ext>
            </a:extLst>
          </p:cNvPr>
          <p:cNvPicPr>
            <a:picLocks noChangeAspect="1"/>
          </p:cNvPicPr>
          <p:nvPr/>
        </p:nvPicPr>
        <p:blipFill>
          <a:blip r:embed="rId6"/>
          <a:stretch>
            <a:fillRect/>
          </a:stretch>
        </p:blipFill>
        <p:spPr>
          <a:xfrm>
            <a:off x="5231704" y="3947776"/>
            <a:ext cx="2743200" cy="901700"/>
          </a:xfrm>
          <a:prstGeom prst="rect">
            <a:avLst/>
          </a:prstGeom>
        </p:spPr>
      </p:pic>
      <p:pic>
        <p:nvPicPr>
          <p:cNvPr id="11" name="Picture 10" descr="A mathematical equation with black letters&#10;&#10;AI-generated content may be incorrect.">
            <a:extLst>
              <a:ext uri="{FF2B5EF4-FFF2-40B4-BE49-F238E27FC236}">
                <a16:creationId xmlns:a16="http://schemas.microsoft.com/office/drawing/2014/main" id="{A593E254-5B4D-5C4D-1E8A-9FBBF59D9A73}"/>
              </a:ext>
            </a:extLst>
          </p:cNvPr>
          <p:cNvPicPr>
            <a:picLocks noChangeAspect="1"/>
          </p:cNvPicPr>
          <p:nvPr/>
        </p:nvPicPr>
        <p:blipFill>
          <a:blip r:embed="rId7"/>
          <a:stretch>
            <a:fillRect/>
          </a:stretch>
        </p:blipFill>
        <p:spPr>
          <a:xfrm>
            <a:off x="6558854" y="4882706"/>
            <a:ext cx="2832100" cy="1663700"/>
          </a:xfrm>
          <a:prstGeom prst="rect">
            <a:avLst/>
          </a:prstGeom>
        </p:spPr>
      </p:pic>
      <p:sp>
        <p:nvSpPr>
          <p:cNvPr id="4" name="Slide Number Placeholder 3">
            <a:extLst>
              <a:ext uri="{FF2B5EF4-FFF2-40B4-BE49-F238E27FC236}">
                <a16:creationId xmlns:a16="http://schemas.microsoft.com/office/drawing/2014/main" id="{88CD99FF-9728-9C57-ECED-52B97A978BB1}"/>
              </a:ext>
            </a:extLst>
          </p:cNvPr>
          <p:cNvSpPr>
            <a:spLocks noGrp="1"/>
          </p:cNvSpPr>
          <p:nvPr>
            <p:ph type="sldNum" idx="12"/>
          </p:nvPr>
        </p:nvSpPr>
        <p:spPr/>
        <p:txBody>
          <a:bodyPr/>
          <a:lstStyle/>
          <a:p>
            <a:fld id="{00000000-1234-1234-1234-123412341234}" type="slidenum">
              <a:rPr lang="en-GB" smtClean="0"/>
              <a:pPr/>
              <a:t>26</a:t>
            </a:fld>
            <a:endParaRPr lang="en-GB"/>
          </a:p>
        </p:txBody>
      </p:sp>
    </p:spTree>
    <p:extLst>
      <p:ext uri="{BB962C8B-B14F-4D97-AF65-F5344CB8AC3E}">
        <p14:creationId xmlns:p14="http://schemas.microsoft.com/office/powerpoint/2010/main" val="1434486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44E30-B4BA-1853-3DFF-13DF4E4370B1}"/>
              </a:ext>
            </a:extLst>
          </p:cNvPr>
          <p:cNvSpPr>
            <a:spLocks noGrp="1"/>
          </p:cNvSpPr>
          <p:nvPr>
            <p:ph type="title"/>
          </p:nvPr>
        </p:nvSpPr>
        <p:spPr/>
        <p:txBody>
          <a:bodyPr/>
          <a:lstStyle/>
          <a:p>
            <a:r>
              <a:rPr lang="en-US" b="1" dirty="0"/>
              <a:t>Update Weights Using Gradient Descent</a:t>
            </a:r>
            <a:br>
              <a:rPr lang="en-US" b="1" dirty="0"/>
            </a:br>
            <a:endParaRPr lang="en-US" dirty="0"/>
          </a:p>
        </p:txBody>
      </p:sp>
      <p:sp>
        <p:nvSpPr>
          <p:cNvPr id="3" name="Text Placeholder 2">
            <a:extLst>
              <a:ext uri="{FF2B5EF4-FFF2-40B4-BE49-F238E27FC236}">
                <a16:creationId xmlns:a16="http://schemas.microsoft.com/office/drawing/2014/main" id="{90930344-CA14-C3C1-C193-A76CFF3540F9}"/>
              </a:ext>
            </a:extLst>
          </p:cNvPr>
          <p:cNvSpPr>
            <a:spLocks noGrp="1"/>
          </p:cNvSpPr>
          <p:nvPr>
            <p:ph type="body" idx="1"/>
          </p:nvPr>
        </p:nvSpPr>
        <p:spPr>
          <a:xfrm>
            <a:off x="415600" y="1526083"/>
            <a:ext cx="11360800" cy="3805833"/>
          </a:xfrm>
        </p:spPr>
        <p:txBody>
          <a:bodyPr/>
          <a:lstStyle/>
          <a:p>
            <a:r>
              <a:rPr lang="en-US" sz="2400" dirty="0">
                <a:latin typeface="+mn-lt"/>
              </a:rPr>
              <a:t>Once gradients are computed, update weights using the </a:t>
            </a:r>
            <a:r>
              <a:rPr lang="en-US" sz="2400" b="1" dirty="0">
                <a:latin typeface="+mn-lt"/>
              </a:rPr>
              <a:t>gradient descent update rule</a:t>
            </a:r>
            <a:r>
              <a:rPr lang="en-US" sz="2400" dirty="0">
                <a:latin typeface="+mn-lt"/>
              </a:rPr>
              <a:t>:</a:t>
            </a:r>
          </a:p>
          <a:p>
            <a:endParaRPr lang="en-US" sz="2400" dirty="0">
              <a:latin typeface="+mn-lt"/>
            </a:endParaRPr>
          </a:p>
          <a:p>
            <a:endParaRPr lang="en-US" sz="2400" dirty="0">
              <a:latin typeface="+mn-lt"/>
            </a:endParaRPr>
          </a:p>
          <a:p>
            <a:r>
              <a:rPr lang="en-US" sz="2400" dirty="0">
                <a:latin typeface="+mn-lt"/>
              </a:rPr>
              <a:t>For example: </a:t>
            </a:r>
          </a:p>
        </p:txBody>
      </p:sp>
      <p:pic>
        <p:nvPicPr>
          <p:cNvPr id="5" name="Picture 4" descr="A black text on a white background&#10;&#10;AI-generated content may be incorrect.">
            <a:extLst>
              <a:ext uri="{FF2B5EF4-FFF2-40B4-BE49-F238E27FC236}">
                <a16:creationId xmlns:a16="http://schemas.microsoft.com/office/drawing/2014/main" id="{1BC48006-CD4C-EA41-9052-0D6D2FFD94E6}"/>
              </a:ext>
            </a:extLst>
          </p:cNvPr>
          <p:cNvPicPr>
            <a:picLocks noChangeAspect="1"/>
          </p:cNvPicPr>
          <p:nvPr/>
        </p:nvPicPr>
        <p:blipFill>
          <a:blip r:embed="rId2"/>
          <a:stretch>
            <a:fillRect/>
          </a:stretch>
        </p:blipFill>
        <p:spPr>
          <a:xfrm>
            <a:off x="3910469" y="2322882"/>
            <a:ext cx="3619500" cy="558800"/>
          </a:xfrm>
          <a:prstGeom prst="rect">
            <a:avLst/>
          </a:prstGeom>
        </p:spPr>
      </p:pic>
      <p:pic>
        <p:nvPicPr>
          <p:cNvPr id="7" name="Picture 6" descr="A math equations with numbers&#10;&#10;AI-generated content may be incorrect.">
            <a:extLst>
              <a:ext uri="{FF2B5EF4-FFF2-40B4-BE49-F238E27FC236}">
                <a16:creationId xmlns:a16="http://schemas.microsoft.com/office/drawing/2014/main" id="{215F2148-3917-55FF-0EC7-B5AADC57B734}"/>
              </a:ext>
            </a:extLst>
          </p:cNvPr>
          <p:cNvPicPr>
            <a:picLocks noChangeAspect="1"/>
          </p:cNvPicPr>
          <p:nvPr/>
        </p:nvPicPr>
        <p:blipFill>
          <a:blip r:embed="rId3"/>
          <a:stretch>
            <a:fillRect/>
          </a:stretch>
        </p:blipFill>
        <p:spPr>
          <a:xfrm>
            <a:off x="3833313" y="3260595"/>
            <a:ext cx="4346184" cy="3228594"/>
          </a:xfrm>
          <a:prstGeom prst="rect">
            <a:avLst/>
          </a:prstGeom>
        </p:spPr>
      </p:pic>
      <p:sp>
        <p:nvSpPr>
          <p:cNvPr id="4" name="Slide Number Placeholder 3">
            <a:extLst>
              <a:ext uri="{FF2B5EF4-FFF2-40B4-BE49-F238E27FC236}">
                <a16:creationId xmlns:a16="http://schemas.microsoft.com/office/drawing/2014/main" id="{A6CA4AE4-0F54-6569-B392-E268A1BBD082}"/>
              </a:ext>
            </a:extLst>
          </p:cNvPr>
          <p:cNvSpPr>
            <a:spLocks noGrp="1"/>
          </p:cNvSpPr>
          <p:nvPr>
            <p:ph type="sldNum" idx="12"/>
          </p:nvPr>
        </p:nvSpPr>
        <p:spPr/>
        <p:txBody>
          <a:bodyPr/>
          <a:lstStyle/>
          <a:p>
            <a:fld id="{00000000-1234-1234-1234-123412341234}" type="slidenum">
              <a:rPr lang="en-GB" smtClean="0"/>
              <a:pPr/>
              <a:t>27</a:t>
            </a:fld>
            <a:endParaRPr lang="en-GB"/>
          </a:p>
        </p:txBody>
      </p:sp>
    </p:spTree>
    <p:extLst>
      <p:ext uri="{BB962C8B-B14F-4D97-AF65-F5344CB8AC3E}">
        <p14:creationId xmlns:p14="http://schemas.microsoft.com/office/powerpoint/2010/main" val="1502565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69D8A-7525-5DC7-D307-2B33922CEA22}"/>
              </a:ext>
            </a:extLst>
          </p:cNvPr>
          <p:cNvSpPr>
            <a:spLocks noGrp="1"/>
          </p:cNvSpPr>
          <p:nvPr>
            <p:ph type="title"/>
          </p:nvPr>
        </p:nvSpPr>
        <p:spPr/>
        <p:txBody>
          <a:bodyPr/>
          <a:lstStyle/>
          <a:p>
            <a:r>
              <a:rPr lang="en-US" dirty="0"/>
              <a:t>Repeat Until Convergence</a:t>
            </a:r>
          </a:p>
        </p:txBody>
      </p:sp>
      <p:sp>
        <p:nvSpPr>
          <p:cNvPr id="3" name="Text Placeholder 2">
            <a:extLst>
              <a:ext uri="{FF2B5EF4-FFF2-40B4-BE49-F238E27FC236}">
                <a16:creationId xmlns:a16="http://schemas.microsoft.com/office/drawing/2014/main" id="{CA875884-3642-6239-D9FB-624631F5463D}"/>
              </a:ext>
            </a:extLst>
          </p:cNvPr>
          <p:cNvSpPr>
            <a:spLocks noGrp="1"/>
          </p:cNvSpPr>
          <p:nvPr>
            <p:ph type="body" idx="1"/>
          </p:nvPr>
        </p:nvSpPr>
        <p:spPr>
          <a:xfrm>
            <a:off x="542745" y="1526083"/>
            <a:ext cx="11360800" cy="3805833"/>
          </a:xfrm>
        </p:spPr>
        <p:txBody>
          <a:bodyPr/>
          <a:lstStyle/>
          <a:p>
            <a:pPr>
              <a:buFont typeface="Arial" panose="020B0604020202020204" pitchFamily="34" charset="0"/>
              <a:buChar char="•"/>
            </a:pPr>
            <a:r>
              <a:rPr lang="en-US" sz="2400" dirty="0">
                <a:latin typeface="+mn-lt"/>
              </a:rPr>
              <a:t>Repeat </a:t>
            </a:r>
            <a:r>
              <a:rPr lang="en-US" sz="2400" b="1" dirty="0">
                <a:latin typeface="+mn-lt"/>
              </a:rPr>
              <a:t>forward pass + backpropagation</a:t>
            </a:r>
            <a:r>
              <a:rPr lang="en-US" sz="2400" dirty="0">
                <a:latin typeface="+mn-lt"/>
              </a:rPr>
              <a:t> for multiple </a:t>
            </a:r>
            <a:r>
              <a:rPr lang="en-US" sz="2400" b="1" dirty="0">
                <a:latin typeface="+mn-lt"/>
              </a:rPr>
              <a:t>epochs</a:t>
            </a:r>
            <a:r>
              <a:rPr lang="en-US" sz="2400" dirty="0">
                <a:latin typeface="+mn-lt"/>
              </a:rPr>
              <a:t>.</a:t>
            </a:r>
          </a:p>
          <a:p>
            <a:pPr>
              <a:buFont typeface="Arial" panose="020B0604020202020204" pitchFamily="34" charset="0"/>
              <a:buChar char="•"/>
            </a:pPr>
            <a:r>
              <a:rPr lang="en-US" sz="2400" dirty="0">
                <a:latin typeface="+mn-lt"/>
              </a:rPr>
              <a:t>Training stops when</a:t>
            </a:r>
          </a:p>
          <a:p>
            <a:pPr lvl="1">
              <a:buFont typeface="Arial" panose="020B0604020202020204" pitchFamily="34" charset="0"/>
              <a:buChar char="•"/>
            </a:pPr>
            <a:r>
              <a:rPr lang="en-US" sz="2200" b="1" dirty="0">
                <a:latin typeface="+mn-lt"/>
              </a:rPr>
              <a:t>Loss function stabilizes</a:t>
            </a:r>
            <a:r>
              <a:rPr lang="en-US" sz="2200" dirty="0">
                <a:latin typeface="+mn-lt"/>
              </a:rPr>
              <a:t> (convergence).</a:t>
            </a:r>
          </a:p>
          <a:p>
            <a:pPr lvl="1">
              <a:buFont typeface="Arial" panose="020B0604020202020204" pitchFamily="34" charset="0"/>
              <a:buChar char="•"/>
            </a:pPr>
            <a:r>
              <a:rPr lang="en-US" sz="2400" b="1" dirty="0">
                <a:latin typeface="+mn-lt"/>
              </a:rPr>
              <a:t>Gradient updates become very small</a:t>
            </a:r>
            <a:r>
              <a:rPr lang="en-US" sz="2400" dirty="0">
                <a:latin typeface="+mn-lt"/>
              </a:rPr>
              <a:t>.</a:t>
            </a:r>
          </a:p>
          <a:p>
            <a:pPr lvl="1">
              <a:buFont typeface="Arial" panose="020B0604020202020204" pitchFamily="34" charset="0"/>
              <a:buChar char="•"/>
            </a:pPr>
            <a:r>
              <a:rPr lang="en-US" sz="2400" b="1" dirty="0">
                <a:latin typeface="+mn-lt"/>
              </a:rPr>
              <a:t>Early stopping</a:t>
            </a:r>
            <a:r>
              <a:rPr lang="en-US" sz="2400" dirty="0">
                <a:latin typeface="+mn-lt"/>
              </a:rPr>
              <a:t> is triggered to avoid overfitting.</a:t>
            </a:r>
          </a:p>
          <a:p>
            <a:endParaRPr lang="en-US" dirty="0"/>
          </a:p>
        </p:txBody>
      </p:sp>
      <p:sp>
        <p:nvSpPr>
          <p:cNvPr id="4" name="Slide Number Placeholder 3">
            <a:extLst>
              <a:ext uri="{FF2B5EF4-FFF2-40B4-BE49-F238E27FC236}">
                <a16:creationId xmlns:a16="http://schemas.microsoft.com/office/drawing/2014/main" id="{FB2C7229-6406-18C7-D9C3-1AE2EF426DC5}"/>
              </a:ext>
            </a:extLst>
          </p:cNvPr>
          <p:cNvSpPr>
            <a:spLocks noGrp="1"/>
          </p:cNvSpPr>
          <p:nvPr>
            <p:ph type="sldNum" idx="12"/>
          </p:nvPr>
        </p:nvSpPr>
        <p:spPr/>
        <p:txBody>
          <a:bodyPr/>
          <a:lstStyle/>
          <a:p>
            <a:fld id="{00000000-1234-1234-1234-123412341234}" type="slidenum">
              <a:rPr lang="en-GB" smtClean="0"/>
              <a:pPr/>
              <a:t>28</a:t>
            </a:fld>
            <a:endParaRPr lang="en-GB"/>
          </a:p>
        </p:txBody>
      </p:sp>
    </p:spTree>
    <p:extLst>
      <p:ext uri="{BB962C8B-B14F-4D97-AF65-F5344CB8AC3E}">
        <p14:creationId xmlns:p14="http://schemas.microsoft.com/office/powerpoint/2010/main" val="2002601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98A5B-BF03-90B7-D9B1-3A1CEE3673A3}"/>
              </a:ext>
            </a:extLst>
          </p:cNvPr>
          <p:cNvSpPr>
            <a:spLocks noGrp="1"/>
          </p:cNvSpPr>
          <p:nvPr>
            <p:ph type="title"/>
          </p:nvPr>
        </p:nvSpPr>
        <p:spPr/>
        <p:txBody>
          <a:bodyPr/>
          <a:lstStyle/>
          <a:p>
            <a:r>
              <a:rPr lang="en-US" dirty="0"/>
              <a:t>Summarization of Backpropagation algorithm</a:t>
            </a:r>
          </a:p>
        </p:txBody>
      </p:sp>
      <p:sp>
        <p:nvSpPr>
          <p:cNvPr id="3" name="Text Placeholder 2">
            <a:extLst>
              <a:ext uri="{FF2B5EF4-FFF2-40B4-BE49-F238E27FC236}">
                <a16:creationId xmlns:a16="http://schemas.microsoft.com/office/drawing/2014/main" id="{A2FB3275-98DC-C8EA-DD07-6A418CC1DAEA}"/>
              </a:ext>
            </a:extLst>
          </p:cNvPr>
          <p:cNvSpPr>
            <a:spLocks noGrp="1"/>
          </p:cNvSpPr>
          <p:nvPr>
            <p:ph type="body" idx="1"/>
          </p:nvPr>
        </p:nvSpPr>
        <p:spPr/>
        <p:txBody>
          <a:bodyPr/>
          <a:lstStyle/>
          <a:p>
            <a:pPr marL="609596" indent="-457200">
              <a:buFont typeface="+mj-lt"/>
              <a:buAutoNum type="arabicPeriod"/>
            </a:pPr>
            <a:r>
              <a:rPr lang="en-US" sz="2400" dirty="0">
                <a:latin typeface="+mn-lt"/>
              </a:rPr>
              <a:t>Initialize weights, biases, and learning rate.</a:t>
            </a:r>
          </a:p>
          <a:p>
            <a:pPr marL="609596" indent="-457200">
              <a:buFont typeface="+mj-lt"/>
              <a:buAutoNum type="arabicPeriod"/>
            </a:pPr>
            <a:r>
              <a:rPr lang="en-US" sz="2400" dirty="0">
                <a:latin typeface="+mn-lt"/>
              </a:rPr>
              <a:t>Perform forward pass to compute activations and loss.</a:t>
            </a:r>
          </a:p>
          <a:p>
            <a:pPr marL="609596" indent="-457200">
              <a:buFont typeface="+mj-lt"/>
              <a:buAutoNum type="arabicPeriod"/>
            </a:pPr>
            <a:r>
              <a:rPr lang="en-US" sz="2400" dirty="0">
                <a:latin typeface="+mn-lt"/>
              </a:rPr>
              <a:t>Compute gradients for output layer.</a:t>
            </a:r>
          </a:p>
          <a:p>
            <a:pPr marL="609596" indent="-457200">
              <a:buFont typeface="+mj-lt"/>
              <a:buAutoNum type="arabicPeriod"/>
            </a:pPr>
            <a:r>
              <a:rPr lang="en-US" sz="2400" dirty="0">
                <a:latin typeface="+mn-lt"/>
              </a:rPr>
              <a:t>Backpropagate errors through hidden layers.</a:t>
            </a:r>
          </a:p>
          <a:p>
            <a:pPr marL="609596" indent="-457200">
              <a:buFont typeface="+mj-lt"/>
              <a:buAutoNum type="arabicPeriod"/>
            </a:pPr>
            <a:r>
              <a:rPr lang="en-US" sz="2400" dirty="0">
                <a:latin typeface="+mn-lt"/>
              </a:rPr>
              <a:t>Update weights and biases using gradient descent.</a:t>
            </a:r>
          </a:p>
          <a:p>
            <a:pPr marL="609596" indent="-457200">
              <a:buFont typeface="+mj-lt"/>
              <a:buAutoNum type="arabicPeriod"/>
            </a:pPr>
            <a:r>
              <a:rPr lang="en-US" sz="2400" dirty="0">
                <a:latin typeface="+mn-lt"/>
              </a:rPr>
              <a:t>Repeat until the model converges.</a:t>
            </a:r>
          </a:p>
          <a:p>
            <a:endParaRPr lang="en-US" dirty="0"/>
          </a:p>
        </p:txBody>
      </p:sp>
      <p:sp>
        <p:nvSpPr>
          <p:cNvPr id="4" name="Slide Number Placeholder 3">
            <a:extLst>
              <a:ext uri="{FF2B5EF4-FFF2-40B4-BE49-F238E27FC236}">
                <a16:creationId xmlns:a16="http://schemas.microsoft.com/office/drawing/2014/main" id="{B13558E8-8EDD-330F-DC20-3E60B370CAC0}"/>
              </a:ext>
            </a:extLst>
          </p:cNvPr>
          <p:cNvSpPr>
            <a:spLocks noGrp="1"/>
          </p:cNvSpPr>
          <p:nvPr>
            <p:ph type="sldNum" idx="12"/>
          </p:nvPr>
        </p:nvSpPr>
        <p:spPr/>
        <p:txBody>
          <a:bodyPr/>
          <a:lstStyle/>
          <a:p>
            <a:fld id="{00000000-1234-1234-1234-123412341234}" type="slidenum">
              <a:rPr lang="en-GB" smtClean="0"/>
              <a:pPr/>
              <a:t>29</a:t>
            </a:fld>
            <a:endParaRPr lang="en-GB"/>
          </a:p>
        </p:txBody>
      </p:sp>
    </p:spTree>
    <p:extLst>
      <p:ext uri="{BB962C8B-B14F-4D97-AF65-F5344CB8AC3E}">
        <p14:creationId xmlns:p14="http://schemas.microsoft.com/office/powerpoint/2010/main" val="3764657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AFE50-96D6-4EEC-EB4B-4DEC1A16E2FD}"/>
              </a:ext>
            </a:extLst>
          </p:cNvPr>
          <p:cNvSpPr>
            <a:spLocks noGrp="1"/>
          </p:cNvSpPr>
          <p:nvPr>
            <p:ph type="title"/>
          </p:nvPr>
        </p:nvSpPr>
        <p:spPr/>
        <p:txBody>
          <a:bodyPr/>
          <a:lstStyle/>
          <a:p>
            <a:r>
              <a:rPr lang="en-US" dirty="0"/>
              <a:t>Complex ANN models</a:t>
            </a:r>
          </a:p>
        </p:txBody>
      </p:sp>
      <p:pic>
        <p:nvPicPr>
          <p:cNvPr id="6148" name="Picture 4" descr="On ANNs in AI">
            <a:extLst>
              <a:ext uri="{FF2B5EF4-FFF2-40B4-BE49-F238E27FC236}">
                <a16:creationId xmlns:a16="http://schemas.microsoft.com/office/drawing/2014/main" id="{D78BDF8B-05EC-7F06-AB66-8CA9A1F10B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262" b="21021"/>
          <a:stretch/>
        </p:blipFill>
        <p:spPr bwMode="auto">
          <a:xfrm>
            <a:off x="0" y="1665475"/>
            <a:ext cx="11046825" cy="4021342"/>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C856D57F-9946-2472-3472-6BC17D7270CB}"/>
              </a:ext>
            </a:extLst>
          </p:cNvPr>
          <p:cNvSpPr>
            <a:spLocks noGrp="1"/>
          </p:cNvSpPr>
          <p:nvPr>
            <p:ph type="sldNum" idx="12"/>
          </p:nvPr>
        </p:nvSpPr>
        <p:spPr/>
        <p:txBody>
          <a:bodyPr/>
          <a:lstStyle/>
          <a:p>
            <a:fld id="{00000000-1234-1234-1234-123412341234}" type="slidenum">
              <a:rPr lang="en-GB" smtClean="0"/>
              <a:pPr/>
              <a:t>30</a:t>
            </a:fld>
            <a:endParaRPr lang="en-GB"/>
          </a:p>
        </p:txBody>
      </p:sp>
    </p:spTree>
    <p:extLst>
      <p:ext uri="{BB962C8B-B14F-4D97-AF65-F5344CB8AC3E}">
        <p14:creationId xmlns:p14="http://schemas.microsoft.com/office/powerpoint/2010/main" val="2580234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1F9-73F5-20A4-5F23-55B5C9EFC6CE}"/>
              </a:ext>
            </a:extLst>
          </p:cNvPr>
          <p:cNvSpPr>
            <a:spLocks noGrp="1"/>
          </p:cNvSpPr>
          <p:nvPr>
            <p:ph type="title"/>
          </p:nvPr>
        </p:nvSpPr>
        <p:spPr/>
        <p:txBody>
          <a:bodyPr/>
          <a:lstStyle/>
          <a:p>
            <a:r>
              <a:rPr lang="en-US" dirty="0"/>
              <a:t>RNN</a:t>
            </a:r>
          </a:p>
        </p:txBody>
      </p:sp>
      <p:sp>
        <p:nvSpPr>
          <p:cNvPr id="3" name="Text Placeholder 2">
            <a:extLst>
              <a:ext uri="{FF2B5EF4-FFF2-40B4-BE49-F238E27FC236}">
                <a16:creationId xmlns:a16="http://schemas.microsoft.com/office/drawing/2014/main" id="{BD311F08-7AF4-0EEB-BBDC-C07748217683}"/>
              </a:ext>
            </a:extLst>
          </p:cNvPr>
          <p:cNvSpPr>
            <a:spLocks noGrp="1"/>
          </p:cNvSpPr>
          <p:nvPr>
            <p:ph type="body" idx="1"/>
          </p:nvPr>
        </p:nvSpPr>
        <p:spPr>
          <a:xfrm>
            <a:off x="415600" y="3820451"/>
            <a:ext cx="6814200" cy="2864512"/>
          </a:xfrm>
        </p:spPr>
        <p:txBody>
          <a:bodyPr/>
          <a:lstStyle/>
          <a:p>
            <a:r>
              <a:rPr lang="en-US" sz="2400" b="1" dirty="0"/>
              <a:t>Limitations to Consider</a:t>
            </a:r>
          </a:p>
          <a:p>
            <a:pPr lvl="1"/>
            <a:r>
              <a:rPr lang="en-US" sz="2000" b="1" dirty="0"/>
              <a:t>Vanishing Gradient Problem:</a:t>
            </a:r>
            <a:r>
              <a:rPr lang="en-US" sz="2000" dirty="0"/>
              <a:t>  Forget information from the beginning of long sequences.</a:t>
            </a:r>
          </a:p>
          <a:p>
            <a:pPr lvl="1"/>
            <a:r>
              <a:rPr lang="en-US" sz="2000" b="1" dirty="0"/>
              <a:t>Solution:</a:t>
            </a:r>
            <a:r>
              <a:rPr lang="en-US" sz="2000" dirty="0"/>
              <a:t> </a:t>
            </a:r>
            <a:r>
              <a:rPr lang="en-US" sz="2000" b="1" dirty="0"/>
              <a:t>LSTM</a:t>
            </a:r>
            <a:r>
              <a:rPr lang="en-US" sz="2000" dirty="0"/>
              <a:t> (Long Short-Term Memory) and </a:t>
            </a:r>
            <a:r>
              <a:rPr lang="en-US" sz="2000" b="1" dirty="0"/>
              <a:t>GRU</a:t>
            </a:r>
            <a:r>
              <a:rPr lang="en-US" sz="2000" dirty="0"/>
              <a:t> (Gated Recurrent Unit)</a:t>
            </a:r>
          </a:p>
          <a:p>
            <a:endParaRPr lang="en-US" dirty="0"/>
          </a:p>
        </p:txBody>
      </p:sp>
      <p:sp>
        <p:nvSpPr>
          <p:cNvPr id="4" name="Slide Number Placeholder 3">
            <a:extLst>
              <a:ext uri="{FF2B5EF4-FFF2-40B4-BE49-F238E27FC236}">
                <a16:creationId xmlns:a16="http://schemas.microsoft.com/office/drawing/2014/main" id="{339E6784-B33D-54B1-F950-805194419736}"/>
              </a:ext>
            </a:extLst>
          </p:cNvPr>
          <p:cNvSpPr>
            <a:spLocks noGrp="1"/>
          </p:cNvSpPr>
          <p:nvPr>
            <p:ph type="sldNum" idx="12"/>
          </p:nvPr>
        </p:nvSpPr>
        <p:spPr/>
        <p:txBody>
          <a:bodyPr/>
          <a:lstStyle/>
          <a:p>
            <a:fld id="{00000000-1234-1234-1234-123412341234}" type="slidenum">
              <a:rPr lang="en-GB" smtClean="0"/>
              <a:pPr/>
              <a:t>31</a:t>
            </a:fld>
            <a:endParaRPr lang="en-GB"/>
          </a:p>
        </p:txBody>
      </p:sp>
      <p:pic>
        <p:nvPicPr>
          <p:cNvPr id="1026" name="Picture 2" descr="2_tensorflow_lstm">
            <a:extLst>
              <a:ext uri="{FF2B5EF4-FFF2-40B4-BE49-F238E27FC236}">
                <a16:creationId xmlns:a16="http://schemas.microsoft.com/office/drawing/2014/main" id="{57248DCB-54BB-D11B-7716-8D715AE217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5534" y="173037"/>
            <a:ext cx="5500866" cy="21129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text on a white background&#10;&#10;AI-generated content may be incorrect.">
            <a:extLst>
              <a:ext uri="{FF2B5EF4-FFF2-40B4-BE49-F238E27FC236}">
                <a16:creationId xmlns:a16="http://schemas.microsoft.com/office/drawing/2014/main" id="{D4C66A1C-FE48-A0CC-5C65-2A7E477BF833}"/>
              </a:ext>
            </a:extLst>
          </p:cNvPr>
          <p:cNvPicPr>
            <a:picLocks noChangeAspect="1"/>
          </p:cNvPicPr>
          <p:nvPr/>
        </p:nvPicPr>
        <p:blipFill>
          <a:blip r:embed="rId3"/>
          <a:stretch>
            <a:fillRect/>
          </a:stretch>
        </p:blipFill>
        <p:spPr>
          <a:xfrm>
            <a:off x="7229800" y="2460653"/>
            <a:ext cx="4546600" cy="800100"/>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BDC2CF1-9C89-87EE-7914-005172DDA669}"/>
                  </a:ext>
                </a:extLst>
              </p:cNvPr>
              <p:cNvSpPr txBox="1"/>
              <p:nvPr/>
            </p:nvSpPr>
            <p:spPr>
              <a:xfrm>
                <a:off x="7229800" y="3260753"/>
                <a:ext cx="5087060" cy="1631216"/>
              </a:xfrm>
              <a:prstGeom prst="rect">
                <a:avLst/>
              </a:prstGeom>
              <a:noFill/>
            </p:spPr>
            <p:txBody>
              <a:bodyPr wrap="square">
                <a:spAutoFit/>
              </a:bodyPr>
              <a:lstStyle/>
              <a:p>
                <a:pPr>
                  <a:buFont typeface="Arial" panose="020B0604020202020204" pitchFamily="34" charset="0"/>
                  <a:buChar char="•"/>
                </a:pPr>
                <a14:m>
                  <m:oMath xmlns:m="http://schemas.openxmlformats.org/officeDocument/2006/math">
                    <m:sSub>
                      <m:sSubPr>
                        <m:ctrlPr>
                          <a:rPr lang="en-US" sz="2000" i="1" dirty="0" smtClean="0">
                            <a:solidFill>
                              <a:schemeClr val="tx1">
                                <a:lumMod val="65000"/>
                                <a:lumOff val="35000"/>
                              </a:schemeClr>
                            </a:solidFill>
                            <a:effectLst/>
                            <a:latin typeface="Cambria Math" panose="02040503050406030204" pitchFamily="18" charset="0"/>
                          </a:rPr>
                        </m:ctrlPr>
                      </m:sSubPr>
                      <m:e>
                        <m:r>
                          <a:rPr lang="en-US" sz="2000" i="1" dirty="0" smtClean="0">
                            <a:solidFill>
                              <a:schemeClr val="tx1">
                                <a:lumMod val="65000"/>
                                <a:lumOff val="35000"/>
                              </a:schemeClr>
                            </a:solidFill>
                            <a:effectLst/>
                            <a:latin typeface="Cambria Math" panose="02040503050406030204" pitchFamily="18" charset="0"/>
                          </a:rPr>
                          <m:t>h</m:t>
                        </m:r>
                      </m:e>
                      <m:sub>
                        <m:r>
                          <a:rPr lang="en-US" sz="2000" i="1" dirty="0" err="1" smtClean="0">
                            <a:solidFill>
                              <a:schemeClr val="tx1">
                                <a:lumMod val="65000"/>
                                <a:lumOff val="35000"/>
                              </a:schemeClr>
                            </a:solidFill>
                            <a:effectLst/>
                            <a:latin typeface="Cambria Math" panose="02040503050406030204" pitchFamily="18" charset="0"/>
                          </a:rPr>
                          <m:t>𝑡</m:t>
                        </m:r>
                      </m:sub>
                    </m:sSub>
                  </m:oMath>
                </a14:m>
                <a:r>
                  <a:rPr lang="en-US" sz="2000" dirty="0">
                    <a:solidFill>
                      <a:schemeClr val="tx1">
                        <a:lumMod val="65000"/>
                        <a:lumOff val="35000"/>
                      </a:schemeClr>
                    </a:solidFill>
                    <a:effectLst/>
                    <a:latin typeface="Work Sans" pitchFamily="2" charset="77"/>
                  </a:rPr>
                  <a:t>  is the current hidden state.</a:t>
                </a:r>
              </a:p>
              <a:p>
                <a:pPr>
                  <a:buFont typeface="Arial" panose="020B0604020202020204" pitchFamily="34" charset="0"/>
                  <a:buChar char="•"/>
                </a:pPr>
                <a14:m>
                  <m:oMath xmlns:m="http://schemas.openxmlformats.org/officeDocument/2006/math">
                    <m:r>
                      <a:rPr lang="en-US" sz="2000" i="1" dirty="0" smtClean="0">
                        <a:solidFill>
                          <a:schemeClr val="tx1">
                            <a:lumMod val="65000"/>
                            <a:lumOff val="35000"/>
                          </a:schemeClr>
                        </a:solidFill>
                        <a:effectLst/>
                        <a:latin typeface="Cambria Math" panose="02040503050406030204" pitchFamily="18" charset="0"/>
                        <a:ea typeface="Cambria Math" panose="02040503050406030204" pitchFamily="18" charset="0"/>
                      </a:rPr>
                      <m:t>𝜙</m:t>
                    </m:r>
                  </m:oMath>
                </a14:m>
                <a:r>
                  <a:rPr lang="en-US" sz="2000" dirty="0">
                    <a:solidFill>
                      <a:schemeClr val="tx1">
                        <a:lumMod val="65000"/>
                        <a:lumOff val="35000"/>
                      </a:schemeClr>
                    </a:solidFill>
                    <a:effectLst/>
                    <a:latin typeface="Work Sans" pitchFamily="2" charset="77"/>
                  </a:rPr>
                  <a:t> is an activation function (e.g., tanh)</a:t>
                </a:r>
              </a:p>
              <a:p>
                <a:pPr>
                  <a:buFont typeface="Arial" panose="020B0604020202020204" pitchFamily="34" charset="0"/>
                  <a:buChar char="•"/>
                </a:pPr>
                <a14:m>
                  <m:oMath xmlns:m="http://schemas.openxmlformats.org/officeDocument/2006/math">
                    <m:sSub>
                      <m:sSubPr>
                        <m:ctrlPr>
                          <a:rPr lang="en-US" sz="2000" i="1" dirty="0" err="1">
                            <a:solidFill>
                              <a:schemeClr val="tx1">
                                <a:lumMod val="65000"/>
                                <a:lumOff val="35000"/>
                              </a:schemeClr>
                            </a:solidFill>
                            <a:effectLst/>
                            <a:latin typeface="Cambria Math" panose="02040503050406030204" pitchFamily="18" charset="0"/>
                          </a:rPr>
                        </m:ctrlPr>
                      </m:sSubPr>
                      <m:e>
                        <m:r>
                          <a:rPr lang="en-US" sz="2000" i="1" dirty="0" smtClean="0">
                            <a:solidFill>
                              <a:schemeClr val="tx1">
                                <a:lumMod val="65000"/>
                                <a:lumOff val="35000"/>
                              </a:schemeClr>
                            </a:solidFill>
                            <a:effectLst/>
                            <a:latin typeface="Cambria Math" panose="02040503050406030204" pitchFamily="18" charset="0"/>
                          </a:rPr>
                          <m:t>𝑊</m:t>
                        </m:r>
                      </m:e>
                      <m:sub>
                        <m:r>
                          <a:rPr lang="en-US" sz="2000" i="1" dirty="0" err="1" smtClean="0">
                            <a:solidFill>
                              <a:schemeClr val="tx1">
                                <a:lumMod val="65000"/>
                                <a:lumOff val="35000"/>
                              </a:schemeClr>
                            </a:solidFill>
                            <a:effectLst/>
                            <a:latin typeface="Cambria Math" panose="02040503050406030204" pitchFamily="18" charset="0"/>
                          </a:rPr>
                          <m:t>h</m:t>
                        </m:r>
                      </m:sub>
                    </m:sSub>
                    <m:r>
                      <a:rPr lang="en-US" sz="2000" i="1" dirty="0" smtClean="0">
                        <a:solidFill>
                          <a:schemeClr val="tx1">
                            <a:lumMod val="65000"/>
                            <a:lumOff val="35000"/>
                          </a:schemeClr>
                        </a:solidFill>
                        <a:effectLst/>
                        <a:latin typeface="Cambria Math" panose="02040503050406030204" pitchFamily="18" charset="0"/>
                      </a:rPr>
                      <m:t> </m:t>
                    </m:r>
                  </m:oMath>
                </a14:m>
                <a:r>
                  <a:rPr lang="en-US" sz="2000" dirty="0">
                    <a:solidFill>
                      <a:schemeClr val="tx1">
                        <a:lumMod val="65000"/>
                        <a:lumOff val="35000"/>
                      </a:schemeClr>
                    </a:solidFill>
                    <a:effectLst/>
                    <a:latin typeface="Work Sans" pitchFamily="2" charset="77"/>
                  </a:rPr>
                  <a:t>and </a:t>
                </a:r>
                <a14:m>
                  <m:oMath xmlns:m="http://schemas.openxmlformats.org/officeDocument/2006/math">
                    <m:sSub>
                      <m:sSubPr>
                        <m:ctrlPr>
                          <a:rPr lang="en-US" sz="2000" i="1" dirty="0" err="1">
                            <a:solidFill>
                              <a:schemeClr val="tx1">
                                <a:lumMod val="65000"/>
                                <a:lumOff val="35000"/>
                              </a:schemeClr>
                            </a:solidFill>
                            <a:effectLst/>
                            <a:latin typeface="Cambria Math" panose="02040503050406030204" pitchFamily="18" charset="0"/>
                          </a:rPr>
                        </m:ctrlPr>
                      </m:sSubPr>
                      <m:e>
                        <m:r>
                          <a:rPr lang="en-US" sz="2000" i="1" dirty="0" smtClean="0">
                            <a:solidFill>
                              <a:schemeClr val="tx1">
                                <a:lumMod val="65000"/>
                                <a:lumOff val="35000"/>
                              </a:schemeClr>
                            </a:solidFill>
                            <a:effectLst/>
                            <a:latin typeface="Cambria Math" panose="02040503050406030204" pitchFamily="18" charset="0"/>
                          </a:rPr>
                          <m:t>𝑊</m:t>
                        </m:r>
                      </m:e>
                      <m:sub>
                        <m:r>
                          <a:rPr lang="en-US" sz="2000" i="1" dirty="0" err="1" smtClean="0">
                            <a:solidFill>
                              <a:schemeClr val="tx1">
                                <a:lumMod val="65000"/>
                                <a:lumOff val="35000"/>
                              </a:schemeClr>
                            </a:solidFill>
                            <a:effectLst/>
                            <a:latin typeface="Cambria Math" panose="02040503050406030204" pitchFamily="18" charset="0"/>
                          </a:rPr>
                          <m:t>𝑥</m:t>
                        </m:r>
                      </m:sub>
                    </m:sSub>
                  </m:oMath>
                </a14:m>
                <a:r>
                  <a:rPr lang="en-US" sz="2000" dirty="0">
                    <a:solidFill>
                      <a:schemeClr val="tx1">
                        <a:lumMod val="65000"/>
                        <a:lumOff val="35000"/>
                      </a:schemeClr>
                    </a:solidFill>
                    <a:effectLst/>
                    <a:latin typeface="Work Sans" pitchFamily="2" charset="77"/>
                  </a:rPr>
                  <a:t> are weight matrices.</a:t>
                </a:r>
              </a:p>
              <a:p>
                <a:pPr>
                  <a:buFont typeface="Arial" panose="020B0604020202020204" pitchFamily="34" charset="0"/>
                  <a:buChar char="•"/>
                </a:pPr>
                <a14:m>
                  <m:oMath xmlns:m="http://schemas.openxmlformats.org/officeDocument/2006/math">
                    <m:sSub>
                      <m:sSubPr>
                        <m:ctrlPr>
                          <a:rPr lang="en-US" sz="2000" i="1" dirty="0" err="1">
                            <a:solidFill>
                              <a:schemeClr val="tx1">
                                <a:lumMod val="65000"/>
                                <a:lumOff val="35000"/>
                              </a:schemeClr>
                            </a:solidFill>
                            <a:effectLst/>
                            <a:latin typeface="Cambria Math" panose="02040503050406030204" pitchFamily="18" charset="0"/>
                          </a:rPr>
                        </m:ctrlPr>
                      </m:sSubPr>
                      <m:e>
                        <m:r>
                          <a:rPr lang="en-US" sz="2000" i="1" dirty="0" smtClean="0">
                            <a:solidFill>
                              <a:schemeClr val="tx1">
                                <a:lumMod val="65000"/>
                                <a:lumOff val="35000"/>
                              </a:schemeClr>
                            </a:solidFill>
                            <a:effectLst/>
                            <a:latin typeface="Cambria Math" panose="02040503050406030204" pitchFamily="18" charset="0"/>
                          </a:rPr>
                          <m:t>𝑥</m:t>
                        </m:r>
                      </m:e>
                      <m:sub>
                        <m:r>
                          <a:rPr lang="en-US" sz="2000" i="1" dirty="0" err="1" smtClean="0">
                            <a:solidFill>
                              <a:schemeClr val="tx1">
                                <a:lumMod val="65000"/>
                                <a:lumOff val="35000"/>
                              </a:schemeClr>
                            </a:solidFill>
                            <a:effectLst/>
                            <a:latin typeface="Cambria Math" panose="02040503050406030204" pitchFamily="18" charset="0"/>
                          </a:rPr>
                          <m:t>𝑡</m:t>
                        </m:r>
                      </m:sub>
                    </m:sSub>
                  </m:oMath>
                </a14:m>
                <a:r>
                  <a:rPr lang="en-US" sz="2000" dirty="0">
                    <a:solidFill>
                      <a:schemeClr val="tx1">
                        <a:lumMod val="65000"/>
                        <a:lumOff val="35000"/>
                      </a:schemeClr>
                    </a:solidFill>
                    <a:effectLst/>
                    <a:latin typeface="Work Sans" pitchFamily="2" charset="77"/>
                  </a:rPr>
                  <a:t> is the input at the current time step.</a:t>
                </a:r>
              </a:p>
            </p:txBody>
          </p:sp>
        </mc:Choice>
        <mc:Fallback>
          <p:sp>
            <p:nvSpPr>
              <p:cNvPr id="8" name="TextBox 7">
                <a:extLst>
                  <a:ext uri="{FF2B5EF4-FFF2-40B4-BE49-F238E27FC236}">
                    <a16:creationId xmlns:a16="http://schemas.microsoft.com/office/drawing/2014/main" id="{DBDC2CF1-9C89-87EE-7914-005172DDA669}"/>
                  </a:ext>
                </a:extLst>
              </p:cNvPr>
              <p:cNvSpPr txBox="1">
                <a:spLocks noRot="1" noChangeAspect="1" noMove="1" noResize="1" noEditPoints="1" noAdjustHandles="1" noChangeArrowheads="1" noChangeShapeType="1" noTextEdit="1"/>
              </p:cNvSpPr>
              <p:nvPr/>
            </p:nvSpPr>
            <p:spPr>
              <a:xfrm>
                <a:off x="7229800" y="3260753"/>
                <a:ext cx="5087060" cy="1631216"/>
              </a:xfrm>
              <a:prstGeom prst="rect">
                <a:avLst/>
              </a:prstGeom>
              <a:blipFill>
                <a:blip r:embed="rId4"/>
                <a:stretch>
                  <a:fillRect l="-1247" t="-2326" b="-620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681EF6A0-90B7-C0B6-837E-1AFD30B9479C}"/>
              </a:ext>
            </a:extLst>
          </p:cNvPr>
          <p:cNvSpPr txBox="1"/>
          <p:nvPr/>
        </p:nvSpPr>
        <p:spPr>
          <a:xfrm>
            <a:off x="595133" y="1229518"/>
            <a:ext cx="5500867"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tx1">
                    <a:lumMod val="65000"/>
                    <a:lumOff val="35000"/>
                  </a:schemeClr>
                </a:solidFill>
                <a:latin typeface="Work Sans" pitchFamily="2" charset="77"/>
              </a:rPr>
              <a:t>The output from the </a:t>
            </a:r>
            <a:r>
              <a:rPr lang="en-US" sz="2400" b="1" dirty="0">
                <a:solidFill>
                  <a:schemeClr val="tx1">
                    <a:lumMod val="65000"/>
                    <a:lumOff val="35000"/>
                  </a:schemeClr>
                </a:solidFill>
                <a:latin typeface="Work Sans" pitchFamily="2" charset="77"/>
              </a:rPr>
              <a:t>previous step</a:t>
            </a:r>
            <a:r>
              <a:rPr lang="en-US" sz="2400" dirty="0">
                <a:solidFill>
                  <a:schemeClr val="tx1">
                    <a:lumMod val="65000"/>
                    <a:lumOff val="35000"/>
                  </a:schemeClr>
                </a:solidFill>
                <a:latin typeface="Work Sans" pitchFamily="2" charset="77"/>
              </a:rPr>
              <a:t> is fed back into the network as an input for the current step. </a:t>
            </a:r>
          </a:p>
          <a:p>
            <a:pPr marL="285750" indent="-285750">
              <a:buFont typeface="Arial" panose="020B0604020202020204" pitchFamily="34" charset="0"/>
              <a:buChar char="•"/>
            </a:pPr>
            <a:endParaRPr lang="en-US" sz="2400" dirty="0">
              <a:solidFill>
                <a:schemeClr val="tx1">
                  <a:lumMod val="65000"/>
                  <a:lumOff val="35000"/>
                </a:schemeClr>
              </a:solidFill>
              <a:latin typeface="Work Sans" pitchFamily="2" charset="77"/>
            </a:endParaRPr>
          </a:p>
          <a:p>
            <a:pPr marL="285750" indent="-285750">
              <a:buFont typeface="Arial" panose="020B0604020202020204" pitchFamily="34" charset="0"/>
              <a:buChar char="•"/>
            </a:pPr>
            <a:r>
              <a:rPr lang="en-US" sz="2400" dirty="0">
                <a:solidFill>
                  <a:schemeClr val="tx1">
                    <a:lumMod val="65000"/>
                    <a:lumOff val="35000"/>
                  </a:schemeClr>
                </a:solidFill>
                <a:latin typeface="Work Sans" pitchFamily="2" charset="77"/>
              </a:rPr>
              <a:t>This creates a </a:t>
            </a:r>
            <a:r>
              <a:rPr lang="en-US" sz="2400" b="1" dirty="0">
                <a:solidFill>
                  <a:schemeClr val="tx1">
                    <a:lumMod val="65000"/>
                    <a:lumOff val="35000"/>
                  </a:schemeClr>
                </a:solidFill>
                <a:latin typeface="Work Sans" pitchFamily="2" charset="77"/>
              </a:rPr>
              <a:t>looping mechanism</a:t>
            </a:r>
            <a:r>
              <a:rPr lang="en-US" sz="2400" dirty="0">
                <a:solidFill>
                  <a:schemeClr val="tx1">
                    <a:lumMod val="65000"/>
                    <a:lumOff val="35000"/>
                  </a:schemeClr>
                </a:solidFill>
                <a:latin typeface="Work Sans" pitchFamily="2" charset="77"/>
              </a:rPr>
              <a:t> that allows information to persist.</a:t>
            </a:r>
          </a:p>
        </p:txBody>
      </p:sp>
    </p:spTree>
    <p:extLst>
      <p:ext uri="{BB962C8B-B14F-4D97-AF65-F5344CB8AC3E}">
        <p14:creationId xmlns:p14="http://schemas.microsoft.com/office/powerpoint/2010/main" val="15159307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C6183-D6B5-F9EC-ED6D-F2F12E64D3E2}"/>
              </a:ext>
            </a:extLst>
          </p:cNvPr>
          <p:cNvSpPr>
            <a:spLocks noGrp="1"/>
          </p:cNvSpPr>
          <p:nvPr>
            <p:ph type="title"/>
          </p:nvPr>
        </p:nvSpPr>
        <p:spPr/>
        <p:txBody>
          <a:bodyPr/>
          <a:lstStyle/>
          <a:p>
            <a:r>
              <a:rPr lang="en-US" dirty="0"/>
              <a:t>LSTM</a:t>
            </a:r>
          </a:p>
        </p:txBody>
      </p:sp>
      <p:sp>
        <p:nvSpPr>
          <p:cNvPr id="3" name="Text Placeholder 2">
            <a:extLst>
              <a:ext uri="{FF2B5EF4-FFF2-40B4-BE49-F238E27FC236}">
                <a16:creationId xmlns:a16="http://schemas.microsoft.com/office/drawing/2014/main" id="{5937A395-1D48-77AD-9B81-9E04CA0A2E6A}"/>
              </a:ext>
            </a:extLst>
          </p:cNvPr>
          <p:cNvSpPr>
            <a:spLocks noGrp="1"/>
          </p:cNvSpPr>
          <p:nvPr>
            <p:ph type="body" idx="1"/>
          </p:nvPr>
        </p:nvSpPr>
        <p:spPr>
          <a:xfrm>
            <a:off x="415600" y="1356967"/>
            <a:ext cx="5680400" cy="3805833"/>
          </a:xfrm>
        </p:spPr>
        <p:txBody>
          <a:bodyPr/>
          <a:lstStyle/>
          <a:p>
            <a:r>
              <a:rPr lang="en-US" sz="2400" dirty="0"/>
              <a:t>Architecture designed to address the vanishing gradient problem</a:t>
            </a:r>
          </a:p>
          <a:p>
            <a:r>
              <a:rPr lang="en-US" sz="2400" dirty="0"/>
              <a:t>Capture long-term dependencies in sequential data. </a:t>
            </a:r>
          </a:p>
        </p:txBody>
      </p:sp>
      <p:sp>
        <p:nvSpPr>
          <p:cNvPr id="4" name="Slide Number Placeholder 3">
            <a:extLst>
              <a:ext uri="{FF2B5EF4-FFF2-40B4-BE49-F238E27FC236}">
                <a16:creationId xmlns:a16="http://schemas.microsoft.com/office/drawing/2014/main" id="{5971A816-CE51-C13D-36CF-F183DDDD8EDE}"/>
              </a:ext>
            </a:extLst>
          </p:cNvPr>
          <p:cNvSpPr>
            <a:spLocks noGrp="1"/>
          </p:cNvSpPr>
          <p:nvPr>
            <p:ph type="sldNum" idx="12"/>
          </p:nvPr>
        </p:nvSpPr>
        <p:spPr/>
        <p:txBody>
          <a:bodyPr/>
          <a:lstStyle/>
          <a:p>
            <a:fld id="{00000000-1234-1234-1234-123412341234}" type="slidenum">
              <a:rPr lang="en-GB" smtClean="0"/>
              <a:pPr/>
              <a:t>32</a:t>
            </a:fld>
            <a:endParaRPr lang="en-GB"/>
          </a:p>
        </p:txBody>
      </p:sp>
      <p:pic>
        <p:nvPicPr>
          <p:cNvPr id="2050" name="Picture 2" descr="Long Short-Term Memory (LSTM). Long Short-Term Memory (LSTM) is a type… |  by Saba Hesaraki | Medium">
            <a:extLst>
              <a:ext uri="{FF2B5EF4-FFF2-40B4-BE49-F238E27FC236}">
                <a16:creationId xmlns:a16="http://schemas.microsoft.com/office/drawing/2014/main" id="{044C1B8A-9420-7040-E090-D055A892B1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0" y="48577"/>
            <a:ext cx="4419600" cy="223742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9D025B9-B79B-E762-2D1E-9A5732CBE461}"/>
                  </a:ext>
                </a:extLst>
              </p:cNvPr>
              <p:cNvSpPr txBox="1"/>
              <p:nvPr/>
            </p:nvSpPr>
            <p:spPr>
              <a:xfrm>
                <a:off x="5952590" y="2459504"/>
                <a:ext cx="3111301" cy="3416320"/>
              </a:xfrm>
              <a:prstGeom prst="rect">
                <a:avLst/>
              </a:prstGeom>
              <a:noFill/>
            </p:spPr>
            <p:txBody>
              <a:bodyPr wrap="none" rtlCol="0">
                <a:spAutoFit/>
              </a:bodyPr>
              <a:lstStyle/>
              <a:p>
                <a:pPr marL="342900" indent="-342900">
                  <a:buFont typeface="Arial" panose="020B0604020202020204" pitchFamily="34" charset="0"/>
                  <a:buChar char="•"/>
                </a:pPr>
                <a:r>
                  <a:rPr lang="en-US" sz="2400" dirty="0">
                    <a:solidFill>
                      <a:schemeClr val="tx1">
                        <a:lumMod val="65000"/>
                        <a:lumOff val="35000"/>
                      </a:schemeClr>
                    </a:solidFill>
                    <a:latin typeface="Work Sans" pitchFamily="2" charset="77"/>
                  </a:rPr>
                  <a:t>Cell State (</a:t>
                </a:r>
                <a14:m>
                  <m:oMath xmlns:m="http://schemas.openxmlformats.org/officeDocument/2006/math">
                    <m:sSub>
                      <m:sSubPr>
                        <m:ctrlPr>
                          <a:rPr lang="en-US" sz="2400" i="1" dirty="0" smtClean="0">
                            <a:solidFill>
                              <a:schemeClr val="tx1">
                                <a:lumMod val="65000"/>
                                <a:lumOff val="35000"/>
                              </a:schemeClr>
                            </a:solidFill>
                            <a:latin typeface="Cambria Math" panose="02040503050406030204" pitchFamily="18" charset="0"/>
                          </a:rPr>
                        </m:ctrlPr>
                      </m:sSubPr>
                      <m:e>
                        <m:r>
                          <a:rPr lang="en-US" sz="2400" i="1" dirty="0" smtClean="0">
                            <a:solidFill>
                              <a:schemeClr val="tx1">
                                <a:lumMod val="65000"/>
                                <a:lumOff val="35000"/>
                              </a:schemeClr>
                            </a:solidFill>
                            <a:latin typeface="Cambria Math" panose="02040503050406030204" pitchFamily="18" charset="0"/>
                          </a:rPr>
                          <m:t>𝐶</m:t>
                        </m:r>
                      </m:e>
                      <m:sub>
                        <m:r>
                          <a:rPr lang="en-US" sz="2400" i="1" dirty="0" smtClean="0">
                            <a:solidFill>
                              <a:schemeClr val="tx1">
                                <a:lumMod val="65000"/>
                                <a:lumOff val="35000"/>
                              </a:schemeClr>
                            </a:solidFill>
                            <a:latin typeface="Cambria Math" panose="02040503050406030204" pitchFamily="18" charset="0"/>
                          </a:rPr>
                          <m:t>𝑡</m:t>
                        </m:r>
                      </m:sub>
                    </m:sSub>
                  </m:oMath>
                </a14:m>
                <a:r>
                  <a:rPr lang="en-US" sz="2400" dirty="0">
                    <a:solidFill>
                      <a:schemeClr val="tx1">
                        <a:lumMod val="65000"/>
                        <a:lumOff val="35000"/>
                      </a:schemeClr>
                    </a:solidFill>
                    <a:latin typeface="Work Sans" pitchFamily="2" charset="77"/>
                  </a:rPr>
                  <a:t>)</a:t>
                </a:r>
              </a:p>
              <a:p>
                <a:pPr marL="342900" indent="-342900">
                  <a:buFont typeface="Arial" panose="020B0604020202020204" pitchFamily="34" charset="0"/>
                  <a:buChar char="•"/>
                </a:pPr>
                <a:endParaRPr lang="en-US" sz="2400" dirty="0">
                  <a:solidFill>
                    <a:schemeClr val="tx1">
                      <a:lumMod val="65000"/>
                      <a:lumOff val="35000"/>
                    </a:schemeClr>
                  </a:solidFill>
                  <a:latin typeface="Work Sans" pitchFamily="2" charset="77"/>
                </a:endParaRPr>
              </a:p>
              <a:p>
                <a:pPr marL="342900" indent="-342900">
                  <a:buFont typeface="Arial" panose="020B0604020202020204" pitchFamily="34" charset="0"/>
                  <a:buChar char="•"/>
                </a:pPr>
                <a:r>
                  <a:rPr lang="en-US" sz="2400" dirty="0">
                    <a:solidFill>
                      <a:schemeClr val="tx1">
                        <a:lumMod val="65000"/>
                        <a:lumOff val="35000"/>
                      </a:schemeClr>
                    </a:solidFill>
                    <a:latin typeface="Work Sans" pitchFamily="2" charset="77"/>
                  </a:rPr>
                  <a:t>Hidden State (</a:t>
                </a:r>
                <a14:m>
                  <m:oMath xmlns:m="http://schemas.openxmlformats.org/officeDocument/2006/math">
                    <m:sSub>
                      <m:sSubPr>
                        <m:ctrlPr>
                          <a:rPr lang="en-US" sz="2400" i="1" dirty="0" smtClean="0">
                            <a:solidFill>
                              <a:schemeClr val="tx1">
                                <a:lumMod val="65000"/>
                                <a:lumOff val="35000"/>
                              </a:schemeClr>
                            </a:solidFill>
                            <a:latin typeface="Cambria Math" panose="02040503050406030204" pitchFamily="18" charset="0"/>
                          </a:rPr>
                        </m:ctrlPr>
                      </m:sSubPr>
                      <m:e>
                        <m:r>
                          <a:rPr lang="en-US" sz="2400" i="1" dirty="0" smtClean="0">
                            <a:solidFill>
                              <a:schemeClr val="tx1">
                                <a:lumMod val="65000"/>
                                <a:lumOff val="35000"/>
                              </a:schemeClr>
                            </a:solidFill>
                            <a:latin typeface="Cambria Math" panose="02040503050406030204" pitchFamily="18" charset="0"/>
                          </a:rPr>
                          <m:t>h</m:t>
                        </m:r>
                      </m:e>
                      <m:sub>
                        <m:r>
                          <a:rPr lang="en-US" sz="2400" i="1" dirty="0" smtClean="0">
                            <a:solidFill>
                              <a:schemeClr val="tx1">
                                <a:lumMod val="65000"/>
                                <a:lumOff val="35000"/>
                              </a:schemeClr>
                            </a:solidFill>
                            <a:latin typeface="Cambria Math" panose="02040503050406030204" pitchFamily="18" charset="0"/>
                          </a:rPr>
                          <m:t>𝑡</m:t>
                        </m:r>
                      </m:sub>
                    </m:sSub>
                  </m:oMath>
                </a14:m>
                <a:r>
                  <a:rPr lang="en-US" sz="2400" dirty="0">
                    <a:solidFill>
                      <a:schemeClr val="tx1">
                        <a:lumMod val="65000"/>
                        <a:lumOff val="35000"/>
                      </a:schemeClr>
                    </a:solidFill>
                    <a:latin typeface="Work Sans" pitchFamily="2" charset="77"/>
                  </a:rPr>
                  <a:t>)</a:t>
                </a:r>
              </a:p>
              <a:p>
                <a:pPr marL="342900" indent="-342900">
                  <a:buFont typeface="Arial" panose="020B0604020202020204" pitchFamily="34" charset="0"/>
                  <a:buChar char="•"/>
                </a:pPr>
                <a:endParaRPr lang="en-US" sz="2400" dirty="0">
                  <a:solidFill>
                    <a:schemeClr val="tx1">
                      <a:lumMod val="65000"/>
                      <a:lumOff val="35000"/>
                    </a:schemeClr>
                  </a:solidFill>
                  <a:latin typeface="Work Sans" pitchFamily="2" charset="77"/>
                </a:endParaRPr>
              </a:p>
              <a:p>
                <a:pPr marL="342900" indent="-342900">
                  <a:buFont typeface="Arial" panose="020B0604020202020204" pitchFamily="34" charset="0"/>
                  <a:buChar char="•"/>
                </a:pPr>
                <a:r>
                  <a:rPr lang="en-US" sz="2400" dirty="0">
                    <a:solidFill>
                      <a:schemeClr val="tx1">
                        <a:lumMod val="65000"/>
                        <a:lumOff val="35000"/>
                      </a:schemeClr>
                    </a:solidFill>
                    <a:latin typeface="Work Sans" pitchFamily="2" charset="77"/>
                  </a:rPr>
                  <a:t>Input gate (</a:t>
                </a:r>
                <a14:m>
                  <m:oMath xmlns:m="http://schemas.openxmlformats.org/officeDocument/2006/math">
                    <m:sSub>
                      <m:sSubPr>
                        <m:ctrlPr>
                          <a:rPr lang="en-US" sz="2400" i="1" dirty="0" smtClean="0">
                            <a:solidFill>
                              <a:schemeClr val="tx1">
                                <a:lumMod val="65000"/>
                                <a:lumOff val="35000"/>
                              </a:schemeClr>
                            </a:solidFill>
                            <a:latin typeface="Cambria Math" panose="02040503050406030204" pitchFamily="18" charset="0"/>
                          </a:rPr>
                        </m:ctrlPr>
                      </m:sSubPr>
                      <m:e>
                        <m:r>
                          <a:rPr lang="en-US" sz="2400" i="1" dirty="0" smtClean="0">
                            <a:solidFill>
                              <a:schemeClr val="tx1">
                                <a:lumMod val="65000"/>
                                <a:lumOff val="35000"/>
                              </a:schemeClr>
                            </a:solidFill>
                            <a:latin typeface="Cambria Math" panose="02040503050406030204" pitchFamily="18" charset="0"/>
                          </a:rPr>
                          <m:t>𝑖</m:t>
                        </m:r>
                      </m:e>
                      <m:sub>
                        <m:r>
                          <a:rPr lang="en-US" sz="2400" i="1" dirty="0" smtClean="0">
                            <a:solidFill>
                              <a:schemeClr val="tx1">
                                <a:lumMod val="65000"/>
                                <a:lumOff val="35000"/>
                              </a:schemeClr>
                            </a:solidFill>
                            <a:latin typeface="Cambria Math" panose="02040503050406030204" pitchFamily="18" charset="0"/>
                          </a:rPr>
                          <m:t>𝑡</m:t>
                        </m:r>
                      </m:sub>
                    </m:sSub>
                  </m:oMath>
                </a14:m>
                <a:r>
                  <a:rPr lang="en-US" sz="2400" dirty="0">
                    <a:solidFill>
                      <a:schemeClr val="tx1">
                        <a:lumMod val="65000"/>
                        <a:lumOff val="35000"/>
                      </a:schemeClr>
                    </a:solidFill>
                    <a:latin typeface="Work Sans" pitchFamily="2" charset="77"/>
                  </a:rPr>
                  <a:t>)</a:t>
                </a:r>
              </a:p>
              <a:p>
                <a:pPr marL="342900" indent="-342900">
                  <a:buFont typeface="Arial" panose="020B0604020202020204" pitchFamily="34" charset="0"/>
                  <a:buChar char="•"/>
                </a:pPr>
                <a:endParaRPr lang="en-US" sz="2400" dirty="0">
                  <a:solidFill>
                    <a:schemeClr val="tx1">
                      <a:lumMod val="65000"/>
                      <a:lumOff val="35000"/>
                    </a:schemeClr>
                  </a:solidFill>
                  <a:latin typeface="Work Sans" pitchFamily="2" charset="77"/>
                </a:endParaRPr>
              </a:p>
              <a:p>
                <a:pPr marL="342900" indent="-342900">
                  <a:buFont typeface="Arial" panose="020B0604020202020204" pitchFamily="34" charset="0"/>
                  <a:buChar char="•"/>
                </a:pPr>
                <a:r>
                  <a:rPr lang="en-US" sz="2400" dirty="0">
                    <a:solidFill>
                      <a:schemeClr val="tx1">
                        <a:lumMod val="65000"/>
                        <a:lumOff val="35000"/>
                      </a:schemeClr>
                    </a:solidFill>
                    <a:latin typeface="Work Sans" pitchFamily="2" charset="77"/>
                  </a:rPr>
                  <a:t>Forget gate (</a:t>
                </a:r>
                <a14:m>
                  <m:oMath xmlns:m="http://schemas.openxmlformats.org/officeDocument/2006/math">
                    <m:sSub>
                      <m:sSubPr>
                        <m:ctrlPr>
                          <a:rPr lang="en-US" sz="2400" i="1" dirty="0" smtClean="0">
                            <a:solidFill>
                              <a:schemeClr val="tx1">
                                <a:lumMod val="65000"/>
                                <a:lumOff val="35000"/>
                              </a:schemeClr>
                            </a:solidFill>
                            <a:latin typeface="Cambria Math" panose="02040503050406030204" pitchFamily="18" charset="0"/>
                          </a:rPr>
                        </m:ctrlPr>
                      </m:sSubPr>
                      <m:e>
                        <m:r>
                          <a:rPr lang="en-US" sz="2400" i="1" dirty="0" smtClean="0">
                            <a:solidFill>
                              <a:schemeClr val="tx1">
                                <a:lumMod val="65000"/>
                                <a:lumOff val="35000"/>
                              </a:schemeClr>
                            </a:solidFill>
                            <a:latin typeface="Cambria Math" panose="02040503050406030204" pitchFamily="18" charset="0"/>
                          </a:rPr>
                          <m:t>𝑓</m:t>
                        </m:r>
                      </m:e>
                      <m:sub>
                        <m:r>
                          <a:rPr lang="en-US" sz="2400" i="1" dirty="0" smtClean="0">
                            <a:solidFill>
                              <a:schemeClr val="tx1">
                                <a:lumMod val="65000"/>
                                <a:lumOff val="35000"/>
                              </a:schemeClr>
                            </a:solidFill>
                            <a:latin typeface="Cambria Math" panose="02040503050406030204" pitchFamily="18" charset="0"/>
                          </a:rPr>
                          <m:t>𝑡</m:t>
                        </m:r>
                      </m:sub>
                    </m:sSub>
                  </m:oMath>
                </a14:m>
                <a:r>
                  <a:rPr lang="en-US" sz="2400" dirty="0">
                    <a:solidFill>
                      <a:schemeClr val="tx1">
                        <a:lumMod val="65000"/>
                        <a:lumOff val="35000"/>
                      </a:schemeClr>
                    </a:solidFill>
                    <a:latin typeface="Work Sans" pitchFamily="2" charset="77"/>
                  </a:rPr>
                  <a:t>)</a:t>
                </a:r>
              </a:p>
              <a:p>
                <a:pPr marL="342900" indent="-342900">
                  <a:buFont typeface="Arial" panose="020B0604020202020204" pitchFamily="34" charset="0"/>
                  <a:buChar char="•"/>
                </a:pPr>
                <a:endParaRPr lang="en-US" sz="2400" dirty="0">
                  <a:solidFill>
                    <a:schemeClr val="tx1">
                      <a:lumMod val="65000"/>
                      <a:lumOff val="35000"/>
                    </a:schemeClr>
                  </a:solidFill>
                  <a:latin typeface="Work Sans" pitchFamily="2" charset="77"/>
                </a:endParaRPr>
              </a:p>
              <a:p>
                <a:pPr marL="342900" indent="-342900">
                  <a:buFont typeface="Arial" panose="020B0604020202020204" pitchFamily="34" charset="0"/>
                  <a:buChar char="•"/>
                </a:pPr>
                <a:r>
                  <a:rPr lang="en-US" sz="2400" dirty="0">
                    <a:solidFill>
                      <a:schemeClr val="tx1">
                        <a:lumMod val="65000"/>
                        <a:lumOff val="35000"/>
                      </a:schemeClr>
                    </a:solidFill>
                    <a:latin typeface="Work Sans" pitchFamily="2" charset="77"/>
                  </a:rPr>
                  <a:t>Output gate (</a:t>
                </a:r>
                <a14:m>
                  <m:oMath xmlns:m="http://schemas.openxmlformats.org/officeDocument/2006/math">
                    <m:sSub>
                      <m:sSubPr>
                        <m:ctrlPr>
                          <a:rPr lang="en-US" sz="2400" i="1" dirty="0" smtClean="0">
                            <a:solidFill>
                              <a:schemeClr val="tx1">
                                <a:lumMod val="65000"/>
                                <a:lumOff val="35000"/>
                              </a:schemeClr>
                            </a:solidFill>
                            <a:latin typeface="Cambria Math" panose="02040503050406030204" pitchFamily="18" charset="0"/>
                          </a:rPr>
                        </m:ctrlPr>
                      </m:sSubPr>
                      <m:e>
                        <m:r>
                          <a:rPr lang="en-US" sz="2400" i="1" dirty="0" smtClean="0">
                            <a:solidFill>
                              <a:schemeClr val="tx1">
                                <a:lumMod val="65000"/>
                                <a:lumOff val="35000"/>
                              </a:schemeClr>
                            </a:solidFill>
                            <a:latin typeface="Cambria Math" panose="02040503050406030204" pitchFamily="18" charset="0"/>
                          </a:rPr>
                          <m:t>𝑜</m:t>
                        </m:r>
                      </m:e>
                      <m:sub>
                        <m:r>
                          <a:rPr lang="en-US" sz="2400" i="1" dirty="0" smtClean="0">
                            <a:solidFill>
                              <a:schemeClr val="tx1">
                                <a:lumMod val="65000"/>
                                <a:lumOff val="35000"/>
                              </a:schemeClr>
                            </a:solidFill>
                            <a:latin typeface="Cambria Math" panose="02040503050406030204" pitchFamily="18" charset="0"/>
                          </a:rPr>
                          <m:t>𝑡</m:t>
                        </m:r>
                      </m:sub>
                    </m:sSub>
                  </m:oMath>
                </a14:m>
                <a:r>
                  <a:rPr lang="en-US" sz="2400" dirty="0">
                    <a:solidFill>
                      <a:schemeClr val="tx1">
                        <a:lumMod val="65000"/>
                        <a:lumOff val="35000"/>
                      </a:schemeClr>
                    </a:solidFill>
                    <a:latin typeface="Work Sans" pitchFamily="2" charset="77"/>
                  </a:rPr>
                  <a:t>)</a:t>
                </a:r>
              </a:p>
            </p:txBody>
          </p:sp>
        </mc:Choice>
        <mc:Fallback>
          <p:sp>
            <p:nvSpPr>
              <p:cNvPr id="6" name="TextBox 5">
                <a:extLst>
                  <a:ext uri="{FF2B5EF4-FFF2-40B4-BE49-F238E27FC236}">
                    <a16:creationId xmlns:a16="http://schemas.microsoft.com/office/drawing/2014/main" id="{09D025B9-B79B-E762-2D1E-9A5732CBE461}"/>
                  </a:ext>
                </a:extLst>
              </p:cNvPr>
              <p:cNvSpPr txBox="1">
                <a:spLocks noRot="1" noChangeAspect="1" noMove="1" noResize="1" noEditPoints="1" noAdjustHandles="1" noChangeArrowheads="1" noChangeShapeType="1" noTextEdit="1"/>
              </p:cNvSpPr>
              <p:nvPr/>
            </p:nvSpPr>
            <p:spPr>
              <a:xfrm>
                <a:off x="5952590" y="2459504"/>
                <a:ext cx="3111301" cy="3416320"/>
              </a:xfrm>
              <a:prstGeom prst="rect">
                <a:avLst/>
              </a:prstGeom>
              <a:blipFill>
                <a:blip r:embed="rId4"/>
                <a:stretch>
                  <a:fillRect l="-2439" t="-1481" r="-2439" b="-2963"/>
                </a:stretch>
              </a:blipFill>
            </p:spPr>
            <p:txBody>
              <a:bodyPr/>
              <a:lstStyle/>
              <a:p>
                <a:r>
                  <a:rPr lang="en-US">
                    <a:noFill/>
                  </a:rPr>
                  <a:t> </a:t>
                </a:r>
              </a:p>
            </p:txBody>
          </p:sp>
        </mc:Fallback>
      </mc:AlternateContent>
      <p:pic>
        <p:nvPicPr>
          <p:cNvPr id="8" name="Picture 7" descr="A black text on a white background&#10;&#10;AI-generated content may be incorrect.">
            <a:extLst>
              <a:ext uri="{FF2B5EF4-FFF2-40B4-BE49-F238E27FC236}">
                <a16:creationId xmlns:a16="http://schemas.microsoft.com/office/drawing/2014/main" id="{8901D589-3EA1-6BF6-1983-510DC6EDEA80}"/>
              </a:ext>
            </a:extLst>
          </p:cNvPr>
          <p:cNvPicPr>
            <a:picLocks noChangeAspect="1"/>
          </p:cNvPicPr>
          <p:nvPr/>
        </p:nvPicPr>
        <p:blipFill>
          <a:blip r:embed="rId5"/>
          <a:srcRect l="11949" t="2483" b="1"/>
          <a:stretch>
            <a:fillRect/>
          </a:stretch>
        </p:blipFill>
        <p:spPr>
          <a:xfrm>
            <a:off x="8803768" y="4682216"/>
            <a:ext cx="3388574" cy="584461"/>
          </a:xfrm>
          <a:prstGeom prst="rect">
            <a:avLst/>
          </a:prstGeom>
        </p:spPr>
      </p:pic>
      <p:pic>
        <p:nvPicPr>
          <p:cNvPr id="10" name="Picture 9" descr="A black text with a white background&#10;&#10;AI-generated content may be incorrect.">
            <a:extLst>
              <a:ext uri="{FF2B5EF4-FFF2-40B4-BE49-F238E27FC236}">
                <a16:creationId xmlns:a16="http://schemas.microsoft.com/office/drawing/2014/main" id="{9377ABF3-5FCF-3EB4-C753-34F6488373BE}"/>
              </a:ext>
            </a:extLst>
          </p:cNvPr>
          <p:cNvPicPr>
            <a:picLocks noChangeAspect="1"/>
          </p:cNvPicPr>
          <p:nvPr/>
        </p:nvPicPr>
        <p:blipFill>
          <a:blip r:embed="rId6"/>
          <a:srcRect l="8904" t="4984"/>
          <a:stretch>
            <a:fillRect/>
          </a:stretch>
        </p:blipFill>
        <p:spPr>
          <a:xfrm>
            <a:off x="8803767" y="3832137"/>
            <a:ext cx="3162403" cy="576865"/>
          </a:xfrm>
          <a:prstGeom prst="rect">
            <a:avLst/>
          </a:prstGeom>
        </p:spPr>
      </p:pic>
      <p:pic>
        <p:nvPicPr>
          <p:cNvPr id="12" name="Picture 11" descr="A black text on a white background&#10;&#10;AI-generated content may be incorrect.">
            <a:extLst>
              <a:ext uri="{FF2B5EF4-FFF2-40B4-BE49-F238E27FC236}">
                <a16:creationId xmlns:a16="http://schemas.microsoft.com/office/drawing/2014/main" id="{1F30093E-8562-FF3B-3773-16A8F41B0310}"/>
              </a:ext>
            </a:extLst>
          </p:cNvPr>
          <p:cNvPicPr>
            <a:picLocks noChangeAspect="1"/>
          </p:cNvPicPr>
          <p:nvPr/>
        </p:nvPicPr>
        <p:blipFill>
          <a:blip r:embed="rId7"/>
          <a:srcRect l="12230" t="-3031"/>
          <a:stretch>
            <a:fillRect/>
          </a:stretch>
        </p:blipFill>
        <p:spPr>
          <a:xfrm>
            <a:off x="8670850" y="2359266"/>
            <a:ext cx="3295320" cy="640082"/>
          </a:xfrm>
          <a:prstGeom prst="rect">
            <a:avLst/>
          </a:prstGeom>
        </p:spPr>
      </p:pic>
      <p:pic>
        <p:nvPicPr>
          <p:cNvPr id="14" name="Picture 13" descr="A black text with a pointy line&#10;&#10;AI-generated content may be incorrect.">
            <a:extLst>
              <a:ext uri="{FF2B5EF4-FFF2-40B4-BE49-F238E27FC236}">
                <a16:creationId xmlns:a16="http://schemas.microsoft.com/office/drawing/2014/main" id="{F9C15274-0DA9-1CDA-EC57-91304575E8E4}"/>
              </a:ext>
            </a:extLst>
          </p:cNvPr>
          <p:cNvPicPr>
            <a:picLocks noChangeAspect="1"/>
          </p:cNvPicPr>
          <p:nvPr/>
        </p:nvPicPr>
        <p:blipFill>
          <a:blip r:embed="rId8"/>
          <a:srcRect l="9391"/>
          <a:stretch>
            <a:fillRect/>
          </a:stretch>
        </p:blipFill>
        <p:spPr>
          <a:xfrm>
            <a:off x="8867371" y="5353429"/>
            <a:ext cx="3098800" cy="584461"/>
          </a:xfrm>
          <a:prstGeom prst="rect">
            <a:avLst/>
          </a:prstGeom>
        </p:spPr>
      </p:pic>
      <p:pic>
        <p:nvPicPr>
          <p:cNvPr id="16" name="Picture 15" descr="A black text with a star&#10;&#10;AI-generated content may be incorrect.">
            <a:extLst>
              <a:ext uri="{FF2B5EF4-FFF2-40B4-BE49-F238E27FC236}">
                <a16:creationId xmlns:a16="http://schemas.microsoft.com/office/drawing/2014/main" id="{9EF0C99F-FDF2-D534-5861-2B9ED4EFB8FC}"/>
              </a:ext>
            </a:extLst>
          </p:cNvPr>
          <p:cNvPicPr>
            <a:picLocks noChangeAspect="1"/>
          </p:cNvPicPr>
          <p:nvPr/>
        </p:nvPicPr>
        <p:blipFill>
          <a:blip r:embed="rId9"/>
          <a:srcRect l="14841"/>
          <a:stretch>
            <a:fillRect/>
          </a:stretch>
        </p:blipFill>
        <p:spPr>
          <a:xfrm>
            <a:off x="9063891" y="3139072"/>
            <a:ext cx="2569099" cy="682147"/>
          </a:xfrm>
          <a:prstGeom prst="rect">
            <a:avLst/>
          </a:prstGeom>
        </p:spPr>
      </p:pic>
    </p:spTree>
    <p:extLst>
      <p:ext uri="{BB962C8B-B14F-4D97-AF65-F5344CB8AC3E}">
        <p14:creationId xmlns:p14="http://schemas.microsoft.com/office/powerpoint/2010/main" val="1997537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A0A28-B053-D499-9D25-20423609C119}"/>
              </a:ext>
            </a:extLst>
          </p:cNvPr>
          <p:cNvSpPr>
            <a:spLocks noGrp="1"/>
          </p:cNvSpPr>
          <p:nvPr>
            <p:ph type="title"/>
          </p:nvPr>
        </p:nvSpPr>
        <p:spPr/>
        <p:txBody>
          <a:bodyPr/>
          <a:lstStyle/>
          <a:p>
            <a:r>
              <a:rPr lang="en-US" dirty="0"/>
              <a:t>LSTM</a:t>
            </a:r>
          </a:p>
        </p:txBody>
      </p:sp>
      <p:sp>
        <p:nvSpPr>
          <p:cNvPr id="3" name="Text Placeholder 2">
            <a:extLst>
              <a:ext uri="{FF2B5EF4-FFF2-40B4-BE49-F238E27FC236}">
                <a16:creationId xmlns:a16="http://schemas.microsoft.com/office/drawing/2014/main" id="{136C92B6-3436-A91C-720C-D597C9939BC6}"/>
              </a:ext>
            </a:extLst>
          </p:cNvPr>
          <p:cNvSpPr>
            <a:spLocks noGrp="1"/>
          </p:cNvSpPr>
          <p:nvPr>
            <p:ph type="body" idx="1"/>
          </p:nvPr>
        </p:nvSpPr>
        <p:spPr>
          <a:xfrm>
            <a:off x="415600" y="1526083"/>
            <a:ext cx="11360800" cy="3805833"/>
          </a:xfrm>
        </p:spPr>
        <p:txBody>
          <a:bodyPr/>
          <a:lstStyle/>
          <a:p>
            <a:pPr>
              <a:lnSpc>
                <a:spcPct val="100000"/>
              </a:lnSpc>
            </a:pPr>
            <a:r>
              <a:rPr lang="en-US" sz="2400" dirty="0">
                <a:latin typeface="+mn-lt"/>
              </a:rPr>
              <a:t>Where is it useful ?</a:t>
            </a:r>
          </a:p>
          <a:p>
            <a:pPr lvl="1">
              <a:lnSpc>
                <a:spcPct val="100000"/>
              </a:lnSpc>
            </a:pPr>
            <a:r>
              <a:rPr lang="en-US" sz="2400" dirty="0">
                <a:latin typeface="+mn-lt"/>
              </a:rPr>
              <a:t>analyzing time-series data from sensors (voltage, current, temperature, etc.)</a:t>
            </a:r>
          </a:p>
          <a:p>
            <a:pPr lvl="2">
              <a:lnSpc>
                <a:spcPct val="100000"/>
              </a:lnSpc>
            </a:pPr>
            <a:r>
              <a:rPr lang="en-US" sz="2400" dirty="0">
                <a:latin typeface="+mn-lt"/>
              </a:rPr>
              <a:t>such as estimating state-of-charge (SOC), </a:t>
            </a:r>
          </a:p>
          <a:p>
            <a:pPr lvl="2">
              <a:lnSpc>
                <a:spcPct val="100000"/>
              </a:lnSpc>
            </a:pPr>
            <a:r>
              <a:rPr lang="en-US" sz="2400" dirty="0">
                <a:latin typeface="+mn-lt"/>
              </a:rPr>
              <a:t>forecasting degradation,</a:t>
            </a:r>
          </a:p>
          <a:p>
            <a:pPr lvl="2">
              <a:lnSpc>
                <a:spcPct val="100000"/>
              </a:lnSpc>
            </a:pPr>
            <a:r>
              <a:rPr lang="en-US" sz="2400" dirty="0">
                <a:latin typeface="+mn-lt"/>
              </a:rPr>
              <a:t>predicting remaining useful life (RUL)</a:t>
            </a:r>
          </a:p>
          <a:p>
            <a:pPr marL="1405431" lvl="2" indent="0">
              <a:lnSpc>
                <a:spcPct val="100000"/>
              </a:lnSpc>
              <a:buNone/>
            </a:pPr>
            <a:endParaRPr lang="en-US" sz="2400" dirty="0">
              <a:latin typeface="+mn-lt"/>
            </a:endParaRPr>
          </a:p>
          <a:p>
            <a:pPr>
              <a:lnSpc>
                <a:spcPct val="100000"/>
              </a:lnSpc>
            </a:pPr>
            <a:r>
              <a:rPr lang="en-US" sz="2400" dirty="0">
                <a:latin typeface="+mn-lt"/>
              </a:rPr>
              <a:t>Often rely on the temporal nature.</a:t>
            </a:r>
          </a:p>
          <a:p>
            <a:pPr>
              <a:lnSpc>
                <a:spcPct val="100000"/>
              </a:lnSpc>
            </a:pPr>
            <a:endParaRPr lang="en-US" sz="2600" dirty="0">
              <a:latin typeface="+mn-lt"/>
            </a:endParaRPr>
          </a:p>
        </p:txBody>
      </p:sp>
      <p:sp>
        <p:nvSpPr>
          <p:cNvPr id="4" name="Slide Number Placeholder 3">
            <a:extLst>
              <a:ext uri="{FF2B5EF4-FFF2-40B4-BE49-F238E27FC236}">
                <a16:creationId xmlns:a16="http://schemas.microsoft.com/office/drawing/2014/main" id="{CEABF037-B953-4DAA-E91E-F3955CFE9028}"/>
              </a:ext>
            </a:extLst>
          </p:cNvPr>
          <p:cNvSpPr>
            <a:spLocks noGrp="1"/>
          </p:cNvSpPr>
          <p:nvPr>
            <p:ph type="sldNum" idx="12"/>
          </p:nvPr>
        </p:nvSpPr>
        <p:spPr/>
        <p:txBody>
          <a:bodyPr/>
          <a:lstStyle/>
          <a:p>
            <a:fld id="{00000000-1234-1234-1234-123412341234}" type="slidenum">
              <a:rPr lang="en-GB" smtClean="0"/>
              <a:pPr/>
              <a:t>33</a:t>
            </a:fld>
            <a:endParaRPr lang="en-GB"/>
          </a:p>
        </p:txBody>
      </p:sp>
    </p:spTree>
    <p:extLst>
      <p:ext uri="{BB962C8B-B14F-4D97-AF65-F5344CB8AC3E}">
        <p14:creationId xmlns:p14="http://schemas.microsoft.com/office/powerpoint/2010/main" val="1837292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FC0D2-D67A-B8E7-B82A-79C5E3BAA3CE}"/>
              </a:ext>
            </a:extLst>
          </p:cNvPr>
          <p:cNvSpPr>
            <a:spLocks noGrp="1"/>
          </p:cNvSpPr>
          <p:nvPr>
            <p:ph type="title"/>
          </p:nvPr>
        </p:nvSpPr>
        <p:spPr/>
        <p:txBody>
          <a:bodyPr/>
          <a:lstStyle/>
          <a:p>
            <a:r>
              <a:rPr lang="en-US" dirty="0"/>
              <a:t>Convolutional Neural Network</a:t>
            </a:r>
          </a:p>
        </p:txBody>
      </p:sp>
      <p:sp>
        <p:nvSpPr>
          <p:cNvPr id="3" name="Text Placeholder 2">
            <a:extLst>
              <a:ext uri="{FF2B5EF4-FFF2-40B4-BE49-F238E27FC236}">
                <a16:creationId xmlns:a16="http://schemas.microsoft.com/office/drawing/2014/main" id="{D151C795-5620-1F25-7B85-4597BC81D38D}"/>
              </a:ext>
            </a:extLst>
          </p:cNvPr>
          <p:cNvSpPr>
            <a:spLocks noGrp="1"/>
          </p:cNvSpPr>
          <p:nvPr>
            <p:ph type="body" idx="1"/>
          </p:nvPr>
        </p:nvSpPr>
        <p:spPr>
          <a:xfrm>
            <a:off x="415600" y="1829200"/>
            <a:ext cx="4666502" cy="3805833"/>
          </a:xfrm>
        </p:spPr>
        <p:txBody>
          <a:bodyPr/>
          <a:lstStyle/>
          <a:p>
            <a:r>
              <a:rPr lang="en-US" sz="2400" dirty="0"/>
              <a:t>Designed to process </a:t>
            </a:r>
            <a:r>
              <a:rPr lang="en-US" sz="2400" b="1" dirty="0"/>
              <a:t>grid-like data</a:t>
            </a:r>
            <a:r>
              <a:rPr lang="en-US" sz="2400" dirty="0"/>
              <a:t>, such as images.</a:t>
            </a:r>
          </a:p>
        </p:txBody>
      </p:sp>
      <p:sp>
        <p:nvSpPr>
          <p:cNvPr id="4" name="Slide Number Placeholder 3">
            <a:extLst>
              <a:ext uri="{FF2B5EF4-FFF2-40B4-BE49-F238E27FC236}">
                <a16:creationId xmlns:a16="http://schemas.microsoft.com/office/drawing/2014/main" id="{1F3A52CF-39F5-FD7F-72BF-A8C8681E997A}"/>
              </a:ext>
            </a:extLst>
          </p:cNvPr>
          <p:cNvSpPr>
            <a:spLocks noGrp="1"/>
          </p:cNvSpPr>
          <p:nvPr>
            <p:ph type="sldNum" idx="12"/>
          </p:nvPr>
        </p:nvSpPr>
        <p:spPr/>
        <p:txBody>
          <a:bodyPr/>
          <a:lstStyle/>
          <a:p>
            <a:fld id="{00000000-1234-1234-1234-123412341234}" type="slidenum">
              <a:rPr lang="en-GB" smtClean="0"/>
              <a:pPr/>
              <a:t>34</a:t>
            </a:fld>
            <a:endParaRPr lang="en-GB"/>
          </a:p>
        </p:txBody>
      </p:sp>
      <p:pic>
        <p:nvPicPr>
          <p:cNvPr id="3074" name="Picture 2" descr="convolutional neural network introduction">
            <a:extLst>
              <a:ext uri="{FF2B5EF4-FFF2-40B4-BE49-F238E27FC236}">
                <a16:creationId xmlns:a16="http://schemas.microsoft.com/office/drawing/2014/main" id="{1F7866D2-2F19-FDCD-AD07-3D5B184809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2102" y="1652734"/>
            <a:ext cx="7109898" cy="380583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7B5FD6E-E8D2-3D90-4362-A7DBBC69CE27}"/>
              </a:ext>
            </a:extLst>
          </p:cNvPr>
          <p:cNvSpPr txBox="1"/>
          <p:nvPr/>
        </p:nvSpPr>
        <p:spPr>
          <a:xfrm>
            <a:off x="612689" y="2947286"/>
            <a:ext cx="4272323" cy="1569660"/>
          </a:xfrm>
          <a:prstGeom prst="rect">
            <a:avLst/>
          </a:prstGeom>
          <a:noFill/>
        </p:spPr>
        <p:txBody>
          <a:bodyPr wrap="none" rtlCol="0">
            <a:spAutoFit/>
          </a:bodyPr>
          <a:lstStyle/>
          <a:p>
            <a:pPr marL="342900" indent="-342900">
              <a:buFont typeface="Arial" panose="020B0604020202020204" pitchFamily="34" charset="0"/>
              <a:buChar char="•"/>
            </a:pPr>
            <a:r>
              <a:rPr lang="en-US" sz="2400" dirty="0">
                <a:solidFill>
                  <a:schemeClr val="tx1">
                    <a:lumMod val="65000"/>
                    <a:lumOff val="35000"/>
                  </a:schemeClr>
                </a:solidFill>
                <a:latin typeface="Work Sans" pitchFamily="2" charset="77"/>
              </a:rPr>
              <a:t>Three Layers</a:t>
            </a:r>
          </a:p>
          <a:p>
            <a:pPr marL="742950" lvl="1" indent="-285750">
              <a:buFont typeface="Arial" panose="020B0604020202020204" pitchFamily="34" charset="0"/>
              <a:buChar char="•"/>
            </a:pPr>
            <a:r>
              <a:rPr lang="en-US" sz="2400" dirty="0">
                <a:solidFill>
                  <a:schemeClr val="tx1">
                    <a:lumMod val="65000"/>
                    <a:lumOff val="35000"/>
                  </a:schemeClr>
                </a:solidFill>
                <a:latin typeface="Work Sans" pitchFamily="2" charset="77"/>
              </a:rPr>
              <a:t>Convolution</a:t>
            </a:r>
          </a:p>
          <a:p>
            <a:pPr marL="742950" lvl="1" indent="-285750">
              <a:buFont typeface="Arial" panose="020B0604020202020204" pitchFamily="34" charset="0"/>
              <a:buChar char="•"/>
            </a:pPr>
            <a:r>
              <a:rPr lang="en-US" sz="2400" dirty="0">
                <a:solidFill>
                  <a:schemeClr val="tx1">
                    <a:lumMod val="65000"/>
                    <a:lumOff val="35000"/>
                  </a:schemeClr>
                </a:solidFill>
                <a:latin typeface="Work Sans" pitchFamily="2" charset="77"/>
              </a:rPr>
              <a:t>Pooling (Subsampling)</a:t>
            </a:r>
          </a:p>
          <a:p>
            <a:pPr marL="742950" lvl="1" indent="-285750">
              <a:buFont typeface="Arial" panose="020B0604020202020204" pitchFamily="34" charset="0"/>
              <a:buChar char="•"/>
            </a:pPr>
            <a:r>
              <a:rPr lang="en-US" sz="2400" dirty="0">
                <a:solidFill>
                  <a:schemeClr val="tx1">
                    <a:lumMod val="65000"/>
                    <a:lumOff val="35000"/>
                  </a:schemeClr>
                </a:solidFill>
                <a:latin typeface="Work Sans" pitchFamily="2" charset="77"/>
              </a:rPr>
              <a:t>Fully Connected</a:t>
            </a:r>
          </a:p>
        </p:txBody>
      </p:sp>
      <p:sp>
        <p:nvSpPr>
          <p:cNvPr id="6" name="TextBox 5">
            <a:extLst>
              <a:ext uri="{FF2B5EF4-FFF2-40B4-BE49-F238E27FC236}">
                <a16:creationId xmlns:a16="http://schemas.microsoft.com/office/drawing/2014/main" id="{70F1EB1B-8547-0BC0-8058-4A719D064AB5}"/>
              </a:ext>
            </a:extLst>
          </p:cNvPr>
          <p:cNvSpPr txBox="1"/>
          <p:nvPr/>
        </p:nvSpPr>
        <p:spPr>
          <a:xfrm>
            <a:off x="612688" y="4673736"/>
            <a:ext cx="3233578" cy="1569660"/>
          </a:xfrm>
          <a:prstGeom prst="rect">
            <a:avLst/>
          </a:prstGeom>
          <a:noFill/>
        </p:spPr>
        <p:txBody>
          <a:bodyPr wrap="none" rtlCol="0">
            <a:spAutoFit/>
          </a:bodyPr>
          <a:lstStyle/>
          <a:p>
            <a:pPr marL="342900" indent="-342900">
              <a:buFont typeface="Arial" panose="020B0604020202020204" pitchFamily="34" charset="0"/>
              <a:buChar char="•"/>
            </a:pPr>
            <a:r>
              <a:rPr lang="en-US" sz="2400" dirty="0">
                <a:solidFill>
                  <a:schemeClr val="tx1">
                    <a:lumMod val="65000"/>
                    <a:lumOff val="35000"/>
                  </a:schemeClr>
                </a:solidFill>
                <a:latin typeface="Work Sans" pitchFamily="2" charset="77"/>
              </a:rPr>
              <a:t>Hyperparameters</a:t>
            </a:r>
          </a:p>
          <a:p>
            <a:pPr marL="742950" lvl="1" indent="-285750">
              <a:buFont typeface="Arial" panose="020B0604020202020204" pitchFamily="34" charset="0"/>
              <a:buChar char="•"/>
            </a:pPr>
            <a:r>
              <a:rPr lang="en-US" sz="2400" dirty="0">
                <a:solidFill>
                  <a:schemeClr val="tx1">
                    <a:lumMod val="65000"/>
                    <a:lumOff val="35000"/>
                  </a:schemeClr>
                </a:solidFill>
                <a:latin typeface="Work Sans" pitchFamily="2" charset="77"/>
              </a:rPr>
              <a:t>Stride</a:t>
            </a:r>
          </a:p>
          <a:p>
            <a:pPr marL="742950" lvl="1" indent="-285750">
              <a:buFont typeface="Arial" panose="020B0604020202020204" pitchFamily="34" charset="0"/>
              <a:buChar char="•"/>
            </a:pPr>
            <a:r>
              <a:rPr lang="en-US" sz="2400" dirty="0">
                <a:solidFill>
                  <a:schemeClr val="tx1">
                    <a:lumMod val="65000"/>
                    <a:lumOff val="35000"/>
                  </a:schemeClr>
                </a:solidFill>
                <a:latin typeface="Work Sans" pitchFamily="2" charset="77"/>
              </a:rPr>
              <a:t>Padding</a:t>
            </a:r>
          </a:p>
          <a:p>
            <a:pPr marL="742950" lvl="1" indent="-285750">
              <a:buFont typeface="Arial" panose="020B0604020202020204" pitchFamily="34" charset="0"/>
              <a:buChar char="•"/>
            </a:pPr>
            <a:r>
              <a:rPr lang="en-US" sz="2400" dirty="0">
                <a:solidFill>
                  <a:schemeClr val="tx1">
                    <a:lumMod val="65000"/>
                    <a:lumOff val="35000"/>
                  </a:schemeClr>
                </a:solidFill>
                <a:latin typeface="Work Sans" pitchFamily="2" charset="77"/>
              </a:rPr>
              <a:t>Channels</a:t>
            </a:r>
          </a:p>
        </p:txBody>
      </p:sp>
    </p:spTree>
    <p:extLst>
      <p:ext uri="{BB962C8B-B14F-4D97-AF65-F5344CB8AC3E}">
        <p14:creationId xmlns:p14="http://schemas.microsoft.com/office/powerpoint/2010/main" val="1695385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AB1D8-15C2-E20E-42FA-B2C784C84CF3}"/>
              </a:ext>
            </a:extLst>
          </p:cNvPr>
          <p:cNvSpPr>
            <a:spLocks noGrp="1"/>
          </p:cNvSpPr>
          <p:nvPr>
            <p:ph type="title"/>
          </p:nvPr>
        </p:nvSpPr>
        <p:spPr/>
        <p:txBody>
          <a:bodyPr/>
          <a:lstStyle/>
          <a:p>
            <a:r>
              <a:rPr lang="en-US" dirty="0"/>
              <a:t>Convolutional Neural </a:t>
            </a:r>
            <a:r>
              <a:rPr lang="en-US" dirty="0" err="1"/>
              <a:t>Netowork</a:t>
            </a:r>
            <a:endParaRPr lang="en-US" dirty="0"/>
          </a:p>
        </p:txBody>
      </p:sp>
      <p:sp>
        <p:nvSpPr>
          <p:cNvPr id="3" name="Text Placeholder 2">
            <a:extLst>
              <a:ext uri="{FF2B5EF4-FFF2-40B4-BE49-F238E27FC236}">
                <a16:creationId xmlns:a16="http://schemas.microsoft.com/office/drawing/2014/main" id="{AF84E1DA-1655-68B1-F52B-AD2FAD932735}"/>
              </a:ext>
            </a:extLst>
          </p:cNvPr>
          <p:cNvSpPr>
            <a:spLocks noGrp="1"/>
          </p:cNvSpPr>
          <p:nvPr>
            <p:ph type="body" idx="1"/>
          </p:nvPr>
        </p:nvSpPr>
        <p:spPr>
          <a:xfrm>
            <a:off x="415600" y="2286000"/>
            <a:ext cx="10519622" cy="3805833"/>
          </a:xfrm>
        </p:spPr>
        <p:txBody>
          <a:bodyPr/>
          <a:lstStyle/>
          <a:p>
            <a:pPr marL="342900" indent="-342900">
              <a:lnSpc>
                <a:spcPct val="100000"/>
              </a:lnSpc>
            </a:pPr>
            <a:r>
              <a:rPr lang="en-US" sz="2400" dirty="0">
                <a:latin typeface="+mn-lt"/>
              </a:rPr>
              <a:t>Where is it Useful ?</a:t>
            </a:r>
          </a:p>
          <a:p>
            <a:pPr marL="952485" lvl="1" indent="-342900">
              <a:lnSpc>
                <a:spcPct val="100000"/>
              </a:lnSpc>
            </a:pPr>
            <a:r>
              <a:rPr lang="en-US" sz="2000" dirty="0">
                <a:latin typeface="+mn-lt"/>
              </a:rPr>
              <a:t>If your battery prediction task involves sensor arrays or spatial data (for example, thermal imaging or electrode microstructure images), CNNs can efficiently extract local features from these multi-dimensional data.</a:t>
            </a:r>
          </a:p>
          <a:p>
            <a:pPr marL="0">
              <a:lnSpc>
                <a:spcPct val="100000"/>
              </a:lnSpc>
            </a:pPr>
            <a:r>
              <a:rPr lang="en-US" sz="2600" dirty="0">
                <a:latin typeface="+mn-lt"/>
              </a:rPr>
              <a:t>Hybrid of LSTM and CNN enhance strength</a:t>
            </a:r>
          </a:p>
          <a:p>
            <a:pPr marL="609585" lvl="1">
              <a:lnSpc>
                <a:spcPct val="100000"/>
              </a:lnSpc>
            </a:pPr>
            <a:r>
              <a:rPr lang="en-US" sz="2400" dirty="0">
                <a:latin typeface="+mn-lt"/>
              </a:rPr>
              <a:t>CNN layers to extract spatial features</a:t>
            </a:r>
          </a:p>
          <a:p>
            <a:pPr marL="609585" lvl="1">
              <a:lnSpc>
                <a:spcPct val="100000"/>
              </a:lnSpc>
            </a:pPr>
            <a:r>
              <a:rPr lang="en-US" sz="2200" dirty="0">
                <a:latin typeface="+mn-lt"/>
              </a:rPr>
              <a:t>Then use LSTM layers to process the temporal sequence of these features. </a:t>
            </a:r>
          </a:p>
        </p:txBody>
      </p:sp>
      <p:sp>
        <p:nvSpPr>
          <p:cNvPr id="4" name="Slide Number Placeholder 3">
            <a:extLst>
              <a:ext uri="{FF2B5EF4-FFF2-40B4-BE49-F238E27FC236}">
                <a16:creationId xmlns:a16="http://schemas.microsoft.com/office/drawing/2014/main" id="{8BF7CEDD-8CD7-E669-3223-B1153EE35106}"/>
              </a:ext>
            </a:extLst>
          </p:cNvPr>
          <p:cNvSpPr>
            <a:spLocks noGrp="1"/>
          </p:cNvSpPr>
          <p:nvPr>
            <p:ph type="sldNum" idx="12"/>
          </p:nvPr>
        </p:nvSpPr>
        <p:spPr/>
        <p:txBody>
          <a:bodyPr/>
          <a:lstStyle/>
          <a:p>
            <a:fld id="{00000000-1234-1234-1234-123412341234}" type="slidenum">
              <a:rPr lang="en-GB" smtClean="0"/>
              <a:pPr/>
              <a:t>35</a:t>
            </a:fld>
            <a:endParaRPr lang="en-GB"/>
          </a:p>
        </p:txBody>
      </p:sp>
    </p:spTree>
    <p:extLst>
      <p:ext uri="{BB962C8B-B14F-4D97-AF65-F5344CB8AC3E}">
        <p14:creationId xmlns:p14="http://schemas.microsoft.com/office/powerpoint/2010/main" val="11649095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4CE54-3D35-DFD7-5150-7C2B5DE3B03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04368FB-1760-366C-E1ED-0AA65B5FDE8E}"/>
              </a:ext>
            </a:extLst>
          </p:cNvPr>
          <p:cNvSpPr>
            <a:spLocks noGrp="1"/>
          </p:cNvSpPr>
          <p:nvPr>
            <p:ph type="body" idx="1"/>
          </p:nvPr>
        </p:nvSpPr>
        <p:spPr>
          <a:xfrm>
            <a:off x="4359055" y="3216058"/>
            <a:ext cx="2204583" cy="763600"/>
          </a:xfrm>
        </p:spPr>
        <p:txBody>
          <a:bodyPr/>
          <a:lstStyle/>
          <a:p>
            <a:pPr marL="152396" indent="0">
              <a:buNone/>
            </a:pPr>
            <a:r>
              <a:rPr lang="en-US" sz="2800" b="1" dirty="0"/>
              <a:t>Hands-on</a:t>
            </a:r>
          </a:p>
        </p:txBody>
      </p:sp>
      <p:sp>
        <p:nvSpPr>
          <p:cNvPr id="4" name="Slide Number Placeholder 3">
            <a:extLst>
              <a:ext uri="{FF2B5EF4-FFF2-40B4-BE49-F238E27FC236}">
                <a16:creationId xmlns:a16="http://schemas.microsoft.com/office/drawing/2014/main" id="{34B58834-C6DD-E2B0-DA74-50D98DA84627}"/>
              </a:ext>
            </a:extLst>
          </p:cNvPr>
          <p:cNvSpPr>
            <a:spLocks noGrp="1"/>
          </p:cNvSpPr>
          <p:nvPr>
            <p:ph type="sldNum" idx="12"/>
          </p:nvPr>
        </p:nvSpPr>
        <p:spPr/>
        <p:txBody>
          <a:bodyPr/>
          <a:lstStyle/>
          <a:p>
            <a:fld id="{00000000-1234-1234-1234-123412341234}" type="slidenum">
              <a:rPr lang="en-GB" smtClean="0"/>
              <a:pPr/>
              <a:t>36</a:t>
            </a:fld>
            <a:endParaRPr lang="en-GB"/>
          </a:p>
        </p:txBody>
      </p:sp>
    </p:spTree>
    <p:extLst>
      <p:ext uri="{BB962C8B-B14F-4D97-AF65-F5344CB8AC3E}">
        <p14:creationId xmlns:p14="http://schemas.microsoft.com/office/powerpoint/2010/main" val="21992166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B8A9C29-AA8C-675E-C3BC-E792EDDBFDD8}"/>
              </a:ext>
            </a:extLst>
          </p:cNvPr>
          <p:cNvSpPr txBox="1">
            <a:spLocks/>
          </p:cNvSpPr>
          <p:nvPr/>
        </p:nvSpPr>
        <p:spPr>
          <a:xfrm>
            <a:off x="4847080" y="2086542"/>
            <a:ext cx="2497838" cy="766154"/>
          </a:xfrm>
          <a:prstGeom prst="rect">
            <a:avLst/>
          </a:prstGeom>
          <a:noFill/>
          <a:ln>
            <a:noFill/>
          </a:ln>
        </p:spPr>
        <p:txBody>
          <a:bodyPr spcFirstLastPara="1" vert="horz" wrap="square" lIns="91425" tIns="91425" rIns="91425" bIns="91425" rtlCol="0" anchor="t" anchorCtr="0">
            <a:normAutofit/>
          </a:bodyPr>
          <a:lstStyle>
            <a:lvl1pPr lvl="0" algn="l" defTabSz="914400" rtl="0" eaLnBrk="1" latinLnBrk="0" hangingPunct="1">
              <a:lnSpc>
                <a:spcPct val="100000"/>
              </a:lnSpc>
              <a:spcBef>
                <a:spcPts val="0"/>
              </a:spcBef>
              <a:spcAft>
                <a:spcPts val="0"/>
              </a:spcAft>
              <a:buClr>
                <a:schemeClr val="lt2"/>
              </a:buClr>
              <a:buSzPts val="2800"/>
              <a:buFont typeface="Century Gothic"/>
              <a:buNone/>
              <a:defRPr sz="3200" kern="1200" baseline="0">
                <a:solidFill>
                  <a:schemeClr val="tx1"/>
                </a:solidFill>
                <a:latin typeface="Work Sans" pitchFamily="2" charset="77"/>
                <a:ea typeface="+mj-ea"/>
                <a:cs typeface="+mj-cs"/>
              </a:defRPr>
            </a:lvl1pPr>
            <a:lvl2pPr lvl="1" algn="l">
              <a:lnSpc>
                <a:spcPct val="100000"/>
              </a:lnSpc>
              <a:spcBef>
                <a:spcPts val="0"/>
              </a:spcBef>
              <a:spcAft>
                <a:spcPts val="0"/>
              </a:spcAft>
              <a:buClr>
                <a:schemeClr val="dk2"/>
              </a:buClr>
              <a:buSzPts val="2800"/>
              <a:buNone/>
              <a:defRPr/>
            </a:lvl2pPr>
            <a:lvl3pPr lvl="2" algn="l">
              <a:lnSpc>
                <a:spcPct val="100000"/>
              </a:lnSpc>
              <a:spcBef>
                <a:spcPts val="0"/>
              </a:spcBef>
              <a:spcAft>
                <a:spcPts val="0"/>
              </a:spcAft>
              <a:buClr>
                <a:schemeClr val="dk2"/>
              </a:buClr>
              <a:buSzPts val="2800"/>
              <a:buNone/>
              <a:defRPr/>
            </a:lvl3pPr>
            <a:lvl4pPr lvl="3" algn="l">
              <a:lnSpc>
                <a:spcPct val="100000"/>
              </a:lnSpc>
              <a:spcBef>
                <a:spcPts val="0"/>
              </a:spcBef>
              <a:spcAft>
                <a:spcPts val="0"/>
              </a:spcAft>
              <a:buClr>
                <a:schemeClr val="dk2"/>
              </a:buClr>
              <a:buSzPts val="2800"/>
              <a:buNone/>
              <a:defRPr/>
            </a:lvl4pPr>
            <a:lvl5pPr lvl="4" algn="l">
              <a:lnSpc>
                <a:spcPct val="100000"/>
              </a:lnSpc>
              <a:spcBef>
                <a:spcPts val="0"/>
              </a:spcBef>
              <a:spcAft>
                <a:spcPts val="0"/>
              </a:spcAft>
              <a:buClr>
                <a:schemeClr val="dk2"/>
              </a:buClr>
              <a:buSzPts val="2800"/>
              <a:buNone/>
              <a:defRPr/>
            </a:lvl5pPr>
            <a:lvl6pPr lvl="5" algn="l">
              <a:lnSpc>
                <a:spcPct val="100000"/>
              </a:lnSpc>
              <a:spcBef>
                <a:spcPts val="0"/>
              </a:spcBef>
              <a:spcAft>
                <a:spcPts val="0"/>
              </a:spcAft>
              <a:buClr>
                <a:schemeClr val="dk2"/>
              </a:buClr>
              <a:buSzPts val="2800"/>
              <a:buNone/>
              <a:defRPr/>
            </a:lvl6pPr>
            <a:lvl7pPr lvl="6" algn="l">
              <a:lnSpc>
                <a:spcPct val="100000"/>
              </a:lnSpc>
              <a:spcBef>
                <a:spcPts val="0"/>
              </a:spcBef>
              <a:spcAft>
                <a:spcPts val="0"/>
              </a:spcAft>
              <a:buClr>
                <a:schemeClr val="dk2"/>
              </a:buClr>
              <a:buSzPts val="2800"/>
              <a:buNone/>
              <a:defRPr/>
            </a:lvl7pPr>
            <a:lvl8pPr lvl="7" algn="l">
              <a:lnSpc>
                <a:spcPct val="100000"/>
              </a:lnSpc>
              <a:spcBef>
                <a:spcPts val="0"/>
              </a:spcBef>
              <a:spcAft>
                <a:spcPts val="0"/>
              </a:spcAft>
              <a:buClr>
                <a:schemeClr val="dk2"/>
              </a:buClr>
              <a:buSzPts val="2800"/>
              <a:buNone/>
              <a:defRPr/>
            </a:lvl8pPr>
            <a:lvl9pPr lvl="8" algn="l">
              <a:lnSpc>
                <a:spcPct val="100000"/>
              </a:lnSpc>
              <a:spcBef>
                <a:spcPts val="0"/>
              </a:spcBef>
              <a:spcAft>
                <a:spcPts val="0"/>
              </a:spcAft>
              <a:buClr>
                <a:schemeClr val="dk2"/>
              </a:buClr>
              <a:buSzPts val="2800"/>
              <a:buNone/>
              <a:defRPr/>
            </a:lvl9pPr>
          </a:lstStyle>
          <a:p>
            <a:r>
              <a:rPr lang="en-US" dirty="0"/>
              <a:t>Thank You!</a:t>
            </a:r>
          </a:p>
        </p:txBody>
      </p:sp>
      <p:sp>
        <p:nvSpPr>
          <p:cNvPr id="5" name="TextBox 4">
            <a:extLst>
              <a:ext uri="{FF2B5EF4-FFF2-40B4-BE49-F238E27FC236}">
                <a16:creationId xmlns:a16="http://schemas.microsoft.com/office/drawing/2014/main" id="{467ADE7D-8D5D-EEFC-E576-F1D9C8587356}"/>
              </a:ext>
            </a:extLst>
          </p:cNvPr>
          <p:cNvSpPr txBox="1"/>
          <p:nvPr/>
        </p:nvSpPr>
        <p:spPr>
          <a:xfrm>
            <a:off x="3723095" y="5081007"/>
            <a:ext cx="2343150" cy="369332"/>
          </a:xfrm>
          <a:prstGeom prst="rect">
            <a:avLst/>
          </a:prstGeom>
          <a:noFill/>
        </p:spPr>
        <p:txBody>
          <a:bodyPr wrap="square" rtlCol="0">
            <a:spAutoFit/>
          </a:bodyPr>
          <a:lstStyle/>
          <a:p>
            <a:r>
              <a:rPr lang="en-US" dirty="0">
                <a:hlinkClick r:id="rId2"/>
              </a:rPr>
              <a:t>sourasb05.github.io</a:t>
            </a:r>
            <a:endParaRPr lang="en-US" dirty="0"/>
          </a:p>
        </p:txBody>
      </p:sp>
      <p:pic>
        <p:nvPicPr>
          <p:cNvPr id="7" name="Picture 4" descr="Download Website Logo Png Transparent Background Image Black - Logo ...">
            <a:hlinkClick r:id="rId2"/>
            <a:extLst>
              <a:ext uri="{FF2B5EF4-FFF2-40B4-BE49-F238E27FC236}">
                <a16:creationId xmlns:a16="http://schemas.microsoft.com/office/drawing/2014/main" id="{D450AB0B-B292-8F4E-58F5-59FBE871F5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593" y="4140234"/>
            <a:ext cx="766154" cy="76615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logotipo de linkedin png, icono de linkedin png transparente 18930587 PNG">
            <a:hlinkClick r:id="rId4"/>
            <a:extLst>
              <a:ext uri="{FF2B5EF4-FFF2-40B4-BE49-F238E27FC236}">
                <a16:creationId xmlns:a16="http://schemas.microsoft.com/office/drawing/2014/main" id="{ACC89899-B2F9-E4F1-0E26-DA0A783009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9869" y="3887072"/>
            <a:ext cx="1272477" cy="127247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409FB9A-9106-E0F5-B70A-5A85185ECB1C}"/>
              </a:ext>
            </a:extLst>
          </p:cNvPr>
          <p:cNvSpPr txBox="1"/>
          <p:nvPr/>
        </p:nvSpPr>
        <p:spPr>
          <a:xfrm>
            <a:off x="4539676" y="2852696"/>
            <a:ext cx="3112647" cy="646331"/>
          </a:xfrm>
          <a:prstGeom prst="rect">
            <a:avLst/>
          </a:prstGeom>
          <a:noFill/>
        </p:spPr>
        <p:txBody>
          <a:bodyPr wrap="none" rtlCol="0">
            <a:spAutoFit/>
          </a:bodyPr>
          <a:lstStyle/>
          <a:p>
            <a:pPr algn="ctr"/>
            <a:r>
              <a:rPr lang="en-US" dirty="0">
                <a:hlinkClick r:id="rId6"/>
              </a:rPr>
              <a:t>sourasb05@gmail.com</a:t>
            </a:r>
            <a:endParaRPr lang="en-US" dirty="0"/>
          </a:p>
          <a:p>
            <a:pPr algn="ctr"/>
            <a:r>
              <a:rPr lang="en-US" dirty="0" err="1">
                <a:hlinkClick r:id="rId7"/>
              </a:rPr>
              <a:t>sourasekhar.banerjee@it.uu.se</a:t>
            </a:r>
            <a:endParaRPr lang="en-US" dirty="0"/>
          </a:p>
        </p:txBody>
      </p:sp>
      <p:sp>
        <p:nvSpPr>
          <p:cNvPr id="13" name="TextBox 12">
            <a:extLst>
              <a:ext uri="{FF2B5EF4-FFF2-40B4-BE49-F238E27FC236}">
                <a16:creationId xmlns:a16="http://schemas.microsoft.com/office/drawing/2014/main" id="{56688820-D7CD-7BFC-AB96-EF764B0D9ACE}"/>
              </a:ext>
            </a:extLst>
          </p:cNvPr>
          <p:cNvSpPr txBox="1"/>
          <p:nvPr/>
        </p:nvSpPr>
        <p:spPr>
          <a:xfrm>
            <a:off x="6799869" y="5081007"/>
            <a:ext cx="1552284" cy="369332"/>
          </a:xfrm>
          <a:prstGeom prst="rect">
            <a:avLst/>
          </a:prstGeom>
          <a:noFill/>
        </p:spPr>
        <p:txBody>
          <a:bodyPr wrap="none" rtlCol="0">
            <a:spAutoFit/>
          </a:bodyPr>
          <a:lstStyle/>
          <a:p>
            <a:r>
              <a:rPr lang="en-US" dirty="0"/>
              <a:t>Social media</a:t>
            </a:r>
          </a:p>
        </p:txBody>
      </p:sp>
      <p:sp>
        <p:nvSpPr>
          <p:cNvPr id="2" name="Slide Number Placeholder 1">
            <a:extLst>
              <a:ext uri="{FF2B5EF4-FFF2-40B4-BE49-F238E27FC236}">
                <a16:creationId xmlns:a16="http://schemas.microsoft.com/office/drawing/2014/main" id="{702210AF-00EC-2A6C-45AA-62A9354DD3CF}"/>
              </a:ext>
            </a:extLst>
          </p:cNvPr>
          <p:cNvSpPr>
            <a:spLocks noGrp="1"/>
          </p:cNvSpPr>
          <p:nvPr>
            <p:ph type="sldNum" idx="12"/>
          </p:nvPr>
        </p:nvSpPr>
        <p:spPr/>
        <p:txBody>
          <a:bodyPr/>
          <a:lstStyle/>
          <a:p>
            <a:fld id="{00000000-1234-1234-1234-123412341234}" type="slidenum">
              <a:rPr lang="en-GB" smtClean="0"/>
              <a:pPr/>
              <a:t>37</a:t>
            </a:fld>
            <a:endParaRPr lang="en-GB"/>
          </a:p>
        </p:txBody>
      </p:sp>
    </p:spTree>
    <p:extLst>
      <p:ext uri="{BB962C8B-B14F-4D97-AF65-F5344CB8AC3E}">
        <p14:creationId xmlns:p14="http://schemas.microsoft.com/office/powerpoint/2010/main" val="15897431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wfhg6azs66yfpiyeonbdmot6b6qpt5"/>
</p:tagLst>
</file>

<file path=ppt/theme/theme1.xml><?xml version="1.0" encoding="utf-8"?>
<a:theme xmlns:a="http://schemas.openxmlformats.org/drawingml/2006/main" name="UU theme WHIT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51517022-6A04-3047-861F-6202F67E6C4C}"/>
    </a:ext>
  </a:extLst>
</a:theme>
</file>

<file path=ppt/theme/theme2.xml><?xml version="1.0" encoding="utf-8"?>
<a:theme xmlns:a="http://schemas.openxmlformats.org/drawingml/2006/main" name="UU theme LIGHT GREY">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06400D09-BFF6-9D49-A0E5-E1E12BD6C29E}"/>
    </a:ext>
  </a:extLst>
</a:theme>
</file>

<file path=ppt/theme/theme3.xml><?xml version="1.0" encoding="utf-8"?>
<a:theme xmlns:a="http://schemas.openxmlformats.org/drawingml/2006/main" name="UU theme DARK GREY (NB: for the Humanities Theatr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B4C2C5B9-C070-F341-A63E-5A627FE14C01}"/>
    </a:ext>
  </a:extLst>
</a:theme>
</file>

<file path=ppt/theme/theme4.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3.png"/></Relationships>
</file>

<file path=ppt/webextensions/webextension1.xml><?xml version="1.0" encoding="utf-8"?>
<we:webextension xmlns:we="http://schemas.microsoft.com/office/webextensions/webextension/2010/11" id="{B4BD1DE5-1F6F-9C43-9E33-C4F3B696503F}">
  <we:reference id="wa104379261" version="4.3.0.0" store="en-US" storeType="OMEX"/>
  <we:alternateReferences>
    <we:reference id="WA104379261" version="4.3.0.0" store="" storeType="OMEX"/>
  </we:alternateReferences>
  <we:properties>
    <we:property name="MENTIMETER_QUESTION_ID_KEY" value="&quot;cphyhoqwughm&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UU theme WHITE</Template>
  <TotalTime>1634</TotalTime>
  <Words>2618</Words>
  <Application>Microsoft Macintosh PowerPoint</Application>
  <PresentationFormat>Widescreen</PresentationFormat>
  <Paragraphs>392</Paragraphs>
  <Slides>37</Slides>
  <Notes>6</Notes>
  <HiddenSlides>2</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37</vt:i4>
      </vt:variant>
    </vt:vector>
  </HeadingPairs>
  <TitlesOfParts>
    <vt:vector size="48" baseType="lpstr">
      <vt:lpstr>Cambria Math</vt:lpstr>
      <vt:lpstr>Calibri</vt:lpstr>
      <vt:lpstr>Century Gothic</vt:lpstr>
      <vt:lpstr>Work Sans Medium</vt:lpstr>
      <vt:lpstr>Wingdings</vt:lpstr>
      <vt:lpstr>Work Sans</vt:lpstr>
      <vt:lpstr>Work Sans SemiBold</vt:lpstr>
      <vt:lpstr>Arial</vt:lpstr>
      <vt:lpstr>UU theme WHITE</vt:lpstr>
      <vt:lpstr>UU theme LIGHT GREY</vt:lpstr>
      <vt:lpstr>UU theme DARK GREY (NB: for the Humanities Theatre)</vt:lpstr>
      <vt:lpstr>Artificial Neural Network</vt:lpstr>
      <vt:lpstr>Learning Outcome</vt:lpstr>
      <vt:lpstr>Introduction and Motivations</vt:lpstr>
      <vt:lpstr>How ANNs Speed Up R&amp;D?</vt:lpstr>
      <vt:lpstr>What is an ANN ?</vt:lpstr>
      <vt:lpstr>PowerPoint Presentation</vt:lpstr>
      <vt:lpstr>Answer</vt:lpstr>
      <vt:lpstr>How it Works ?</vt:lpstr>
      <vt:lpstr>Forward Pass</vt:lpstr>
      <vt:lpstr>Forward Pass</vt:lpstr>
      <vt:lpstr>ANN - Architecture </vt:lpstr>
      <vt:lpstr>ANN - Architecture</vt:lpstr>
      <vt:lpstr>Forward Pass</vt:lpstr>
      <vt:lpstr>Activation functions</vt:lpstr>
      <vt:lpstr>Different types of Activation Function</vt:lpstr>
      <vt:lpstr>Comparison between Activations</vt:lpstr>
      <vt:lpstr>Vanishing Gradients</vt:lpstr>
      <vt:lpstr>Example</vt:lpstr>
      <vt:lpstr>Error Calculation </vt:lpstr>
      <vt:lpstr>Example</vt:lpstr>
      <vt:lpstr>Backpropagations</vt:lpstr>
      <vt:lpstr>Compute gradient of the output layer</vt:lpstr>
      <vt:lpstr>Compute Gradients for Weights and Bias (Output Layer)</vt:lpstr>
      <vt:lpstr>Compute gradient for second hidden layer h2_1  , h2_2 </vt:lpstr>
      <vt:lpstr>PowerPoint Presentation</vt:lpstr>
      <vt:lpstr>Compute gradient for First hidden layer h1_1  , h1_2, h1_3  </vt:lpstr>
      <vt:lpstr>Update Weights Using Gradient Descent </vt:lpstr>
      <vt:lpstr>Repeat Until Convergence</vt:lpstr>
      <vt:lpstr>Summarization of Backpropagation algorithm</vt:lpstr>
      <vt:lpstr>Complex ANN models</vt:lpstr>
      <vt:lpstr>RNN</vt:lpstr>
      <vt:lpstr>LSTM</vt:lpstr>
      <vt:lpstr>LSTM</vt:lpstr>
      <vt:lpstr>Convolutional Neural Network</vt:lpstr>
      <vt:lpstr>Convolutional Neural Netowork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Sourasekhar Banerjee</dc:creator>
  <cp:lastModifiedBy>Sourasekhar Banerjee</cp:lastModifiedBy>
  <cp:revision>4</cp:revision>
  <dcterms:created xsi:type="dcterms:W3CDTF">2025-02-23T11:39:04Z</dcterms:created>
  <dcterms:modified xsi:type="dcterms:W3CDTF">2026-02-23T13:51:34Z</dcterms:modified>
</cp:coreProperties>
</file>