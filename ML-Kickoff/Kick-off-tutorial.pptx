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50" r:id="rId1"/>
    <p:sldMasterId id="2147483666" r:id="rId2"/>
    <p:sldMasterId id="2147483678" r:id="rId3"/>
  </p:sldMasterIdLst>
  <p:notesMasterIdLst>
    <p:notesMasterId r:id="rId15"/>
  </p:notesMasterIdLst>
  <p:sldIdLst>
    <p:sldId id="262" r:id="rId4"/>
    <p:sldId id="263" r:id="rId5"/>
    <p:sldId id="264" r:id="rId6"/>
    <p:sldId id="265" r:id="rId7"/>
    <p:sldId id="266" r:id="rId8"/>
    <p:sldId id="267" r:id="rId9"/>
    <p:sldId id="268" r:id="rId10"/>
    <p:sldId id="269" r:id="rId11"/>
    <p:sldId id="270" r:id="rId12"/>
    <p:sldId id="271" r:id="rId13"/>
    <p:sldId id="272" r:id="rId14"/>
  </p:sldIdLst>
  <p:sldSz cx="12192000" cy="6858000"/>
  <p:notesSz cx="6858000" cy="9144000"/>
  <p:embeddedFontLst>
    <p:embeddedFont>
      <p:font typeface="Cambria Math" panose="02040503050406030204" pitchFamily="18" charset="0"/>
      <p:regular r:id="rId16"/>
    </p:embeddedFont>
    <p:embeddedFont>
      <p:font typeface="Work Sans" pitchFamily="2" charset="77"/>
      <p:regular r:id="rId17"/>
      <p:italic r:id="rId18"/>
    </p:embeddedFont>
    <p:embeddedFont>
      <p:font typeface="Work Sans Medium" pitchFamily="2" charset="77"/>
      <p:regular r:id="rId19"/>
      <p:italic r:id="rId20"/>
    </p:embeddedFont>
    <p:embeddedFont>
      <p:font typeface="Work Sans SemiBold" pitchFamily="2" charset="77"/>
      <p:regular r:id="rId21"/>
      <p:bold r:id="rId22"/>
      <p:italic r:id="rId23"/>
      <p:boldItalic r:id="rId2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guide id="4" pos="597" userDrawn="1">
          <p15:clr>
            <a:srgbClr val="A4A3A4"/>
          </p15:clr>
        </p15:guide>
        <p15:guide id="5" pos="3273" userDrawn="1">
          <p15:clr>
            <a:srgbClr val="A4A3A4"/>
          </p15:clr>
        </p15:guide>
        <p15:guide id="6" pos="3500" userDrawn="1">
          <p15:clr>
            <a:srgbClr val="A4A3A4"/>
          </p15:clr>
        </p15:guide>
        <p15:guide id="7" pos="6153" userDrawn="1">
          <p15:clr>
            <a:srgbClr val="A4A3A4"/>
          </p15:clr>
        </p15:guide>
        <p15:guide id="8"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80"/>
    <p:restoredTop sz="75319"/>
  </p:normalViewPr>
  <p:slideViewPr>
    <p:cSldViewPr snapToGrid="0" showGuides="1">
      <p:cViewPr varScale="1">
        <p:scale>
          <a:sx n="90" d="100"/>
          <a:sy n="90" d="100"/>
        </p:scale>
        <p:origin x="1200" y="200"/>
      </p:cViewPr>
      <p:guideLst>
        <p:guide orient="horz" pos="2160"/>
        <p:guide pos="3840"/>
        <p:guide orient="horz" pos="1344"/>
        <p:guide pos="597"/>
        <p:guide pos="3273"/>
        <p:guide pos="3500"/>
        <p:guide pos="6153"/>
        <p:guide orient="horz" pos="1026"/>
      </p:guideLst>
    </p:cSldViewPr>
  </p:slideViewPr>
  <p:outlineViewPr>
    <p:cViewPr>
      <p:scale>
        <a:sx n="33" d="100"/>
        <a:sy n="33" d="100"/>
      </p:scale>
      <p:origin x="0" y="0"/>
    </p:cViewPr>
  </p:outlineViewPr>
  <p:notesTextViewPr>
    <p:cViewPr>
      <p:scale>
        <a:sx n="1" d="1"/>
        <a:sy n="1" d="1"/>
      </p:scale>
      <p:origin x="0" y="-12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font" Target="fonts/font6.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9.fntdata"/><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67863-098D-7443-8C24-5FBC4AB783A3}" type="datetimeFigureOut">
              <a:t>1/28/26</a:t>
            </a:fld>
            <a:endParaRPr lang="en-GB"/>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GB"/>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31592-3C66-914C-8F2B-350F777116DA}" type="slidenum">
              <a:t>‹#›</a:t>
            </a:fld>
            <a:endParaRPr lang="en-GB"/>
          </a:p>
        </p:txBody>
      </p:sp>
    </p:spTree>
    <p:extLst>
      <p:ext uri="{BB962C8B-B14F-4D97-AF65-F5344CB8AC3E}">
        <p14:creationId xmlns:p14="http://schemas.microsoft.com/office/powerpoint/2010/main" val="35677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GB"/>
          </a:p>
        </p:txBody>
      </p:sp>
      <p:sp>
        <p:nvSpPr>
          <p:cNvPr id="4" name="Platshållare för bildnummer 3"/>
          <p:cNvSpPr>
            <a:spLocks noGrp="1"/>
          </p:cNvSpPr>
          <p:nvPr>
            <p:ph type="sldNum" sz="quarter" idx="5"/>
          </p:nvPr>
        </p:nvSpPr>
        <p:spPr/>
        <p:txBody>
          <a:bodyPr/>
          <a:lstStyle/>
          <a:p>
            <a:fld id="{FAD31592-3C66-914C-8F2B-350F777116DA}" type="slidenum">
              <a:t>1</a:t>
            </a:fld>
            <a:endParaRPr lang="en-GB"/>
          </a:p>
        </p:txBody>
      </p:sp>
    </p:spTree>
    <p:extLst>
      <p:ext uri="{BB962C8B-B14F-4D97-AF65-F5344CB8AC3E}">
        <p14:creationId xmlns:p14="http://schemas.microsoft.com/office/powerpoint/2010/main" val="294432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Accuracy = TP + TN / total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F1 Score is the </a:t>
                </a:r>
                <a:r>
                  <a:rPr lang="en-US" b="1" dirty="0"/>
                  <a:t>harmonic mean</a:t>
                </a:r>
                <a:r>
                  <a:rPr lang="en-US" dirty="0"/>
                  <a:t> of Precision and Recall. It provides a balance between these two metrics, making it a better measure than accuracy for uneven class distributions.</a:t>
                </a:r>
              </a:p>
              <a:p>
                <a:endParaRPr lang="en-US" dirty="0"/>
              </a:p>
              <a:p>
                <a:r>
                  <a:rPr lang="en-US" sz="1200" b="0" kern="1200" dirty="0">
                    <a:solidFill>
                      <a:schemeClr val="tx1"/>
                    </a:solidFill>
                    <a:effectLst/>
                    <a:latin typeface="+mn-lt"/>
                    <a:ea typeface="+mn-ea"/>
                    <a:cs typeface="+mn-cs"/>
                  </a:rPr>
                  <a:t>The Formula</a:t>
                </a:r>
              </a:p>
              <a:p>
                <a14:m>
                  <m:oMathPara xmlns:m="http://schemas.openxmlformats.org/officeDocument/2006/math">
                    <m:oMathParaPr>
                      <m:jc m:val="centerGroup"/>
                    </m:oMathParaPr>
                    <m:oMath xmlns:m="http://schemas.openxmlformats.org/officeDocument/2006/math">
                      <m:sSub>
                        <m:sSubPr>
                          <m:ctrlPr>
                            <a:rPr lang="en-US" sz="1200" i="1" kern="1200" dirty="0" smtClean="0">
                              <a:solidFill>
                                <a:schemeClr val="tx1"/>
                              </a:solidFill>
                              <a:effectLst/>
                              <a:latin typeface="Cambria Math" panose="02040503050406030204" pitchFamily="18" charset="0"/>
                              <a:ea typeface="+mn-ea"/>
                              <a:cs typeface="+mn-cs"/>
                            </a:rPr>
                          </m:ctrlPr>
                        </m:sSubPr>
                        <m:e>
                          <m:r>
                            <a:rPr lang="en-US" sz="1200" i="1" kern="1200" dirty="0" smtClean="0">
                              <a:solidFill>
                                <a:schemeClr val="tx1"/>
                              </a:solidFill>
                              <a:effectLst/>
                              <a:latin typeface="Cambria Math" panose="02040503050406030204" pitchFamily="18" charset="0"/>
                              <a:ea typeface="+mn-ea"/>
                              <a:cs typeface="+mn-cs"/>
                            </a:rPr>
                            <m:t>𝐹</m:t>
                          </m:r>
                        </m:e>
                        <m:sub>
                          <m:r>
                            <a:rPr lang="en-US" sz="1200" i="1" kern="1200" dirty="0" smtClean="0">
                              <a:solidFill>
                                <a:schemeClr val="tx1"/>
                              </a:solidFill>
                              <a:effectLst/>
                              <a:latin typeface="Cambria Math" panose="02040503050406030204" pitchFamily="18" charset="0"/>
                              <a:ea typeface="+mn-ea"/>
                              <a:cs typeface="+mn-cs"/>
                            </a:rPr>
                            <m:t>1</m:t>
                          </m:r>
                        </m:sub>
                      </m:sSub>
                      <m:r>
                        <a:rPr lang="en-US" sz="1200" i="1" kern="1200" dirty="0" smtClean="0">
                          <a:solidFill>
                            <a:schemeClr val="tx1"/>
                          </a:solidFill>
                          <a:effectLst/>
                          <a:latin typeface="Cambria Math" panose="02040503050406030204" pitchFamily="18" charset="0"/>
                          <a:ea typeface="+mn-ea"/>
                          <a:cs typeface="+mn-cs"/>
                        </a:rPr>
                        <m:t> = 2 × </m:t>
                      </m:r>
                      <m:d>
                        <m:dPr>
                          <m:begChr m:val="{"/>
                          <m:endChr m:val="}"/>
                          <m:ctrlPr>
                            <a:rPr lang="en-US" sz="1200" i="1" kern="1200" dirty="0" smtClean="0">
                              <a:solidFill>
                                <a:schemeClr val="tx1"/>
                              </a:solidFill>
                              <a:effectLst/>
                              <a:latin typeface="Cambria Math" panose="02040503050406030204" pitchFamily="18" charset="0"/>
                              <a:ea typeface="+mn-ea"/>
                              <a:cs typeface="+mn-cs"/>
                            </a:rPr>
                          </m:ctrlPr>
                        </m:dPr>
                        <m:e>
                          <m:r>
                            <a:rPr lang="sv-SE" sz="1200" b="0" i="1" kern="1200" dirty="0" smtClean="0">
                              <a:solidFill>
                                <a:schemeClr val="tx1"/>
                              </a:solidFill>
                              <a:effectLst/>
                              <a:latin typeface="Cambria Math" panose="02040503050406030204" pitchFamily="18" charset="0"/>
                              <a:ea typeface="+mn-ea"/>
                              <a:cs typeface="+mn-cs"/>
                            </a:rPr>
                            <m:t>𝑝𝑟𝑒𝑐𝑒𝑠𝑖𝑜𝑛</m:t>
                          </m:r>
                          <m:r>
                            <a:rPr lang="en-US" sz="1200" i="1" kern="1200" dirty="0" smtClean="0">
                              <a:solidFill>
                                <a:schemeClr val="tx1"/>
                              </a:solidFill>
                              <a:effectLst/>
                              <a:latin typeface="Cambria Math" panose="02040503050406030204" pitchFamily="18" charset="0"/>
                              <a:ea typeface="+mn-ea"/>
                              <a:cs typeface="+mn-cs"/>
                            </a:rPr>
                            <m:t> × </m:t>
                          </m:r>
                          <m:r>
                            <a:rPr lang="sv-SE" sz="1200" b="0" i="1" kern="1200" dirty="0" smtClean="0">
                              <a:solidFill>
                                <a:schemeClr val="tx1"/>
                              </a:solidFill>
                              <a:effectLst/>
                              <a:latin typeface="Cambria Math" panose="02040503050406030204" pitchFamily="18" charset="0"/>
                              <a:ea typeface="+mn-ea"/>
                              <a:cs typeface="+mn-cs"/>
                            </a:rPr>
                            <m:t>𝑟𝑒𝑐𝑎𝑙𝑙</m:t>
                          </m:r>
                        </m:e>
                      </m:d>
                      <m:r>
                        <a:rPr lang="sv-SE" sz="1200" b="0" i="1" kern="1200" dirty="0" smtClean="0">
                          <a:solidFill>
                            <a:schemeClr val="tx1"/>
                          </a:solidFill>
                          <a:effectLst/>
                          <a:latin typeface="Cambria Math" panose="02040503050406030204" pitchFamily="18" charset="0"/>
                          <a:ea typeface="+mn-ea"/>
                          <a:cs typeface="+mn-cs"/>
                        </a:rPr>
                        <m:t>/</m:t>
                      </m:r>
                      <m:r>
                        <a:rPr lang="en-US" sz="1200" i="1" kern="1200" dirty="0" smtClean="0">
                          <a:solidFill>
                            <a:schemeClr val="tx1"/>
                          </a:solidFill>
                          <a:effectLst/>
                          <a:latin typeface="Cambria Math" panose="02040503050406030204" pitchFamily="18" charset="0"/>
                          <a:ea typeface="+mn-ea"/>
                          <a:cs typeface="+mn-cs"/>
                        </a:rPr>
                        <m:t>{</m:t>
                      </m:r>
                      <m:r>
                        <a:rPr lang="sv-SE" sz="1200" b="0" i="1" kern="1200" dirty="0" smtClean="0">
                          <a:solidFill>
                            <a:schemeClr val="tx1"/>
                          </a:solidFill>
                          <a:effectLst/>
                          <a:latin typeface="Cambria Math" panose="02040503050406030204" pitchFamily="18" charset="0"/>
                          <a:ea typeface="+mn-ea"/>
                          <a:cs typeface="+mn-cs"/>
                        </a:rPr>
                        <m:t>𝑝</m:t>
                      </m:r>
                      <m:r>
                        <a:rPr lang="en-US" sz="1200" i="1" kern="1200" dirty="0" smtClean="0">
                          <a:solidFill>
                            <a:schemeClr val="tx1"/>
                          </a:solidFill>
                          <a:effectLst/>
                          <a:latin typeface="Cambria Math" panose="02040503050406030204" pitchFamily="18" charset="0"/>
                          <a:ea typeface="+mn-ea"/>
                          <a:cs typeface="+mn-cs"/>
                        </a:rPr>
                        <m:t>𝑟𝑒𝑐𝑖𝑠𝑖𝑜𝑛</m:t>
                      </m:r>
                      <m:r>
                        <a:rPr lang="en-US" sz="1200" i="1" kern="1200" dirty="0" smtClean="0">
                          <a:solidFill>
                            <a:schemeClr val="tx1"/>
                          </a:solidFill>
                          <a:effectLst/>
                          <a:latin typeface="Cambria Math" panose="02040503050406030204" pitchFamily="18" charset="0"/>
                          <a:ea typeface="+mn-ea"/>
                          <a:cs typeface="+mn-cs"/>
                        </a:rPr>
                        <m:t> + </m:t>
                      </m:r>
                      <m:r>
                        <a:rPr lang="en-US" sz="1200" i="1" kern="1200" dirty="0" smtClean="0">
                          <a:solidFill>
                            <a:schemeClr val="tx1"/>
                          </a:solidFill>
                          <a:effectLst/>
                          <a:latin typeface="Cambria Math" panose="02040503050406030204" pitchFamily="18" charset="0"/>
                          <a:ea typeface="+mn-ea"/>
                          <a:cs typeface="+mn-cs"/>
                        </a:rPr>
                        <m:t>𝑅𝑒𝑐𝑎𝑙𝑙</m:t>
                      </m:r>
                      <m:r>
                        <a:rPr lang="en-US" sz="1200" i="1" kern="1200" dirty="0" smtClean="0">
                          <a:solidFill>
                            <a:schemeClr val="tx1"/>
                          </a:solidFill>
                          <a:effectLst/>
                          <a:latin typeface="Cambria Math" panose="02040503050406030204" pitchFamily="18" charset="0"/>
                          <a:ea typeface="+mn-ea"/>
                          <a:cs typeface="+mn-cs"/>
                        </a:rPr>
                        <m:t>}</m:t>
                      </m:r>
                    </m:oMath>
                  </m:oMathPara>
                </a14:m>
              </a:p>
              <a:p>
                <a:endParaRPr lang="en-US" dirty="0"/>
              </a:p>
              <a:p>
                <a:endParaRPr lang="en-US" b="0" dirty="0"/>
              </a:p>
              <a:p>
                <a:r>
                  <a:rPr lang="en-US" b="1" dirty="0"/>
                  <a:t>R² Score</a:t>
                </a:r>
                <a:r>
                  <a:rPr lang="en-US" dirty="0"/>
                  <a:t> is used for </a:t>
                </a:r>
                <a:r>
                  <a:rPr lang="en-US" b="1" dirty="0"/>
                  <a:t>Regression</a:t>
                </a:r>
                <a:r>
                  <a:rPr lang="en-US" dirty="0"/>
                  <a:t>. It indicates how well the independent variables explain the variability of the dependent variable.</a:t>
                </a:r>
              </a:p>
              <a:p>
                <a:endParaRPr lang="en-US" dirty="0"/>
              </a:p>
              <a:p>
                <a:r>
                  <a:rPr lang="en-US" dirty="0"/>
                  <a:t>The Formula.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𝑅</m:t>
                        </m:r>
                      </m:e>
                      <m:sup>
                        <m:r>
                          <a:rPr lang="sv-SE" b="0" i="1" smtClean="0">
                            <a:latin typeface="Cambria Math" panose="02040503050406030204" pitchFamily="18" charset="0"/>
                          </a:rPr>
                          <m:t>2</m:t>
                        </m:r>
                      </m:sup>
                    </m:sSup>
                    <m:r>
                      <a:rPr lang="sv-SE" b="0" i="1" smtClean="0">
                        <a:latin typeface="Cambria Math" panose="02040503050406030204" pitchFamily="18" charset="0"/>
                      </a:rPr>
                      <m:t>=1 −</m:t>
                    </m:r>
                    <m:f>
                      <m:fPr>
                        <m:ctrlPr>
                          <a:rPr lang="sv-SE" b="0" i="1" smtClean="0">
                            <a:latin typeface="Cambria Math" panose="02040503050406030204" pitchFamily="18" charset="0"/>
                          </a:rPr>
                        </m:ctrlPr>
                      </m:fPr>
                      <m:num>
                        <m:r>
                          <a:rPr lang="sv-SE" b="0" i="1" smtClean="0">
                            <a:latin typeface="Cambria Math" panose="02040503050406030204" pitchFamily="18" charset="0"/>
                          </a:rPr>
                          <m:t>𝑟𝑒𝑠𝑖𝑑𝑢𝑎𝑙</m:t>
                        </m:r>
                        <m:r>
                          <a:rPr lang="sv-SE" b="0" i="1" smtClean="0">
                            <a:latin typeface="Cambria Math" panose="02040503050406030204" pitchFamily="18" charset="0"/>
                          </a:rPr>
                          <m:t> </m:t>
                        </m:r>
                        <m:r>
                          <a:rPr lang="sv-SE" b="0" i="1" smtClean="0">
                            <a:latin typeface="Cambria Math" panose="02040503050406030204" pitchFamily="18" charset="0"/>
                          </a:rPr>
                          <m:t>𝑠𝑢𝑚</m:t>
                        </m:r>
                        <m:r>
                          <a:rPr lang="sv-SE" b="0" i="1" smtClean="0">
                            <a:latin typeface="Cambria Math" panose="02040503050406030204" pitchFamily="18" charset="0"/>
                          </a:rPr>
                          <m:t> </m:t>
                        </m:r>
                        <m:r>
                          <a:rPr lang="sv-SE" b="0" i="1" smtClean="0">
                            <a:latin typeface="Cambria Math" panose="02040503050406030204" pitchFamily="18" charset="0"/>
                          </a:rPr>
                          <m:t>𝑜𝑓</m:t>
                        </m:r>
                        <m:r>
                          <a:rPr lang="sv-SE" b="0" i="1" smtClean="0">
                            <a:latin typeface="Cambria Math" panose="02040503050406030204" pitchFamily="18" charset="0"/>
                          </a:rPr>
                          <m:t> </m:t>
                        </m:r>
                        <m:r>
                          <a:rPr lang="sv-SE" b="0" i="1" smtClean="0">
                            <a:latin typeface="Cambria Math" panose="02040503050406030204" pitchFamily="18" charset="0"/>
                          </a:rPr>
                          <m:t>𝑠𝑞𝑢𝑎𝑟𝑒</m:t>
                        </m:r>
                      </m:num>
                      <m:den>
                        <m:r>
                          <a:rPr lang="sv-SE" b="0" i="1" smtClean="0">
                            <a:latin typeface="Cambria Math" panose="02040503050406030204" pitchFamily="18" charset="0"/>
                          </a:rPr>
                          <m:t>𝑡𝑜𝑡𝑎𝑙</m:t>
                        </m:r>
                        <m:r>
                          <a:rPr lang="sv-SE" b="0" i="1" smtClean="0">
                            <a:latin typeface="Cambria Math" panose="02040503050406030204" pitchFamily="18" charset="0"/>
                          </a:rPr>
                          <m:t> </m:t>
                        </m:r>
                        <m:r>
                          <a:rPr lang="sv-SE" b="0" i="1" smtClean="0">
                            <a:latin typeface="Cambria Math" panose="02040503050406030204" pitchFamily="18" charset="0"/>
                          </a:rPr>
                          <m:t>𝑠𝑢𝑚</m:t>
                        </m:r>
                        <m:r>
                          <a:rPr lang="sv-SE" b="0" i="1" smtClean="0">
                            <a:latin typeface="Cambria Math" panose="02040503050406030204" pitchFamily="18" charset="0"/>
                          </a:rPr>
                          <m:t> </m:t>
                        </m:r>
                        <m:r>
                          <a:rPr lang="sv-SE" b="0" i="1" smtClean="0">
                            <a:latin typeface="Cambria Math" panose="02040503050406030204" pitchFamily="18" charset="0"/>
                          </a:rPr>
                          <m:t>𝑜𝑓</m:t>
                        </m:r>
                        <m:r>
                          <a:rPr lang="sv-SE" b="0" i="1" smtClean="0">
                            <a:latin typeface="Cambria Math" panose="02040503050406030204" pitchFamily="18" charset="0"/>
                          </a:rPr>
                          <m:t> </m:t>
                        </m:r>
                        <m:r>
                          <a:rPr lang="sv-SE" b="0" i="1" smtClean="0">
                            <a:latin typeface="Cambria Math" panose="02040503050406030204" pitchFamily="18" charset="0"/>
                          </a:rPr>
                          <m:t>𝑠𝑞𝑢𝑎𝑟𝑒</m:t>
                        </m:r>
                      </m:den>
                    </m:f>
                  </m:oMath>
                </a14:m>
                <a:endParaRPr lang="en-US" dirty="0"/>
              </a:p>
            </p:txBody>
          </p:sp>
        </mc:Choice>
        <mc:Fallback>
          <p:sp>
            <p:nvSpPr>
              <p:cNvPr id="3" name="Notes Placeholder 2"/>
              <p:cNvSpPr>
                <a:spLocks noGrp="1"/>
              </p:cNvSpPr>
              <p:nvPr>
                <p:ph type="body" idx="1"/>
              </p:nvPr>
            </p:nvSpPr>
            <p:spPr/>
            <p:txBody>
              <a:bodyPr/>
              <a:lstStyle/>
              <a:p>
                <a:r>
                  <a:rPr lang="en-US" dirty="0"/>
                  <a:t>Accuracy = TP + TN / total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F1 Score is the </a:t>
                </a:r>
                <a:r>
                  <a:rPr lang="en-US" b="1" dirty="0"/>
                  <a:t>harmonic mean</a:t>
                </a:r>
                <a:r>
                  <a:rPr lang="en-US" dirty="0"/>
                  <a:t> of Precision and Recall. It provides a balance between these two metrics, making it a better measure than accuracy for uneven class distributions.</a:t>
                </a:r>
              </a:p>
              <a:p>
                <a:endParaRPr lang="en-US" dirty="0"/>
              </a:p>
              <a:p>
                <a:r>
                  <a:rPr lang="en-US" sz="1200" b="0" kern="1200" dirty="0">
                    <a:solidFill>
                      <a:schemeClr val="tx1"/>
                    </a:solidFill>
                    <a:effectLst/>
                    <a:latin typeface="+mn-lt"/>
                    <a:ea typeface="+mn-ea"/>
                    <a:cs typeface="+mn-cs"/>
                  </a:rPr>
                  <a:t>The Formula</a:t>
                </a:r>
              </a:p>
              <a:p>
                <a:r>
                  <a:rPr lang="en-US" sz="1200" i="0" kern="1200" dirty="0">
                    <a:solidFill>
                      <a:schemeClr val="tx1"/>
                    </a:solidFill>
                    <a:effectLst/>
                    <a:latin typeface="Cambria Math" panose="02040503050406030204" pitchFamily="18" charset="0"/>
                    <a:ea typeface="+mn-ea"/>
                    <a:cs typeface="+mn-cs"/>
                  </a:rPr>
                  <a:t>𝐹_1  = 2 × {</a:t>
                </a:r>
                <a:r>
                  <a:rPr lang="sv-SE" sz="1200" b="0" i="0" kern="1200" dirty="0">
                    <a:solidFill>
                      <a:schemeClr val="tx1"/>
                    </a:solidFill>
                    <a:effectLst/>
                    <a:latin typeface="Cambria Math" panose="02040503050406030204" pitchFamily="18" charset="0"/>
                    <a:ea typeface="+mn-ea"/>
                    <a:cs typeface="+mn-cs"/>
                  </a:rPr>
                  <a:t>𝑝𝑟𝑒𝑐𝑒𝑠𝑖𝑜𝑛</a:t>
                </a:r>
                <a:r>
                  <a:rPr lang="en-US" sz="1200" i="0" kern="1200" dirty="0">
                    <a:solidFill>
                      <a:schemeClr val="tx1"/>
                    </a:solidFill>
                    <a:effectLst/>
                    <a:latin typeface="Cambria Math" panose="02040503050406030204" pitchFamily="18" charset="0"/>
                    <a:ea typeface="+mn-ea"/>
                    <a:cs typeface="+mn-cs"/>
                  </a:rPr>
                  <a:t> × </a:t>
                </a:r>
                <a:r>
                  <a:rPr lang="sv-SE" sz="1200" b="0" i="0" kern="1200" dirty="0">
                    <a:solidFill>
                      <a:schemeClr val="tx1"/>
                    </a:solidFill>
                    <a:effectLst/>
                    <a:latin typeface="Cambria Math" panose="02040503050406030204" pitchFamily="18" charset="0"/>
                    <a:ea typeface="+mn-ea"/>
                    <a:cs typeface="+mn-cs"/>
                  </a:rPr>
                  <a:t>𝑟𝑒𝑐𝑎𝑙𝑙</a:t>
                </a:r>
                <a:r>
                  <a:rPr lang="en-US" sz="1200" b="0" i="0" kern="1200" dirty="0">
                    <a:solidFill>
                      <a:schemeClr val="tx1"/>
                    </a:solidFill>
                    <a:effectLst/>
                    <a:latin typeface="Cambria Math" panose="02040503050406030204" pitchFamily="18" charset="0"/>
                    <a:ea typeface="+mn-ea"/>
                    <a:cs typeface="+mn-cs"/>
                  </a:rPr>
                  <a:t>}</a:t>
                </a:r>
                <a:r>
                  <a:rPr lang="sv-SE" sz="1200" b="0" i="0" kern="1200" dirty="0">
                    <a:solidFill>
                      <a:schemeClr val="tx1"/>
                    </a:solidFill>
                    <a:effectLst/>
                    <a:latin typeface="Cambria Math" panose="02040503050406030204" pitchFamily="18" charset="0"/>
                    <a:ea typeface="+mn-ea"/>
                    <a:cs typeface="+mn-cs"/>
                  </a:rPr>
                  <a:t>/</a:t>
                </a:r>
                <a:r>
                  <a:rPr lang="en-US" sz="1200" i="0" kern="1200" dirty="0">
                    <a:solidFill>
                      <a:schemeClr val="tx1"/>
                    </a:solidFill>
                    <a:effectLst/>
                    <a:latin typeface="Cambria Math" panose="02040503050406030204" pitchFamily="18" charset="0"/>
                    <a:ea typeface="+mn-ea"/>
                    <a:cs typeface="+mn-cs"/>
                  </a:rPr>
                  <a:t>{</a:t>
                </a:r>
                <a:r>
                  <a:rPr lang="sv-SE" sz="1200" b="0" i="0" kern="1200" dirty="0">
                    <a:solidFill>
                      <a:schemeClr val="tx1"/>
                    </a:solidFill>
                    <a:effectLst/>
                    <a:latin typeface="Cambria Math" panose="02040503050406030204" pitchFamily="18" charset="0"/>
                    <a:ea typeface="+mn-ea"/>
                    <a:cs typeface="+mn-cs"/>
                  </a:rPr>
                  <a:t>𝑝</a:t>
                </a:r>
                <a:r>
                  <a:rPr lang="en-US" sz="1200" i="0" kern="1200" dirty="0">
                    <a:solidFill>
                      <a:schemeClr val="tx1"/>
                    </a:solidFill>
                    <a:effectLst/>
                    <a:latin typeface="Cambria Math" panose="02040503050406030204" pitchFamily="18" charset="0"/>
                    <a:ea typeface="+mn-ea"/>
                    <a:cs typeface="+mn-cs"/>
                  </a:rPr>
                  <a:t>𝑟𝑒𝑐𝑖𝑠𝑖𝑜𝑛 + 𝑅𝑒𝑐</a:t>
                </a:r>
                <a:r>
                  <a:rPr lang="sv-SE" sz="1200" b="0" i="0" kern="1200" dirty="0">
                    <a:solidFill>
                      <a:schemeClr val="tx1"/>
                    </a:solidFill>
                    <a:effectLst/>
                    <a:latin typeface="Cambria Math" panose="02040503050406030204" pitchFamily="18" charset="0"/>
                    <a:ea typeface="+mn-ea"/>
                    <a:cs typeface="+mn-cs"/>
                  </a:rPr>
                  <a:t>𝑎𝑙𝑙</a:t>
                </a:r>
                <a:r>
                  <a:rPr lang="en-US" sz="1200" i="0" kern="1200" dirty="0">
                    <a:solidFill>
                      <a:schemeClr val="tx1"/>
                    </a:solidFill>
                    <a:effectLst/>
                    <a:latin typeface="Cambria Math" panose="02040503050406030204" pitchFamily="18" charset="0"/>
                    <a:ea typeface="+mn-ea"/>
                    <a:cs typeface="+mn-cs"/>
                  </a:rPr>
                  <a:t>}</a:t>
                </a:r>
              </a:p>
              <a:p>
                <a:endParaRPr lang="en-US" dirty="0"/>
              </a:p>
              <a:p>
                <a:endParaRPr lang="en-US" b="0" dirty="0"/>
              </a:p>
              <a:p>
                <a:r>
                  <a:rPr lang="en-US" b="1" dirty="0"/>
                  <a:t>R² Score</a:t>
                </a:r>
                <a:r>
                  <a:rPr lang="en-US" dirty="0"/>
                  <a:t> is used for </a:t>
                </a:r>
                <a:r>
                  <a:rPr lang="en-US" b="1" dirty="0"/>
                  <a:t>Regression</a:t>
                </a:r>
                <a:r>
                  <a:rPr lang="en-US" dirty="0"/>
                  <a:t>. It indicates how well the independent variables explain the variability of the dependent variable.</a:t>
                </a:r>
              </a:p>
              <a:p>
                <a:endParaRPr lang="en-US" dirty="0"/>
              </a:p>
              <a:p>
                <a:r>
                  <a:rPr lang="en-US" dirty="0"/>
                  <a:t>The Formula. </a:t>
                </a:r>
                <a:r>
                  <a:rPr lang="sv-SE" b="0" i="0">
                    <a:latin typeface="Cambria Math" panose="02040503050406030204" pitchFamily="18" charset="0"/>
                  </a:rPr>
                  <a:t>𝑅^2=1 −(𝑟𝑒𝑠𝑖𝑑𝑢𝑎𝑙 𝑠𝑢𝑚 𝑜𝑓 𝑠𝑞𝑢𝑎𝑟𝑒)/(𝑡𝑜𝑡𝑎𝑙 𝑠𝑢𝑚 𝑜𝑓 𝑠𝑞𝑢𝑎𝑟𝑒)</a:t>
                </a:r>
                <a:endParaRPr lang="en-US" dirty="0"/>
              </a:p>
            </p:txBody>
          </p:sp>
        </mc:Fallback>
      </mc:AlternateContent>
      <p:sp>
        <p:nvSpPr>
          <p:cNvPr id="4" name="Slide Number Placeholder 3"/>
          <p:cNvSpPr>
            <a:spLocks noGrp="1"/>
          </p:cNvSpPr>
          <p:nvPr>
            <p:ph type="sldNum" sz="quarter" idx="5"/>
          </p:nvPr>
        </p:nvSpPr>
        <p:spPr/>
        <p:txBody>
          <a:bodyPr/>
          <a:lstStyle/>
          <a:p>
            <a:fld id="{FAD31592-3C66-914C-8F2B-350F777116DA}" type="slidenum">
              <a:rPr lang="en-US" smtClean="0"/>
              <a:t>8</a:t>
            </a:fld>
            <a:endParaRPr lang="en-US"/>
          </a:p>
        </p:txBody>
      </p:sp>
    </p:spTree>
    <p:extLst>
      <p:ext uri="{BB962C8B-B14F-4D97-AF65-F5344CB8AC3E}">
        <p14:creationId xmlns:p14="http://schemas.microsoft.com/office/powerpoint/2010/main" val="3512937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en-US" sz="2400" dirty="0"/>
              <a:t>Must-Know Libraries</a:t>
            </a:r>
          </a:p>
          <a:p>
            <a:pPr marL="0" indent="0">
              <a:lnSpc>
                <a:spcPct val="100000"/>
              </a:lnSpc>
              <a:buFont typeface="Arial" panose="020B0604020202020204" pitchFamily="34" charset="0"/>
              <a:buNone/>
            </a:pPr>
            <a:endParaRPr lang="en-US" sz="2400" dirty="0"/>
          </a:p>
          <a:p>
            <a:pPr lvl="1">
              <a:lnSpc>
                <a:spcPct val="100000"/>
              </a:lnSpc>
            </a:pPr>
            <a:r>
              <a:rPr lang="en-US" sz="2400" dirty="0" err="1"/>
              <a:t>Numpy</a:t>
            </a:r>
            <a:r>
              <a:rPr lang="en-US" sz="2400" dirty="0"/>
              <a:t>: Arrays and Numerical operations</a:t>
            </a:r>
          </a:p>
          <a:p>
            <a:pPr lvl="1">
              <a:lnSpc>
                <a:spcPct val="100000"/>
              </a:lnSpc>
            </a:pPr>
            <a:r>
              <a:rPr lang="en-US" sz="2400" dirty="0"/>
              <a:t>Pandas: Data manipulation and analysis</a:t>
            </a:r>
          </a:p>
          <a:p>
            <a:pPr lvl="1">
              <a:lnSpc>
                <a:spcPct val="100000"/>
              </a:lnSpc>
            </a:pPr>
            <a:r>
              <a:rPr lang="en-US" sz="2400" dirty="0"/>
              <a:t>Matplotlib/Seaborn: Data visualization</a:t>
            </a:r>
          </a:p>
          <a:p>
            <a:pPr lvl="1">
              <a:lnSpc>
                <a:spcPct val="100000"/>
              </a:lnSpc>
            </a:pPr>
            <a:r>
              <a:rPr lang="en-US" sz="2400" dirty="0"/>
              <a:t>Scikit-learn: Preprocessing, algorithm, and evaluation</a:t>
            </a:r>
          </a:p>
          <a:p>
            <a:pPr lvl="1">
              <a:lnSpc>
                <a:spcPct val="100000"/>
              </a:lnSpc>
            </a:pPr>
            <a:r>
              <a:rPr lang="en-US" sz="2400" dirty="0" err="1"/>
              <a:t>Pytorch</a:t>
            </a:r>
            <a:r>
              <a:rPr lang="en-US" sz="2400" dirty="0"/>
              <a:t>: Deep learning</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9</a:t>
            </a:fld>
            <a:endParaRPr lang="en-US"/>
          </a:p>
        </p:txBody>
      </p:sp>
    </p:spTree>
    <p:extLst>
      <p:ext uri="{BB962C8B-B14F-4D97-AF65-F5344CB8AC3E}">
        <p14:creationId xmlns:p14="http://schemas.microsoft.com/office/powerpoint/2010/main" val="15761120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23459167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63441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12190791"/>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759083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913489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US" noProof="0"/>
              <a:t>Click to edit Master text styles</a:t>
            </a:r>
          </a:p>
        </p:txBody>
      </p:sp>
    </p:spTree>
    <p:extLst>
      <p:ext uri="{BB962C8B-B14F-4D97-AF65-F5344CB8AC3E}">
        <p14:creationId xmlns:p14="http://schemas.microsoft.com/office/powerpoint/2010/main" val="2663736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US" noProof="0"/>
              <a:t>Click icon to add picture</a:t>
            </a:r>
            <a:endParaRPr lang="en-GB" noProof="0"/>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727522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2131801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98802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US" noProof="0"/>
              <a:t>Click icon to add picture</a:t>
            </a:r>
            <a:endParaRPr lang="en-GB" noProof="0"/>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292568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215728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paring your presentation">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73512C92-439E-A01A-D5DD-EECE63EE9B11}"/>
              </a:ext>
            </a:extLst>
          </p:cNvPr>
          <p:cNvSpPr txBox="1"/>
          <p:nvPr userDrawn="1"/>
        </p:nvSpPr>
        <p:spPr>
          <a:xfrm>
            <a:off x="947738" y="2544623"/>
            <a:ext cx="4559299"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The presentation is a visual aid and will be better if the written information is brief and punchy</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Use the presentation to illustrate your message – use figures, quotes, etc.</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Cues and bullet points are often useful</a:t>
            </a:r>
          </a:p>
        </p:txBody>
      </p:sp>
      <p:sp>
        <p:nvSpPr>
          <p:cNvPr id="7" name="textruta 6">
            <a:extLst>
              <a:ext uri="{FF2B5EF4-FFF2-40B4-BE49-F238E27FC236}">
                <a16:creationId xmlns:a16="http://schemas.microsoft.com/office/drawing/2014/main" id="{A3F9ED89-B1B8-9C3C-C691-E42F30F9DFE9}"/>
              </a:ext>
            </a:extLst>
          </p:cNvPr>
          <p:cNvSpPr txBox="1"/>
          <p:nvPr userDrawn="1"/>
        </p:nvSpPr>
        <p:spPr>
          <a:xfrm>
            <a:off x="6084515" y="2544623"/>
            <a:ext cx="4637273"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Choose images/photos carefully – the right picture reinforces the message, the wrong one spoils it</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If you can’t make a coherent slide, skip it – explain in your own words instead </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Keep the presentation short. Talk instead</a:t>
            </a:r>
          </a:p>
        </p:txBody>
      </p:sp>
      <p:sp>
        <p:nvSpPr>
          <p:cNvPr id="8" name="textruta 7">
            <a:extLst>
              <a:ext uri="{FF2B5EF4-FFF2-40B4-BE49-F238E27FC236}">
                <a16:creationId xmlns:a16="http://schemas.microsoft.com/office/drawing/2014/main" id="{FFB6DB86-71A6-8FB0-0835-66FC238AC4B9}"/>
              </a:ext>
            </a:extLst>
          </p:cNvPr>
          <p:cNvSpPr txBox="1"/>
          <p:nvPr userDrawn="1"/>
        </p:nvSpPr>
        <p:spPr>
          <a:xfrm>
            <a:off x="947738" y="1890199"/>
            <a:ext cx="4559299" cy="361637"/>
          </a:xfrm>
          <a:prstGeom prst="rect">
            <a:avLst/>
          </a:prstGeom>
          <a:noFill/>
        </p:spPr>
        <p:txBody>
          <a:bodyPr wrap="square" rtlCol="0">
            <a:spAutoFit/>
          </a:bodyPr>
          <a:lstStyle/>
          <a:p>
            <a:pPr lvl="0">
              <a:lnSpc>
                <a:spcPts val="2120"/>
              </a:lnSpc>
              <a:spcBef>
                <a:spcPts val="300"/>
              </a:spcBef>
            </a:pPr>
            <a:r>
              <a:rPr lang="en-GB" kern="100" noProof="0">
                <a:effectLst/>
                <a:latin typeface="Work Sans" pitchFamily="2" charset="77"/>
                <a:ea typeface="Calibri" panose="020F0502020204030204" pitchFamily="34" charset="0"/>
                <a:cs typeface="Times New Roman" panose="02020603050405020304" pitchFamily="18" charset="0"/>
              </a:rPr>
              <a:t>Bear in mind:</a:t>
            </a:r>
          </a:p>
        </p:txBody>
      </p:sp>
      <p:sp>
        <p:nvSpPr>
          <p:cNvPr id="9" name="textruta 8">
            <a:extLst>
              <a:ext uri="{FF2B5EF4-FFF2-40B4-BE49-F238E27FC236}">
                <a16:creationId xmlns:a16="http://schemas.microsoft.com/office/drawing/2014/main" id="{A24D50C7-2824-5A60-8126-6E551E176684}"/>
              </a:ext>
            </a:extLst>
          </p:cNvPr>
          <p:cNvSpPr txBox="1"/>
          <p:nvPr userDrawn="1"/>
        </p:nvSpPr>
        <p:spPr>
          <a:xfrm>
            <a:off x="947738" y="899447"/>
            <a:ext cx="7774921" cy="579646"/>
          </a:xfrm>
          <a:prstGeom prst="rect">
            <a:avLst/>
          </a:prstGeom>
          <a:noFill/>
        </p:spPr>
        <p:txBody>
          <a:bodyPr wrap="square" rtlCol="0">
            <a:spAutoFit/>
          </a:bodyPr>
          <a:lstStyle/>
          <a:p>
            <a:pPr lvl="0">
              <a:lnSpc>
                <a:spcPts val="3840"/>
              </a:lnSpc>
            </a:pPr>
            <a:r>
              <a:rPr lang="en-GB" sz="3200" kern="100" noProof="0">
                <a:effectLst/>
                <a:latin typeface="Work Sans" pitchFamily="2" charset="77"/>
                <a:ea typeface="Calibri" panose="020F0502020204030204" pitchFamily="34" charset="0"/>
                <a:cs typeface="Times New Roman" panose="02020603050405020304" pitchFamily="18" charset="0"/>
              </a:rPr>
              <a:t>Preparing your presentation</a:t>
            </a:r>
          </a:p>
        </p:txBody>
      </p:sp>
    </p:spTree>
    <p:extLst>
      <p:ext uri="{BB962C8B-B14F-4D97-AF65-F5344CB8AC3E}">
        <p14:creationId xmlns:p14="http://schemas.microsoft.com/office/powerpoint/2010/main" val="134574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8EB50238-E622-CC4D-E865-CA7D7EF35C9E}"/>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46DB352F-69A9-1E92-AAD7-901A1A1F9054}"/>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2013/2016.</a:t>
            </a:r>
          </a:p>
        </p:txBody>
      </p:sp>
      <p:sp>
        <p:nvSpPr>
          <p:cNvPr id="8" name="textruta 7">
            <a:extLst>
              <a:ext uri="{FF2B5EF4-FFF2-40B4-BE49-F238E27FC236}">
                <a16:creationId xmlns:a16="http://schemas.microsoft.com/office/drawing/2014/main" id="{DA13882F-AF79-0DD9-0229-90F3341A13E5}"/>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4DBAB48A-0207-EBBB-5144-24A47388C7DA}"/>
              </a:ext>
            </a:extLst>
          </p:cNvPr>
          <p:cNvSpPr txBox="1"/>
          <p:nvPr userDrawn="1"/>
        </p:nvSpPr>
        <p:spPr>
          <a:xfrm>
            <a:off x="5549719" y="2600794"/>
            <a:ext cx="4234721" cy="3554819"/>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an object in the file.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Choosing the "Format" tab that appears on the right side of the ribbon.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"Selection Pane" in the "Arrange" group.</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one or more objects in the list.</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selection upward or downward, or clicking the "Up" button.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32D64C20-E0EC-50ED-8276-1342580DEAE9}"/>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E6A6CDBB-9355-D585-CAEB-E68FDC04C402}"/>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350348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0A51E754-9C7A-11C0-D983-A8276233FD20}"/>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9AB3E6E3-4894-429E-071D-F50345A149E8}"/>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365 or Office 2019.</a:t>
            </a:r>
          </a:p>
        </p:txBody>
      </p:sp>
      <p:sp>
        <p:nvSpPr>
          <p:cNvPr id="8" name="textruta 7">
            <a:extLst>
              <a:ext uri="{FF2B5EF4-FFF2-40B4-BE49-F238E27FC236}">
                <a16:creationId xmlns:a16="http://schemas.microsoft.com/office/drawing/2014/main" id="{37E57577-6FE9-C8F8-56EA-64EB95087ADD}"/>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784D433E-62E1-750A-6876-97EF3EB623C3}"/>
              </a:ext>
            </a:extLst>
          </p:cNvPr>
          <p:cNvSpPr txBox="1"/>
          <p:nvPr userDrawn="1"/>
        </p:nvSpPr>
        <p:spPr>
          <a:xfrm>
            <a:off x="5549719" y="2600794"/>
            <a:ext cx="4234721" cy="2708434"/>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On the </a:t>
            </a:r>
            <a:r>
              <a:rPr lang="en-GB" sz="1000" i="1" noProof="0">
                <a:latin typeface="Work Sans" pitchFamily="2" charset="77"/>
              </a:rPr>
              <a:t>Home</a:t>
            </a:r>
            <a:r>
              <a:rPr lang="en-GB" sz="1000" noProof="0">
                <a:latin typeface="Work Sans" pitchFamily="2" charset="77"/>
              </a:rPr>
              <a:t> tab, select </a:t>
            </a:r>
            <a:r>
              <a:rPr lang="en-GB" sz="1000" i="1" noProof="0">
                <a:latin typeface="Work Sans" pitchFamily="2" charset="77"/>
              </a:rPr>
              <a:t>Arrange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From the </a:t>
            </a:r>
            <a:r>
              <a:rPr lang="en-GB" sz="1000" i="1" noProof="0">
                <a:latin typeface="Work Sans" pitchFamily="2" charset="77"/>
              </a:rPr>
              <a:t>Arrange </a:t>
            </a:r>
            <a:r>
              <a:rPr lang="en-GB" sz="1000" noProof="0">
                <a:latin typeface="Work Sans" pitchFamily="2" charset="77"/>
              </a:rPr>
              <a:t>menu, choose "Selection Pane.“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A tab will open on the right side of the window. Drag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428F5CB4-3C8B-C8B1-437D-FEBDF5863F8A}"/>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DD22A84C-EFA4-C49C-D348-83942967797F}"/>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152822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EDEDED"/>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12215714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3914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664417730"/>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07983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86826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2593814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988817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294288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432607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10526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4495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BFBFBF"/>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91058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6845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658302844"/>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672001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45554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1848961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2040206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1318472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962458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28/01/2026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9849280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5188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28/01/2026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3426821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5" r:id="rId12"/>
    <p:sldLayoutId id="2147483663" r:id="rId13"/>
    <p:sldLayoutId id="2147483664" r:id="rId14"/>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EDED"/>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28/01/2026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319938482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FBFBF"/>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28/01/2026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680173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ourasb05/Information-Technology-and-Energy-Storage/blob/main/VS_Code_Setup_Jupyter_ML.docx" TargetMode="External"/><Relationship Id="rId2" Type="http://schemas.openxmlformats.org/officeDocument/2006/relationships/hyperlink" Target="https://github.com/sourasb05/Information-Technology-and-Energy-Storage/blob/main/Install_Jupyter_Notebook_Guide.doc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05358F1-922A-C7F3-A6E9-0F6221082D49}"/>
              </a:ext>
            </a:extLst>
          </p:cNvPr>
          <p:cNvSpPr>
            <a:spLocks noGrp="1"/>
          </p:cNvSpPr>
          <p:nvPr>
            <p:ph type="ctrTitle"/>
          </p:nvPr>
        </p:nvSpPr>
        <p:spPr/>
        <p:txBody>
          <a:bodyPr/>
          <a:lstStyle/>
          <a:p>
            <a:r>
              <a:rPr lang="en-GB" dirty="0"/>
              <a:t>Tutorial: </a:t>
            </a:r>
            <a:r>
              <a:rPr lang="en-US" dirty="0"/>
              <a:t>Must-Know Basics for Machine Learning</a:t>
            </a:r>
            <a:endParaRPr lang="en-GB" dirty="0"/>
          </a:p>
        </p:txBody>
      </p:sp>
      <p:sp>
        <p:nvSpPr>
          <p:cNvPr id="3" name="Underrubrik 2">
            <a:extLst>
              <a:ext uri="{FF2B5EF4-FFF2-40B4-BE49-F238E27FC236}">
                <a16:creationId xmlns:a16="http://schemas.microsoft.com/office/drawing/2014/main" id="{10AEE97D-FBCF-C7E2-AC97-1B5EB152B3E6}"/>
              </a:ext>
            </a:extLst>
          </p:cNvPr>
          <p:cNvSpPr>
            <a:spLocks noGrp="1"/>
          </p:cNvSpPr>
          <p:nvPr>
            <p:ph type="subTitle" idx="1"/>
          </p:nvPr>
        </p:nvSpPr>
        <p:spPr/>
        <p:txBody>
          <a:bodyPr/>
          <a:lstStyle/>
          <a:p>
            <a:r>
              <a:rPr lang="en-GB" dirty="0" err="1"/>
              <a:t>Dr.</a:t>
            </a:r>
            <a:r>
              <a:rPr lang="en-GB" dirty="0"/>
              <a:t> Sourasekhar Banerjee (Ph.D.)</a:t>
            </a:r>
          </a:p>
        </p:txBody>
      </p:sp>
    </p:spTree>
    <p:extLst>
      <p:ext uri="{BB962C8B-B14F-4D97-AF65-F5344CB8AC3E}">
        <p14:creationId xmlns:p14="http://schemas.microsoft.com/office/powerpoint/2010/main" val="3407965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38F2919-2991-D02F-FB06-1F4EAB2A55E0}"/>
              </a:ext>
            </a:extLst>
          </p:cNvPr>
          <p:cNvSpPr>
            <a:spLocks noGrp="1"/>
          </p:cNvSpPr>
          <p:nvPr>
            <p:ph type="title"/>
          </p:nvPr>
        </p:nvSpPr>
        <p:spPr/>
        <p:txBody>
          <a:bodyPr/>
          <a:lstStyle/>
          <a:p>
            <a:r>
              <a:rPr lang="en-GB" dirty="0"/>
              <a:t>Objective and Learning Outcome</a:t>
            </a:r>
          </a:p>
        </p:txBody>
      </p:sp>
      <p:sp>
        <p:nvSpPr>
          <p:cNvPr id="3" name="Platshållare för innehåll 2">
            <a:extLst>
              <a:ext uri="{FF2B5EF4-FFF2-40B4-BE49-F238E27FC236}">
                <a16:creationId xmlns:a16="http://schemas.microsoft.com/office/drawing/2014/main" id="{66B1E56E-D645-D1CC-B120-5A691FEC5592}"/>
              </a:ext>
            </a:extLst>
          </p:cNvPr>
          <p:cNvSpPr>
            <a:spLocks noGrp="1"/>
          </p:cNvSpPr>
          <p:nvPr>
            <p:ph sz="quarter" idx="13"/>
          </p:nvPr>
        </p:nvSpPr>
        <p:spPr>
          <a:xfrm>
            <a:off x="947738" y="1776413"/>
            <a:ext cx="9472971" cy="4244974"/>
          </a:xfrm>
        </p:spPr>
        <p:txBody>
          <a:bodyPr/>
          <a:lstStyle/>
          <a:p>
            <a:pPr>
              <a:lnSpc>
                <a:spcPct val="100000"/>
              </a:lnSpc>
            </a:pPr>
            <a:r>
              <a:rPr lang="en-GB" sz="2400" b="1" dirty="0"/>
              <a:t>Objective</a:t>
            </a:r>
          </a:p>
          <a:p>
            <a:pPr lvl="1">
              <a:lnSpc>
                <a:spcPct val="100000"/>
              </a:lnSpc>
            </a:pPr>
            <a:r>
              <a:rPr lang="en-GB" sz="2400" dirty="0"/>
              <a:t>Installation of the Python and </a:t>
            </a:r>
            <a:r>
              <a:rPr lang="en-GB" sz="2400" dirty="0" err="1"/>
              <a:t>Jupyter</a:t>
            </a:r>
            <a:r>
              <a:rPr lang="en-GB" sz="2400" dirty="0"/>
              <a:t> notebook framework</a:t>
            </a:r>
          </a:p>
          <a:p>
            <a:pPr lvl="1">
              <a:lnSpc>
                <a:spcPct val="100000"/>
              </a:lnSpc>
            </a:pPr>
            <a:r>
              <a:rPr lang="en-US" sz="2400" dirty="0"/>
              <a:t>Introduce key concepts, terminologies, and tools to prepare participants for advanced topics like regression, feature engineering, classification, and artificial neural networks</a:t>
            </a:r>
          </a:p>
          <a:p>
            <a:pPr>
              <a:lnSpc>
                <a:spcPct val="100000"/>
              </a:lnSpc>
            </a:pPr>
            <a:r>
              <a:rPr lang="en-US" sz="2400" b="1" dirty="0"/>
              <a:t>Learning Outcome</a:t>
            </a:r>
          </a:p>
          <a:p>
            <a:pPr lvl="1">
              <a:lnSpc>
                <a:spcPct val="100000"/>
              </a:lnSpc>
            </a:pPr>
            <a:r>
              <a:rPr lang="en-GB" sz="2400" dirty="0"/>
              <a:t>Participants will understand the basic workflow of machine learning. </a:t>
            </a:r>
          </a:p>
          <a:p>
            <a:pPr lvl="1">
              <a:lnSpc>
                <a:spcPct val="100000"/>
              </a:lnSpc>
            </a:pPr>
            <a:r>
              <a:rPr lang="en-GB" sz="2400" dirty="0"/>
              <a:t>Key tools in the Python ecosystem, and foundational concepts to build upon in subsequent lectures.</a:t>
            </a:r>
          </a:p>
        </p:txBody>
      </p:sp>
    </p:spTree>
    <p:extLst>
      <p:ext uri="{BB962C8B-B14F-4D97-AF65-F5344CB8AC3E}">
        <p14:creationId xmlns:p14="http://schemas.microsoft.com/office/powerpoint/2010/main" val="3956364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0F65E-0D98-58CA-C6C4-6C2536C213F9}"/>
              </a:ext>
            </a:extLst>
          </p:cNvPr>
          <p:cNvSpPr>
            <a:spLocks noGrp="1"/>
          </p:cNvSpPr>
          <p:nvPr>
            <p:ph type="title"/>
          </p:nvPr>
        </p:nvSpPr>
        <p:spPr/>
        <p:txBody>
          <a:bodyPr/>
          <a:lstStyle/>
          <a:p>
            <a:r>
              <a:rPr lang="en-US" dirty="0" err="1"/>
              <a:t>Jupyter</a:t>
            </a:r>
            <a:r>
              <a:rPr lang="en-US" dirty="0"/>
              <a:t> notebook Installation</a:t>
            </a:r>
          </a:p>
        </p:txBody>
      </p:sp>
      <p:sp>
        <p:nvSpPr>
          <p:cNvPr id="3" name="Content Placeholder 2">
            <a:extLst>
              <a:ext uri="{FF2B5EF4-FFF2-40B4-BE49-F238E27FC236}">
                <a16:creationId xmlns:a16="http://schemas.microsoft.com/office/drawing/2014/main" id="{1EC681BE-A27F-F2F6-2547-C25A98DFD2EA}"/>
              </a:ext>
            </a:extLst>
          </p:cNvPr>
          <p:cNvSpPr>
            <a:spLocks noGrp="1"/>
          </p:cNvSpPr>
          <p:nvPr>
            <p:ph sz="quarter" idx="13"/>
          </p:nvPr>
        </p:nvSpPr>
        <p:spPr/>
        <p:txBody>
          <a:bodyPr/>
          <a:lstStyle/>
          <a:p>
            <a:r>
              <a:rPr lang="en-US" sz="2400" dirty="0"/>
              <a:t>Click </a:t>
            </a:r>
            <a:r>
              <a:rPr lang="en-US" sz="2400" dirty="0">
                <a:hlinkClick r:id="rId2"/>
              </a:rPr>
              <a:t>here</a:t>
            </a:r>
            <a:r>
              <a:rPr lang="en-US" sz="2400" dirty="0"/>
              <a:t> to find the </a:t>
            </a:r>
            <a:r>
              <a:rPr lang="en-US" sz="2400" dirty="0" err="1"/>
              <a:t>Jupyter</a:t>
            </a:r>
            <a:r>
              <a:rPr lang="en-US" sz="2400" dirty="0"/>
              <a:t> notebook installation tutorial</a:t>
            </a:r>
          </a:p>
          <a:p>
            <a:endParaRPr lang="en-US" sz="2400" dirty="0"/>
          </a:p>
          <a:p>
            <a:endParaRPr lang="en-US" sz="2400" dirty="0"/>
          </a:p>
          <a:p>
            <a:r>
              <a:rPr lang="en-US" sz="2400" dirty="0"/>
              <a:t>Install VS-Code for better experience. Click </a:t>
            </a:r>
            <a:r>
              <a:rPr lang="en-US" sz="2400" dirty="0">
                <a:hlinkClick r:id="rId3"/>
              </a:rPr>
              <a:t>here</a:t>
            </a:r>
            <a:r>
              <a:rPr lang="en-US" sz="2400" dirty="0"/>
              <a:t> </a:t>
            </a:r>
          </a:p>
          <a:p>
            <a:endParaRPr lang="en-US" sz="2400" dirty="0"/>
          </a:p>
          <a:p>
            <a:endParaRPr lang="en-US" sz="2400" dirty="0"/>
          </a:p>
          <a:p>
            <a:r>
              <a:rPr lang="en-US" sz="2400" dirty="0"/>
              <a:t>Google </a:t>
            </a:r>
            <a:r>
              <a:rPr lang="en-US" sz="2400" dirty="0" err="1"/>
              <a:t>Colab</a:t>
            </a:r>
            <a:r>
              <a:rPr lang="en-US" sz="2400" dirty="0"/>
              <a:t> is an alternative to all those local setup</a:t>
            </a:r>
          </a:p>
        </p:txBody>
      </p:sp>
    </p:spTree>
    <p:extLst>
      <p:ext uri="{BB962C8B-B14F-4D97-AF65-F5344CB8AC3E}">
        <p14:creationId xmlns:p14="http://schemas.microsoft.com/office/powerpoint/2010/main" val="317395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0228-6445-A46B-7DD9-936C81022F08}"/>
              </a:ext>
            </a:extLst>
          </p:cNvPr>
          <p:cNvSpPr>
            <a:spLocks noGrp="1"/>
          </p:cNvSpPr>
          <p:nvPr>
            <p:ph type="title"/>
          </p:nvPr>
        </p:nvSpPr>
        <p:spPr/>
        <p:txBody>
          <a:bodyPr/>
          <a:lstStyle/>
          <a:p>
            <a:r>
              <a:rPr lang="en-US" dirty="0"/>
              <a:t>Introduction to Machine Learning</a:t>
            </a:r>
          </a:p>
        </p:txBody>
      </p:sp>
      <p:sp>
        <p:nvSpPr>
          <p:cNvPr id="3" name="Content Placeholder 2">
            <a:extLst>
              <a:ext uri="{FF2B5EF4-FFF2-40B4-BE49-F238E27FC236}">
                <a16:creationId xmlns:a16="http://schemas.microsoft.com/office/drawing/2014/main" id="{3473AA66-6F3B-EC6B-A159-1B41BA4BE463}"/>
              </a:ext>
            </a:extLst>
          </p:cNvPr>
          <p:cNvSpPr>
            <a:spLocks noGrp="1"/>
          </p:cNvSpPr>
          <p:nvPr>
            <p:ph sz="quarter" idx="13"/>
          </p:nvPr>
        </p:nvSpPr>
        <p:spPr>
          <a:xfrm>
            <a:off x="947739" y="1776413"/>
            <a:ext cx="6769244" cy="4244974"/>
          </a:xfrm>
        </p:spPr>
        <p:txBody>
          <a:bodyPr/>
          <a:lstStyle/>
          <a:p>
            <a:r>
              <a:rPr lang="en-US" sz="2400" dirty="0"/>
              <a:t>What is Machine Learning (ML) ?</a:t>
            </a:r>
          </a:p>
          <a:p>
            <a:pPr marL="0" indent="0">
              <a:buNone/>
            </a:pPr>
            <a:endParaRPr lang="en-US" sz="2400" dirty="0"/>
          </a:p>
          <a:p>
            <a:pPr lvl="1"/>
            <a:r>
              <a:rPr lang="en-US" sz="2400" dirty="0"/>
              <a:t>Branch of artificial intelligence (AI)</a:t>
            </a:r>
          </a:p>
          <a:p>
            <a:pPr marL="457200" lvl="1" indent="0">
              <a:buNone/>
            </a:pPr>
            <a:endParaRPr lang="en-US" sz="2400" dirty="0"/>
          </a:p>
          <a:p>
            <a:pPr lvl="1"/>
            <a:r>
              <a:rPr lang="en-US" sz="2400" dirty="0"/>
              <a:t>Enables computers to learn from data and make decisions or predictions.</a:t>
            </a:r>
          </a:p>
          <a:p>
            <a:pPr marL="457200" lvl="1" indent="0">
              <a:buNone/>
            </a:pPr>
            <a:endParaRPr lang="en-US" sz="2400" dirty="0"/>
          </a:p>
          <a:p>
            <a:pPr lvl="1"/>
            <a:r>
              <a:rPr lang="en-US" sz="2400" dirty="0"/>
              <a:t>ML algorithms improve their performance by identifying patterns in data.</a:t>
            </a:r>
          </a:p>
        </p:txBody>
      </p:sp>
      <p:pic>
        <p:nvPicPr>
          <p:cNvPr id="4098" name="Picture 2" descr="machine learning memes twitter - Abby Elam">
            <a:extLst>
              <a:ext uri="{FF2B5EF4-FFF2-40B4-BE49-F238E27FC236}">
                <a16:creationId xmlns:a16="http://schemas.microsoft.com/office/drawing/2014/main" id="{81FBE24F-DEFE-1BA8-BBE2-759BA0155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83" y="1776413"/>
            <a:ext cx="4094017" cy="3206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725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768D9-CC96-0C87-1B64-FE051B8825EA}"/>
              </a:ext>
            </a:extLst>
          </p:cNvPr>
          <p:cNvSpPr>
            <a:spLocks noGrp="1"/>
          </p:cNvSpPr>
          <p:nvPr>
            <p:ph type="title"/>
          </p:nvPr>
        </p:nvSpPr>
        <p:spPr/>
        <p:txBody>
          <a:bodyPr/>
          <a:lstStyle/>
          <a:p>
            <a:r>
              <a:rPr lang="en-US" dirty="0"/>
              <a:t>Key Components of ML</a:t>
            </a:r>
          </a:p>
        </p:txBody>
      </p:sp>
      <p:sp>
        <p:nvSpPr>
          <p:cNvPr id="5" name="Right Arrow 4">
            <a:extLst>
              <a:ext uri="{FF2B5EF4-FFF2-40B4-BE49-F238E27FC236}">
                <a16:creationId xmlns:a16="http://schemas.microsoft.com/office/drawing/2014/main" id="{753FD8E6-687A-8D0D-DD3B-7F1A97BF6D4B}"/>
              </a:ext>
            </a:extLst>
          </p:cNvPr>
          <p:cNvSpPr/>
          <p:nvPr/>
        </p:nvSpPr>
        <p:spPr>
          <a:xfrm>
            <a:off x="1522376" y="2943082"/>
            <a:ext cx="933632" cy="319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ight Arrow 6">
            <a:extLst>
              <a:ext uri="{FF2B5EF4-FFF2-40B4-BE49-F238E27FC236}">
                <a16:creationId xmlns:a16="http://schemas.microsoft.com/office/drawing/2014/main" id="{1E4E9A92-8C51-D8AC-7659-3BEF42D66EB0}"/>
              </a:ext>
            </a:extLst>
          </p:cNvPr>
          <p:cNvSpPr/>
          <p:nvPr/>
        </p:nvSpPr>
        <p:spPr>
          <a:xfrm>
            <a:off x="4332448" y="2906202"/>
            <a:ext cx="2939682" cy="4085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ight Arrow 8">
            <a:extLst>
              <a:ext uri="{FF2B5EF4-FFF2-40B4-BE49-F238E27FC236}">
                <a16:creationId xmlns:a16="http://schemas.microsoft.com/office/drawing/2014/main" id="{88A418F5-5D98-9FE2-C06C-C709B683530F}"/>
              </a:ext>
            </a:extLst>
          </p:cNvPr>
          <p:cNvSpPr/>
          <p:nvPr/>
        </p:nvSpPr>
        <p:spPr>
          <a:xfrm rot="16200000">
            <a:off x="1645639" y="3455801"/>
            <a:ext cx="603983" cy="321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Oval 9">
            <a:extLst>
              <a:ext uri="{FF2B5EF4-FFF2-40B4-BE49-F238E27FC236}">
                <a16:creationId xmlns:a16="http://schemas.microsoft.com/office/drawing/2014/main" id="{0C75EB98-09B3-B532-D7AE-9DCB8DE6A7D6}"/>
              </a:ext>
            </a:extLst>
          </p:cNvPr>
          <p:cNvSpPr/>
          <p:nvPr/>
        </p:nvSpPr>
        <p:spPr>
          <a:xfrm>
            <a:off x="726063" y="4135067"/>
            <a:ext cx="2422236" cy="8366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Engineering</a:t>
            </a:r>
          </a:p>
        </p:txBody>
      </p:sp>
      <p:pic>
        <p:nvPicPr>
          <p:cNvPr id="12" name="Picture 11">
            <a:extLst>
              <a:ext uri="{FF2B5EF4-FFF2-40B4-BE49-F238E27FC236}">
                <a16:creationId xmlns:a16="http://schemas.microsoft.com/office/drawing/2014/main" id="{1929853D-3238-ECBD-8F51-DDC47E9A33E8}"/>
              </a:ext>
            </a:extLst>
          </p:cNvPr>
          <p:cNvPicPr>
            <a:picLocks noChangeAspect="1"/>
          </p:cNvPicPr>
          <p:nvPr/>
        </p:nvPicPr>
        <p:blipFill>
          <a:blip r:embed="rId2"/>
          <a:stretch>
            <a:fillRect/>
          </a:stretch>
        </p:blipFill>
        <p:spPr>
          <a:xfrm>
            <a:off x="4950977" y="3429000"/>
            <a:ext cx="1315317" cy="1315317"/>
          </a:xfrm>
          <a:prstGeom prst="rect">
            <a:avLst/>
          </a:prstGeom>
        </p:spPr>
      </p:pic>
      <p:sp>
        <p:nvSpPr>
          <p:cNvPr id="13" name="TextBox 12">
            <a:extLst>
              <a:ext uri="{FF2B5EF4-FFF2-40B4-BE49-F238E27FC236}">
                <a16:creationId xmlns:a16="http://schemas.microsoft.com/office/drawing/2014/main" id="{8EC81412-6122-4828-5B96-8D96EF04047F}"/>
              </a:ext>
            </a:extLst>
          </p:cNvPr>
          <p:cNvSpPr txBox="1"/>
          <p:nvPr/>
        </p:nvSpPr>
        <p:spPr>
          <a:xfrm>
            <a:off x="4766952" y="2536870"/>
            <a:ext cx="1834541" cy="369332"/>
          </a:xfrm>
          <a:prstGeom prst="rect">
            <a:avLst/>
          </a:prstGeom>
          <a:noFill/>
        </p:spPr>
        <p:txBody>
          <a:bodyPr wrap="none" rtlCol="0">
            <a:spAutoFit/>
          </a:bodyPr>
          <a:lstStyle/>
          <a:p>
            <a:r>
              <a:rPr lang="en-US" dirty="0"/>
              <a:t>Training/Learning</a:t>
            </a:r>
          </a:p>
        </p:txBody>
      </p:sp>
      <p:pic>
        <p:nvPicPr>
          <p:cNvPr id="14" name="Picture 13">
            <a:extLst>
              <a:ext uri="{FF2B5EF4-FFF2-40B4-BE49-F238E27FC236}">
                <a16:creationId xmlns:a16="http://schemas.microsoft.com/office/drawing/2014/main" id="{8C2C893A-3411-2DB0-2999-667A63B7EE96}"/>
              </a:ext>
            </a:extLst>
          </p:cNvPr>
          <p:cNvPicPr>
            <a:picLocks noChangeAspect="1"/>
          </p:cNvPicPr>
          <p:nvPr/>
        </p:nvPicPr>
        <p:blipFill>
          <a:blip r:embed="rId3"/>
          <a:stretch>
            <a:fillRect/>
          </a:stretch>
        </p:blipFill>
        <p:spPr>
          <a:xfrm>
            <a:off x="2755903" y="2293144"/>
            <a:ext cx="1430298" cy="1430298"/>
          </a:xfrm>
          <a:prstGeom prst="rect">
            <a:avLst/>
          </a:prstGeom>
        </p:spPr>
      </p:pic>
      <p:sp>
        <p:nvSpPr>
          <p:cNvPr id="15" name="TextBox 14">
            <a:extLst>
              <a:ext uri="{FF2B5EF4-FFF2-40B4-BE49-F238E27FC236}">
                <a16:creationId xmlns:a16="http://schemas.microsoft.com/office/drawing/2014/main" id="{16C98CFD-578A-955D-0AAD-B1EDF6F7260D}"/>
              </a:ext>
            </a:extLst>
          </p:cNvPr>
          <p:cNvSpPr txBox="1"/>
          <p:nvPr/>
        </p:nvSpPr>
        <p:spPr>
          <a:xfrm>
            <a:off x="2934522" y="1920708"/>
            <a:ext cx="992066" cy="369332"/>
          </a:xfrm>
          <a:prstGeom prst="rect">
            <a:avLst/>
          </a:prstGeom>
          <a:noFill/>
        </p:spPr>
        <p:txBody>
          <a:bodyPr wrap="none" rtlCol="0">
            <a:spAutoFit/>
          </a:bodyPr>
          <a:lstStyle/>
          <a:p>
            <a:r>
              <a:rPr lang="en-US" dirty="0"/>
              <a:t>Features</a:t>
            </a:r>
          </a:p>
        </p:txBody>
      </p:sp>
      <p:pic>
        <p:nvPicPr>
          <p:cNvPr id="16" name="Picture 15">
            <a:extLst>
              <a:ext uri="{FF2B5EF4-FFF2-40B4-BE49-F238E27FC236}">
                <a16:creationId xmlns:a16="http://schemas.microsoft.com/office/drawing/2014/main" id="{1394F383-7036-E282-6F02-D7E04C613631}"/>
              </a:ext>
            </a:extLst>
          </p:cNvPr>
          <p:cNvPicPr>
            <a:picLocks noChangeAspect="1"/>
          </p:cNvPicPr>
          <p:nvPr/>
        </p:nvPicPr>
        <p:blipFill>
          <a:blip r:embed="rId4"/>
          <a:stretch>
            <a:fillRect/>
          </a:stretch>
        </p:blipFill>
        <p:spPr>
          <a:xfrm>
            <a:off x="142880" y="2366858"/>
            <a:ext cx="1356584" cy="1356584"/>
          </a:xfrm>
          <a:prstGeom prst="rect">
            <a:avLst/>
          </a:prstGeom>
        </p:spPr>
      </p:pic>
      <p:sp>
        <p:nvSpPr>
          <p:cNvPr id="17" name="TextBox 16">
            <a:extLst>
              <a:ext uri="{FF2B5EF4-FFF2-40B4-BE49-F238E27FC236}">
                <a16:creationId xmlns:a16="http://schemas.microsoft.com/office/drawing/2014/main" id="{4CE4CC07-310D-D22B-617B-E301DA953CA8}"/>
              </a:ext>
            </a:extLst>
          </p:cNvPr>
          <p:cNvSpPr txBox="1"/>
          <p:nvPr/>
        </p:nvSpPr>
        <p:spPr>
          <a:xfrm>
            <a:off x="284871" y="1922450"/>
            <a:ext cx="1072601" cy="369332"/>
          </a:xfrm>
          <a:prstGeom prst="rect">
            <a:avLst/>
          </a:prstGeom>
          <a:noFill/>
        </p:spPr>
        <p:txBody>
          <a:bodyPr wrap="none" rtlCol="0">
            <a:spAutoFit/>
          </a:bodyPr>
          <a:lstStyle/>
          <a:p>
            <a:r>
              <a:rPr lang="en-US" dirty="0"/>
              <a:t>Raw Data</a:t>
            </a:r>
          </a:p>
        </p:txBody>
      </p:sp>
      <p:pic>
        <p:nvPicPr>
          <p:cNvPr id="19" name="Picture 18">
            <a:extLst>
              <a:ext uri="{FF2B5EF4-FFF2-40B4-BE49-F238E27FC236}">
                <a16:creationId xmlns:a16="http://schemas.microsoft.com/office/drawing/2014/main" id="{B3AC28DF-F428-8697-F1E6-BE5EC37A3351}"/>
              </a:ext>
            </a:extLst>
          </p:cNvPr>
          <p:cNvPicPr>
            <a:picLocks noChangeAspect="1"/>
          </p:cNvPicPr>
          <p:nvPr/>
        </p:nvPicPr>
        <p:blipFill>
          <a:blip r:embed="rId5"/>
          <a:stretch>
            <a:fillRect/>
          </a:stretch>
        </p:blipFill>
        <p:spPr>
          <a:xfrm>
            <a:off x="7355922" y="2173268"/>
            <a:ext cx="2080176" cy="1741775"/>
          </a:xfrm>
          <a:prstGeom prst="rect">
            <a:avLst/>
          </a:prstGeom>
        </p:spPr>
      </p:pic>
      <p:sp>
        <p:nvSpPr>
          <p:cNvPr id="20" name="TextBox 19">
            <a:extLst>
              <a:ext uri="{FF2B5EF4-FFF2-40B4-BE49-F238E27FC236}">
                <a16:creationId xmlns:a16="http://schemas.microsoft.com/office/drawing/2014/main" id="{DC3E79CA-EFC3-799E-33F5-A8E0F9B56FCC}"/>
              </a:ext>
            </a:extLst>
          </p:cNvPr>
          <p:cNvSpPr txBox="1"/>
          <p:nvPr/>
        </p:nvSpPr>
        <p:spPr>
          <a:xfrm>
            <a:off x="7868510" y="1736042"/>
            <a:ext cx="793807" cy="369332"/>
          </a:xfrm>
          <a:prstGeom prst="rect">
            <a:avLst/>
          </a:prstGeom>
          <a:noFill/>
        </p:spPr>
        <p:txBody>
          <a:bodyPr wrap="none" rtlCol="0">
            <a:spAutoFit/>
          </a:bodyPr>
          <a:lstStyle/>
          <a:p>
            <a:r>
              <a:rPr lang="en-US" dirty="0"/>
              <a:t>Model</a:t>
            </a:r>
          </a:p>
        </p:txBody>
      </p:sp>
      <p:sp>
        <p:nvSpPr>
          <p:cNvPr id="21" name="Right Arrow 20">
            <a:extLst>
              <a:ext uri="{FF2B5EF4-FFF2-40B4-BE49-F238E27FC236}">
                <a16:creationId xmlns:a16="http://schemas.microsoft.com/office/drawing/2014/main" id="{837E2CCC-7FDF-F48A-95A2-43FE1FBA0444}"/>
              </a:ext>
            </a:extLst>
          </p:cNvPr>
          <p:cNvSpPr/>
          <p:nvPr/>
        </p:nvSpPr>
        <p:spPr>
          <a:xfrm rot="5400000">
            <a:off x="7918052" y="4289453"/>
            <a:ext cx="955914" cy="4085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2" name="Picture 21">
            <a:extLst>
              <a:ext uri="{FF2B5EF4-FFF2-40B4-BE49-F238E27FC236}">
                <a16:creationId xmlns:a16="http://schemas.microsoft.com/office/drawing/2014/main" id="{0DFEB5B6-AA9E-6174-7E46-A435715D0CAF}"/>
              </a:ext>
            </a:extLst>
          </p:cNvPr>
          <p:cNvPicPr>
            <a:picLocks noChangeAspect="1"/>
          </p:cNvPicPr>
          <p:nvPr/>
        </p:nvPicPr>
        <p:blipFill>
          <a:blip r:embed="rId6"/>
          <a:stretch>
            <a:fillRect/>
          </a:stretch>
        </p:blipFill>
        <p:spPr>
          <a:xfrm>
            <a:off x="7990170" y="5072404"/>
            <a:ext cx="1005642" cy="1005642"/>
          </a:xfrm>
          <a:prstGeom prst="rect">
            <a:avLst/>
          </a:prstGeom>
        </p:spPr>
      </p:pic>
      <p:sp>
        <p:nvSpPr>
          <p:cNvPr id="24" name="TextBox 23">
            <a:extLst>
              <a:ext uri="{FF2B5EF4-FFF2-40B4-BE49-F238E27FC236}">
                <a16:creationId xmlns:a16="http://schemas.microsoft.com/office/drawing/2014/main" id="{781A7A62-41C6-64C3-998A-F380CAB26A97}"/>
              </a:ext>
            </a:extLst>
          </p:cNvPr>
          <p:cNvSpPr txBox="1"/>
          <p:nvPr/>
        </p:nvSpPr>
        <p:spPr>
          <a:xfrm>
            <a:off x="8995812" y="5342277"/>
            <a:ext cx="1315317" cy="369332"/>
          </a:xfrm>
          <a:prstGeom prst="rect">
            <a:avLst/>
          </a:prstGeom>
          <a:noFill/>
        </p:spPr>
        <p:txBody>
          <a:bodyPr wrap="square">
            <a:spAutoFit/>
          </a:bodyPr>
          <a:lstStyle/>
          <a:p>
            <a:r>
              <a:rPr lang="en-US" dirty="0"/>
              <a:t>Evaluation</a:t>
            </a:r>
          </a:p>
        </p:txBody>
      </p:sp>
      <p:pic>
        <p:nvPicPr>
          <p:cNvPr id="25" name="Picture 24">
            <a:extLst>
              <a:ext uri="{FF2B5EF4-FFF2-40B4-BE49-F238E27FC236}">
                <a16:creationId xmlns:a16="http://schemas.microsoft.com/office/drawing/2014/main" id="{0BD0B680-6C38-FF02-9C48-E5A58D40EA79}"/>
              </a:ext>
            </a:extLst>
          </p:cNvPr>
          <p:cNvPicPr>
            <a:picLocks noChangeAspect="1"/>
          </p:cNvPicPr>
          <p:nvPr/>
        </p:nvPicPr>
        <p:blipFill>
          <a:blip r:embed="rId7"/>
          <a:stretch>
            <a:fillRect/>
          </a:stretch>
        </p:blipFill>
        <p:spPr>
          <a:xfrm>
            <a:off x="10678174" y="2194336"/>
            <a:ext cx="1422400" cy="1422400"/>
          </a:xfrm>
          <a:prstGeom prst="rect">
            <a:avLst/>
          </a:prstGeom>
        </p:spPr>
      </p:pic>
      <p:sp>
        <p:nvSpPr>
          <p:cNvPr id="28" name="Right Arrow 27">
            <a:extLst>
              <a:ext uri="{FF2B5EF4-FFF2-40B4-BE49-F238E27FC236}">
                <a16:creationId xmlns:a16="http://schemas.microsoft.com/office/drawing/2014/main" id="{4AF2A8B6-37FA-1AEA-AF63-BB5FC8F2F9FA}"/>
              </a:ext>
            </a:extLst>
          </p:cNvPr>
          <p:cNvSpPr/>
          <p:nvPr/>
        </p:nvSpPr>
        <p:spPr>
          <a:xfrm>
            <a:off x="9650916" y="2775718"/>
            <a:ext cx="955914" cy="4085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4E5EC99A-94BB-3642-20C0-56169EDDB215}"/>
              </a:ext>
            </a:extLst>
          </p:cNvPr>
          <p:cNvSpPr txBox="1"/>
          <p:nvPr/>
        </p:nvSpPr>
        <p:spPr>
          <a:xfrm>
            <a:off x="10765278" y="1736042"/>
            <a:ext cx="1141851" cy="369332"/>
          </a:xfrm>
          <a:prstGeom prst="rect">
            <a:avLst/>
          </a:prstGeom>
          <a:noFill/>
        </p:spPr>
        <p:txBody>
          <a:bodyPr wrap="none" rtlCol="0">
            <a:spAutoFit/>
          </a:bodyPr>
          <a:lstStyle/>
          <a:p>
            <a:r>
              <a:rPr lang="en-US" dirty="0"/>
              <a:t>Prediction</a:t>
            </a:r>
          </a:p>
        </p:txBody>
      </p:sp>
      <p:pic>
        <p:nvPicPr>
          <p:cNvPr id="30" name="Picture 29">
            <a:extLst>
              <a:ext uri="{FF2B5EF4-FFF2-40B4-BE49-F238E27FC236}">
                <a16:creationId xmlns:a16="http://schemas.microsoft.com/office/drawing/2014/main" id="{3E49D546-55F0-07C2-4372-5864FFD37CAE}"/>
              </a:ext>
            </a:extLst>
          </p:cNvPr>
          <p:cNvPicPr>
            <a:picLocks noChangeAspect="1"/>
          </p:cNvPicPr>
          <p:nvPr/>
        </p:nvPicPr>
        <p:blipFill>
          <a:blip r:embed="rId3"/>
          <a:stretch>
            <a:fillRect/>
          </a:stretch>
        </p:blipFill>
        <p:spPr>
          <a:xfrm>
            <a:off x="9659059" y="1992568"/>
            <a:ext cx="778567" cy="778567"/>
          </a:xfrm>
          <a:prstGeom prst="rect">
            <a:avLst/>
          </a:prstGeom>
        </p:spPr>
      </p:pic>
      <p:sp>
        <p:nvSpPr>
          <p:cNvPr id="31" name="TextBox 30">
            <a:extLst>
              <a:ext uri="{FF2B5EF4-FFF2-40B4-BE49-F238E27FC236}">
                <a16:creationId xmlns:a16="http://schemas.microsoft.com/office/drawing/2014/main" id="{B4EF9C46-9D61-81CE-5BB3-B9C82FFC6BCA}"/>
              </a:ext>
            </a:extLst>
          </p:cNvPr>
          <p:cNvSpPr txBox="1"/>
          <p:nvPr/>
        </p:nvSpPr>
        <p:spPr>
          <a:xfrm>
            <a:off x="9536407" y="1575790"/>
            <a:ext cx="1023870" cy="369332"/>
          </a:xfrm>
          <a:prstGeom prst="rect">
            <a:avLst/>
          </a:prstGeom>
          <a:noFill/>
        </p:spPr>
        <p:txBody>
          <a:bodyPr wrap="none" rtlCol="0">
            <a:spAutoFit/>
          </a:bodyPr>
          <a:lstStyle/>
          <a:p>
            <a:r>
              <a:rPr lang="en-US" dirty="0"/>
              <a:t>Test data</a:t>
            </a:r>
          </a:p>
        </p:txBody>
      </p:sp>
    </p:spTree>
    <p:extLst>
      <p:ext uri="{BB962C8B-B14F-4D97-AF65-F5344CB8AC3E}">
        <p14:creationId xmlns:p14="http://schemas.microsoft.com/office/powerpoint/2010/main" val="485654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2546-BD82-0592-1613-DFCFC05CA505}"/>
              </a:ext>
            </a:extLst>
          </p:cNvPr>
          <p:cNvSpPr>
            <a:spLocks noGrp="1"/>
          </p:cNvSpPr>
          <p:nvPr>
            <p:ph type="title"/>
          </p:nvPr>
        </p:nvSpPr>
        <p:spPr/>
        <p:txBody>
          <a:bodyPr/>
          <a:lstStyle/>
          <a:p>
            <a:r>
              <a:rPr lang="en-US" dirty="0"/>
              <a:t>Data</a:t>
            </a:r>
          </a:p>
        </p:txBody>
      </p:sp>
      <p:pic>
        <p:nvPicPr>
          <p:cNvPr id="4" name="Picture 2">
            <a:extLst>
              <a:ext uri="{FF2B5EF4-FFF2-40B4-BE49-F238E27FC236}">
                <a16:creationId xmlns:a16="http://schemas.microsoft.com/office/drawing/2014/main" id="{22A841AF-B1D9-7A2F-58D2-76D1AB9A50EF}"/>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3793524" y="4759940"/>
            <a:ext cx="3132731" cy="176216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AE288976-139E-F24E-AAB5-8D852AFAC684}"/>
              </a:ext>
            </a:extLst>
          </p:cNvPr>
          <p:cNvSpPr txBox="1">
            <a:spLocks/>
          </p:cNvSpPr>
          <p:nvPr/>
        </p:nvSpPr>
        <p:spPr>
          <a:xfrm>
            <a:off x="8686353" y="5097330"/>
            <a:ext cx="3752812" cy="613075"/>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Feature Engineering</a:t>
            </a:r>
          </a:p>
        </p:txBody>
      </p:sp>
      <p:pic>
        <p:nvPicPr>
          <p:cNvPr id="2050" name="Picture 2">
            <a:extLst>
              <a:ext uri="{FF2B5EF4-FFF2-40B4-BE49-F238E27FC236}">
                <a16:creationId xmlns:a16="http://schemas.microsoft.com/office/drawing/2014/main" id="{7E234638-CA39-43B8-327C-9D4160C19B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410"/>
          <a:stretch/>
        </p:blipFill>
        <p:spPr bwMode="auto">
          <a:xfrm>
            <a:off x="6911289" y="4547322"/>
            <a:ext cx="1775064" cy="21463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04EAC8E-C876-9C71-62ED-EB7C19A7349C}"/>
              </a:ext>
            </a:extLst>
          </p:cNvPr>
          <p:cNvSpPr txBox="1"/>
          <p:nvPr/>
        </p:nvSpPr>
        <p:spPr>
          <a:xfrm>
            <a:off x="5874329" y="4942203"/>
            <a:ext cx="1357745" cy="461665"/>
          </a:xfrm>
          <a:prstGeom prst="rect">
            <a:avLst/>
          </a:prstGeom>
          <a:noFill/>
        </p:spPr>
        <p:txBody>
          <a:bodyPr wrap="square" rtlCol="0">
            <a:spAutoFit/>
          </a:bodyPr>
          <a:lstStyle/>
          <a:p>
            <a:r>
              <a:rPr lang="en-US" sz="2400" dirty="0"/>
              <a:t>Cleaning</a:t>
            </a:r>
          </a:p>
        </p:txBody>
      </p:sp>
      <p:sp>
        <p:nvSpPr>
          <p:cNvPr id="9" name="Content Placeholder 2">
            <a:extLst>
              <a:ext uri="{FF2B5EF4-FFF2-40B4-BE49-F238E27FC236}">
                <a16:creationId xmlns:a16="http://schemas.microsoft.com/office/drawing/2014/main" id="{2500AF2D-9902-D488-58AA-2371BD6D3DEE}"/>
              </a:ext>
            </a:extLst>
          </p:cNvPr>
          <p:cNvSpPr txBox="1">
            <a:spLocks/>
          </p:cNvSpPr>
          <p:nvPr/>
        </p:nvSpPr>
        <p:spPr>
          <a:xfrm>
            <a:off x="1137843" y="1873395"/>
            <a:ext cx="9472971"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Dirty Data</a:t>
            </a:r>
          </a:p>
          <a:p>
            <a:pPr lvl="1">
              <a:lnSpc>
                <a:spcPct val="100000"/>
              </a:lnSpc>
            </a:pPr>
            <a:r>
              <a:rPr lang="en-US" sz="2400" dirty="0"/>
              <a:t>Incomplete – Missing/null values</a:t>
            </a:r>
          </a:p>
          <a:p>
            <a:pPr lvl="1">
              <a:lnSpc>
                <a:spcPct val="100000"/>
              </a:lnSpc>
            </a:pPr>
            <a:r>
              <a:rPr lang="en-US" sz="2400" dirty="0"/>
              <a:t>Inaccurate – Incorrect values or calculations</a:t>
            </a:r>
          </a:p>
          <a:p>
            <a:pPr lvl="1">
              <a:lnSpc>
                <a:spcPct val="100000"/>
              </a:lnSpc>
            </a:pPr>
            <a:r>
              <a:rPr lang="en-US" sz="2400" dirty="0"/>
              <a:t>Inconsistent – Different unit of measurements</a:t>
            </a:r>
          </a:p>
          <a:p>
            <a:pPr lvl="1">
              <a:lnSpc>
                <a:spcPct val="100000"/>
              </a:lnSpc>
            </a:pPr>
            <a:r>
              <a:rPr lang="en-US" sz="2400" dirty="0"/>
              <a:t>Duplicate – same data reordered more than once</a:t>
            </a:r>
          </a:p>
          <a:p>
            <a:pPr lvl="1">
              <a:lnSpc>
                <a:spcPct val="100000"/>
              </a:lnSpc>
            </a:pPr>
            <a:r>
              <a:rPr lang="en-US" sz="2400" dirty="0"/>
              <a:t>Outdated - No longer relevant</a:t>
            </a:r>
          </a:p>
          <a:p>
            <a:pPr lvl="1">
              <a:lnSpc>
                <a:spcPct val="100000"/>
              </a:lnSpc>
            </a:pPr>
            <a:r>
              <a:rPr lang="en-US" sz="2400" dirty="0"/>
              <a:t>Incorrectly formatted – invalid characters</a:t>
            </a:r>
          </a:p>
        </p:txBody>
      </p:sp>
    </p:spTree>
    <p:extLst>
      <p:ext uri="{BB962C8B-B14F-4D97-AF65-F5344CB8AC3E}">
        <p14:creationId xmlns:p14="http://schemas.microsoft.com/office/powerpoint/2010/main" val="313131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6CCD9-A711-6198-7C83-7EF3BFE8BEE6}"/>
              </a:ext>
            </a:extLst>
          </p:cNvPr>
          <p:cNvSpPr>
            <a:spLocks noGrp="1"/>
          </p:cNvSpPr>
          <p:nvPr>
            <p:ph type="title"/>
          </p:nvPr>
        </p:nvSpPr>
        <p:spPr/>
        <p:txBody>
          <a:bodyPr/>
          <a:lstStyle/>
          <a:p>
            <a:r>
              <a:rPr lang="en-US" dirty="0"/>
              <a:t>Dataset</a:t>
            </a:r>
          </a:p>
        </p:txBody>
      </p:sp>
      <p:pic>
        <p:nvPicPr>
          <p:cNvPr id="15" name="Picture 14">
            <a:extLst>
              <a:ext uri="{FF2B5EF4-FFF2-40B4-BE49-F238E27FC236}">
                <a16:creationId xmlns:a16="http://schemas.microsoft.com/office/drawing/2014/main" id="{D383929E-6422-4588-3335-1CD608E2A14C}"/>
              </a:ext>
            </a:extLst>
          </p:cNvPr>
          <p:cNvPicPr>
            <a:picLocks noChangeAspect="1"/>
          </p:cNvPicPr>
          <p:nvPr/>
        </p:nvPicPr>
        <p:blipFill>
          <a:blip r:embed="rId2"/>
          <a:stretch>
            <a:fillRect/>
          </a:stretch>
        </p:blipFill>
        <p:spPr>
          <a:xfrm>
            <a:off x="2040659" y="2298571"/>
            <a:ext cx="7772400" cy="2260857"/>
          </a:xfrm>
          <a:prstGeom prst="rect">
            <a:avLst/>
          </a:prstGeom>
        </p:spPr>
      </p:pic>
    </p:spTree>
    <p:extLst>
      <p:ext uri="{BB962C8B-B14F-4D97-AF65-F5344CB8AC3E}">
        <p14:creationId xmlns:p14="http://schemas.microsoft.com/office/powerpoint/2010/main" val="397729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B98B-2DA3-3236-5901-141C65DD4A80}"/>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33D4653D-0B09-B212-8266-40C1FCFE8389}"/>
              </a:ext>
            </a:extLst>
          </p:cNvPr>
          <p:cNvSpPr>
            <a:spLocks noGrp="1"/>
          </p:cNvSpPr>
          <p:nvPr>
            <p:ph sz="quarter" idx="13"/>
          </p:nvPr>
        </p:nvSpPr>
        <p:spPr/>
        <p:txBody>
          <a:bodyPr/>
          <a:lstStyle/>
          <a:p>
            <a:r>
              <a:rPr lang="en-US" sz="2400" dirty="0"/>
              <a:t>Performance</a:t>
            </a:r>
          </a:p>
          <a:p>
            <a:pPr lvl="1"/>
            <a:r>
              <a:rPr lang="en-US" sz="2400" dirty="0"/>
              <a:t>Accuracy : Good for balanced datasets</a:t>
            </a:r>
          </a:p>
          <a:p>
            <a:pPr marL="457200" lvl="1" indent="0">
              <a:buNone/>
            </a:pPr>
            <a:endParaRPr lang="en-US" sz="2400" dirty="0"/>
          </a:p>
          <a:p>
            <a:pPr lvl="1"/>
            <a:r>
              <a:rPr lang="en-US" sz="2400" dirty="0"/>
              <a:t>F1-Score : Best for imbalanced datasets</a:t>
            </a:r>
          </a:p>
          <a:p>
            <a:pPr marL="457200" lvl="1" indent="0">
              <a:buNone/>
            </a:pPr>
            <a:endParaRPr lang="en-US" sz="2400" dirty="0"/>
          </a:p>
          <a:p>
            <a:pPr lvl="1"/>
            <a:r>
              <a:rPr lang="en-US" sz="2400" dirty="0"/>
              <a:t>R2 : Used in regression to evaluate model fit </a:t>
            </a:r>
          </a:p>
          <a:p>
            <a:pPr lvl="1"/>
            <a:endParaRPr lang="en-US" dirty="0"/>
          </a:p>
          <a:p>
            <a:r>
              <a:rPr lang="en-US" sz="2400" dirty="0"/>
              <a:t>Loss function</a:t>
            </a:r>
          </a:p>
          <a:p>
            <a:pPr lvl="1"/>
            <a:r>
              <a:rPr lang="en-US" sz="2400" dirty="0"/>
              <a:t>Mean Square Loss (MSE) and Root Mean-Square Loss (RMSE) : Suitable for regression tasks</a:t>
            </a:r>
          </a:p>
          <a:p>
            <a:pPr marL="457200" lvl="1" indent="0">
              <a:buNone/>
            </a:pPr>
            <a:endParaRPr lang="en-US" sz="2400" dirty="0"/>
          </a:p>
          <a:p>
            <a:pPr lvl="1"/>
            <a:r>
              <a:rPr lang="en-US" sz="2400" dirty="0"/>
              <a:t>Cross-entropy (CE): Suitable for classification tasks</a:t>
            </a:r>
          </a:p>
        </p:txBody>
      </p:sp>
    </p:spTree>
    <p:extLst>
      <p:ext uri="{BB962C8B-B14F-4D97-AF65-F5344CB8AC3E}">
        <p14:creationId xmlns:p14="http://schemas.microsoft.com/office/powerpoint/2010/main" val="206771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F57E6-91B7-3033-A472-6AE5AE1D9398}"/>
              </a:ext>
            </a:extLst>
          </p:cNvPr>
          <p:cNvSpPr>
            <a:spLocks noGrp="1"/>
          </p:cNvSpPr>
          <p:nvPr>
            <p:ph type="title"/>
          </p:nvPr>
        </p:nvSpPr>
        <p:spPr/>
        <p:txBody>
          <a:bodyPr/>
          <a:lstStyle/>
          <a:p>
            <a:r>
              <a:rPr lang="en-US" dirty="0"/>
              <a:t>Python Ecosystem for Machine Learning</a:t>
            </a:r>
          </a:p>
        </p:txBody>
      </p:sp>
      <p:pic>
        <p:nvPicPr>
          <p:cNvPr id="5122" name="Picture 2" descr="How to Become a Data Scientist from Software Developer | by Bala ...">
            <a:extLst>
              <a:ext uri="{FF2B5EF4-FFF2-40B4-BE49-F238E27FC236}">
                <a16:creationId xmlns:a16="http://schemas.microsoft.com/office/drawing/2014/main" id="{1D359944-D0FD-AB57-CBA7-47DE3807F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684" y="1552755"/>
            <a:ext cx="6201208" cy="468506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CA77A8EF-2B26-4C5F-F5F1-6C399EA36ED8}"/>
              </a:ext>
            </a:extLst>
          </p:cNvPr>
          <p:cNvSpPr txBox="1">
            <a:spLocks/>
          </p:cNvSpPr>
          <p:nvPr/>
        </p:nvSpPr>
        <p:spPr>
          <a:xfrm>
            <a:off x="698355" y="1555947"/>
            <a:ext cx="6201209" cy="4637035"/>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Font typeface="Arial" panose="020B0604020202020204" pitchFamily="34" charset="0"/>
              <a:buNone/>
            </a:pPr>
            <a:r>
              <a:rPr lang="en-US" sz="2400" dirty="0"/>
              <a:t> </a:t>
            </a:r>
          </a:p>
        </p:txBody>
      </p:sp>
    </p:spTree>
    <p:extLst>
      <p:ext uri="{BB962C8B-B14F-4D97-AF65-F5344CB8AC3E}">
        <p14:creationId xmlns:p14="http://schemas.microsoft.com/office/powerpoint/2010/main" val="3590603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04A39-2003-29B9-B5A6-D371861E690F}"/>
              </a:ext>
            </a:extLst>
          </p:cNvPr>
          <p:cNvSpPr>
            <a:spLocks noGrp="1"/>
          </p:cNvSpPr>
          <p:nvPr>
            <p:ph type="title"/>
          </p:nvPr>
        </p:nvSpPr>
        <p:spPr/>
        <p:txBody>
          <a:bodyPr/>
          <a:lstStyle/>
          <a:p>
            <a:r>
              <a:rPr lang="en-US" dirty="0"/>
              <a:t>Hands-on</a:t>
            </a:r>
          </a:p>
        </p:txBody>
      </p:sp>
      <p:sp>
        <p:nvSpPr>
          <p:cNvPr id="3" name="Content Placeholder 2">
            <a:extLst>
              <a:ext uri="{FF2B5EF4-FFF2-40B4-BE49-F238E27FC236}">
                <a16:creationId xmlns:a16="http://schemas.microsoft.com/office/drawing/2014/main" id="{DC1FC863-B7DD-9D3C-2711-B422B686A01E}"/>
              </a:ext>
            </a:extLst>
          </p:cNvPr>
          <p:cNvSpPr>
            <a:spLocks noGrp="1"/>
          </p:cNvSpPr>
          <p:nvPr>
            <p:ph sz="quarter" idx="13"/>
          </p:nvPr>
        </p:nvSpPr>
        <p:spPr>
          <a:xfrm>
            <a:off x="947738" y="1776413"/>
            <a:ext cx="4024312" cy="4244974"/>
          </a:xfrm>
        </p:spPr>
        <p:txBody>
          <a:bodyPr/>
          <a:lstStyle/>
          <a:p>
            <a:r>
              <a:rPr lang="en-US" sz="2800" dirty="0" err="1"/>
              <a:t>Numpy</a:t>
            </a:r>
            <a:r>
              <a:rPr lang="en-US" sz="2800" dirty="0"/>
              <a:t> tutorial</a:t>
            </a:r>
          </a:p>
          <a:p>
            <a:endParaRPr lang="en-US" sz="2800" dirty="0"/>
          </a:p>
          <a:p>
            <a:endParaRPr lang="en-US" sz="2800" dirty="0"/>
          </a:p>
          <a:p>
            <a:endParaRPr lang="en-US" sz="2800" dirty="0"/>
          </a:p>
          <a:p>
            <a:r>
              <a:rPr lang="en-US" sz="2800" dirty="0"/>
              <a:t>Pandas tutorial</a:t>
            </a:r>
          </a:p>
          <a:p>
            <a:pPr marL="0" indent="0">
              <a:buNone/>
            </a:pPr>
            <a:endParaRPr lang="en-US" dirty="0"/>
          </a:p>
        </p:txBody>
      </p:sp>
      <p:sp>
        <p:nvSpPr>
          <p:cNvPr id="4" name="TextBox 3">
            <a:extLst>
              <a:ext uri="{FF2B5EF4-FFF2-40B4-BE49-F238E27FC236}">
                <a16:creationId xmlns:a16="http://schemas.microsoft.com/office/drawing/2014/main" id="{E7C339F3-44AE-4175-A89F-F451FF670A5A}"/>
              </a:ext>
            </a:extLst>
          </p:cNvPr>
          <p:cNvSpPr txBox="1"/>
          <p:nvPr/>
        </p:nvSpPr>
        <p:spPr>
          <a:xfrm>
            <a:off x="5186363" y="2319278"/>
            <a:ext cx="7672388" cy="523220"/>
          </a:xfrm>
          <a:prstGeom prst="rect">
            <a:avLst/>
          </a:prstGeom>
          <a:noFill/>
        </p:spPr>
        <p:txBody>
          <a:bodyPr wrap="square" rtlCol="0">
            <a:spAutoFit/>
          </a:bodyPr>
          <a:lstStyle/>
          <a:p>
            <a:r>
              <a:rPr lang="en-US" sz="2800" dirty="0"/>
              <a:t>Go to your Studium page</a:t>
            </a:r>
          </a:p>
        </p:txBody>
      </p:sp>
    </p:spTree>
    <p:extLst>
      <p:ext uri="{BB962C8B-B14F-4D97-AF65-F5344CB8AC3E}">
        <p14:creationId xmlns:p14="http://schemas.microsoft.com/office/powerpoint/2010/main" val="1832021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F810CC-C993-2792-22A2-61FB6E86B5DF}"/>
              </a:ext>
            </a:extLst>
          </p:cNvPr>
          <p:cNvSpPr>
            <a:spLocks noGrp="1"/>
          </p:cNvSpPr>
          <p:nvPr>
            <p:ph sz="quarter" idx="13"/>
          </p:nvPr>
        </p:nvSpPr>
        <p:spPr>
          <a:xfrm>
            <a:off x="4342102" y="3193473"/>
            <a:ext cx="3721243" cy="716142"/>
          </a:xfrm>
        </p:spPr>
        <p:txBody>
          <a:bodyPr/>
          <a:lstStyle/>
          <a:p>
            <a:pPr marL="0" indent="0">
              <a:buNone/>
            </a:pPr>
            <a:r>
              <a:rPr lang="en-US" sz="4000" dirty="0"/>
              <a:t>Thank You!</a:t>
            </a:r>
          </a:p>
        </p:txBody>
      </p:sp>
    </p:spTree>
    <p:extLst>
      <p:ext uri="{BB962C8B-B14F-4D97-AF65-F5344CB8AC3E}">
        <p14:creationId xmlns:p14="http://schemas.microsoft.com/office/powerpoint/2010/main" val="879240458"/>
      </p:ext>
    </p:extLst>
  </p:cSld>
  <p:clrMapOvr>
    <a:masterClrMapping/>
  </p:clrMapOvr>
</p:sld>
</file>

<file path=ppt/theme/theme1.xml><?xml version="1.0" encoding="utf-8"?>
<a:theme xmlns:a="http://schemas.openxmlformats.org/drawingml/2006/main" name="UU theme WHIT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51517022-6A04-3047-861F-6202F67E6C4C}"/>
    </a:ext>
  </a:extLst>
</a:theme>
</file>

<file path=ppt/theme/theme2.xml><?xml version="1.0" encoding="utf-8"?>
<a:theme xmlns:a="http://schemas.openxmlformats.org/drawingml/2006/main" name="UU theme LIGHT GREY">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06400D09-BFF6-9D49-A0E5-E1E12BD6C29E}"/>
    </a:ext>
  </a:extLst>
</a:theme>
</file>

<file path=ppt/theme/theme3.xml><?xml version="1.0" encoding="utf-8"?>
<a:theme xmlns:a="http://schemas.openxmlformats.org/drawingml/2006/main" name="UU theme DARK GREY (NB: for the Humanities Theatr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B4C2C5B9-C070-F341-A63E-5A627FE14C0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UU theme WHITE</Template>
  <TotalTime>1439</TotalTime>
  <Words>406</Words>
  <Application>Microsoft Macintosh PowerPoint</Application>
  <PresentationFormat>Widescreen</PresentationFormat>
  <Paragraphs>88</Paragraphs>
  <Slides>11</Slides>
  <Notes>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11</vt:i4>
      </vt:variant>
    </vt:vector>
  </HeadingPairs>
  <TitlesOfParts>
    <vt:vector size="20" baseType="lpstr">
      <vt:lpstr>Cambria Math</vt:lpstr>
      <vt:lpstr>Calibri</vt:lpstr>
      <vt:lpstr>Work Sans</vt:lpstr>
      <vt:lpstr>Work Sans SemiBold</vt:lpstr>
      <vt:lpstr>Arial</vt:lpstr>
      <vt:lpstr>Work Sans Medium</vt:lpstr>
      <vt:lpstr>UU theme WHITE</vt:lpstr>
      <vt:lpstr>UU theme LIGHT GREY</vt:lpstr>
      <vt:lpstr>UU theme DARK GREY (NB: for the Humanities Theatre)</vt:lpstr>
      <vt:lpstr>Tutorial: Must-Know Basics for Machine Learning</vt:lpstr>
      <vt:lpstr>Objective and Learning Outcome</vt:lpstr>
      <vt:lpstr>Jupyter notebook Installation</vt:lpstr>
      <vt:lpstr>Introduction to Machine Learning</vt:lpstr>
      <vt:lpstr>Key Components of ML</vt:lpstr>
      <vt:lpstr>Data</vt:lpstr>
      <vt:lpstr>Dataset</vt:lpstr>
      <vt:lpstr>Metrics</vt:lpstr>
      <vt:lpstr>Python Ecosystem for Machine Learning</vt:lpstr>
      <vt:lpstr>Hands-on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Sourasekhar Banerjee</dc:creator>
  <cp:lastModifiedBy>Sourasekhar Banerjee</cp:lastModifiedBy>
  <cp:revision>7</cp:revision>
  <dcterms:created xsi:type="dcterms:W3CDTF">2025-01-22T15:13:48Z</dcterms:created>
  <dcterms:modified xsi:type="dcterms:W3CDTF">2026-01-29T00:07:16Z</dcterms:modified>
</cp:coreProperties>
</file>