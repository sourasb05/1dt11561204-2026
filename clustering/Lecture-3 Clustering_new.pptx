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50" r:id="rId1"/>
    <p:sldMasterId id="2147483666" r:id="rId2"/>
    <p:sldMasterId id="2147483678" r:id="rId3"/>
  </p:sldMasterIdLst>
  <p:notesMasterIdLst>
    <p:notesMasterId r:id="rId50"/>
  </p:notesMasterIdLst>
  <p:sldIdLst>
    <p:sldId id="262" r:id="rId4"/>
    <p:sldId id="263" r:id="rId5"/>
    <p:sldId id="264" r:id="rId6"/>
    <p:sldId id="265" r:id="rId7"/>
    <p:sldId id="266" r:id="rId8"/>
    <p:sldId id="268" r:id="rId9"/>
    <p:sldId id="298" r:id="rId10"/>
    <p:sldId id="269" r:id="rId11"/>
    <p:sldId id="274" r:id="rId12"/>
    <p:sldId id="270" r:id="rId13"/>
    <p:sldId id="267" r:id="rId14"/>
    <p:sldId id="275" r:id="rId15"/>
    <p:sldId id="271" r:id="rId16"/>
    <p:sldId id="272" r:id="rId17"/>
    <p:sldId id="273" r:id="rId18"/>
    <p:sldId id="276" r:id="rId19"/>
    <p:sldId id="277" r:id="rId20"/>
    <p:sldId id="278" r:id="rId21"/>
    <p:sldId id="279" r:id="rId22"/>
    <p:sldId id="280" r:id="rId23"/>
    <p:sldId id="281" r:id="rId24"/>
    <p:sldId id="282" r:id="rId25"/>
    <p:sldId id="283" r:id="rId26"/>
    <p:sldId id="284" r:id="rId27"/>
    <p:sldId id="285" r:id="rId28"/>
    <p:sldId id="286" r:id="rId29"/>
    <p:sldId id="292" r:id="rId30"/>
    <p:sldId id="288" r:id="rId31"/>
    <p:sldId id="289" r:id="rId32"/>
    <p:sldId id="290" r:id="rId33"/>
    <p:sldId id="291" r:id="rId34"/>
    <p:sldId id="294" r:id="rId35"/>
    <p:sldId id="295" r:id="rId36"/>
    <p:sldId id="299" r:id="rId37"/>
    <p:sldId id="300" r:id="rId38"/>
    <p:sldId id="301" r:id="rId39"/>
    <p:sldId id="307" r:id="rId40"/>
    <p:sldId id="302" r:id="rId41"/>
    <p:sldId id="303" r:id="rId42"/>
    <p:sldId id="308" r:id="rId43"/>
    <p:sldId id="309" r:id="rId44"/>
    <p:sldId id="310" r:id="rId45"/>
    <p:sldId id="296" r:id="rId46"/>
    <p:sldId id="297" r:id="rId47"/>
    <p:sldId id="311" r:id="rId48"/>
    <p:sldId id="312" r:id="rId49"/>
  </p:sldIdLst>
  <p:sldSz cx="12192000" cy="6858000"/>
  <p:notesSz cx="6858000" cy="9144000"/>
  <p:embeddedFontLst>
    <p:embeddedFont>
      <p:font typeface="Cambria Math" panose="02040503050406030204" pitchFamily="18" charset="0"/>
      <p:regular r:id="rId51"/>
    </p:embeddedFont>
    <p:embeddedFont>
      <p:font typeface="Nunito" pitchFamily="2" charset="77"/>
      <p:regular r:id="rId52"/>
      <p:bold r:id="rId53"/>
      <p:italic r:id="rId54"/>
      <p:boldItalic r:id="rId55"/>
    </p:embeddedFont>
    <p:embeddedFont>
      <p:font typeface="Work Sans" pitchFamily="2" charset="77"/>
      <p:regular r:id="rId56"/>
      <p:italic r:id="rId57"/>
    </p:embeddedFont>
    <p:embeddedFont>
      <p:font typeface="Work Sans Medium" pitchFamily="2" charset="77"/>
      <p:regular r:id="rId58"/>
      <p:italic r:id="rId59"/>
    </p:embeddedFont>
    <p:embeddedFont>
      <p:font typeface="Work Sans SemiBold" pitchFamily="2" charset="77"/>
      <p:regular r:id="rId60"/>
      <p:bold r:id="rId61"/>
      <p:italic r:id="rId62"/>
      <p:boldItalic r:id="rId6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guide id="4" pos="597" userDrawn="1">
          <p15:clr>
            <a:srgbClr val="A4A3A4"/>
          </p15:clr>
        </p15:guide>
        <p15:guide id="5" pos="3273" userDrawn="1">
          <p15:clr>
            <a:srgbClr val="A4A3A4"/>
          </p15:clr>
        </p15:guide>
        <p15:guide id="6" pos="3500" userDrawn="1">
          <p15:clr>
            <a:srgbClr val="A4A3A4"/>
          </p15:clr>
        </p15:guide>
        <p15:guide id="7" pos="6153" userDrawn="1">
          <p15:clr>
            <a:srgbClr val="A4A3A4"/>
          </p15:clr>
        </p15:guide>
        <p15:guide id="8"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58"/>
    <p:restoredTop sz="89553"/>
  </p:normalViewPr>
  <p:slideViewPr>
    <p:cSldViewPr snapToGrid="0" showGuides="1">
      <p:cViewPr varScale="1">
        <p:scale>
          <a:sx n="109" d="100"/>
          <a:sy n="109" d="100"/>
        </p:scale>
        <p:origin x="200" y="864"/>
      </p:cViewPr>
      <p:guideLst>
        <p:guide orient="horz" pos="2160"/>
        <p:guide pos="3840"/>
        <p:guide orient="horz" pos="1344"/>
        <p:guide pos="597"/>
        <p:guide pos="3273"/>
        <p:guide pos="3500"/>
        <p:guide pos="6153"/>
        <p:guide orient="horz" pos="1026"/>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font" Target="fonts/font13.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font" Target="fonts/font11.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6.fntdata"/><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font" Target="fonts/font1.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9.fntdata"/><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7.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67863-098D-7443-8C24-5FBC4AB783A3}" type="datetimeFigureOut">
              <a:t>2/15/26</a:t>
            </a:fld>
            <a:endParaRPr lang="en-GB"/>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GB"/>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31592-3C66-914C-8F2B-350F777116DA}" type="slidenum">
              <a:t>‹#›</a:t>
            </a:fld>
            <a:endParaRPr lang="en-GB"/>
          </a:p>
        </p:txBody>
      </p:sp>
    </p:spTree>
    <p:extLst>
      <p:ext uri="{BB962C8B-B14F-4D97-AF65-F5344CB8AC3E}">
        <p14:creationId xmlns:p14="http://schemas.microsoft.com/office/powerpoint/2010/main" val="35677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GB"/>
          </a:p>
        </p:txBody>
      </p:sp>
      <p:sp>
        <p:nvSpPr>
          <p:cNvPr id="4" name="Platshållare för bildnummer 3"/>
          <p:cNvSpPr>
            <a:spLocks noGrp="1"/>
          </p:cNvSpPr>
          <p:nvPr>
            <p:ph type="sldNum" sz="quarter" idx="5"/>
          </p:nvPr>
        </p:nvSpPr>
        <p:spPr/>
        <p:txBody>
          <a:bodyPr/>
          <a:lstStyle/>
          <a:p>
            <a:fld id="{FAD31592-3C66-914C-8F2B-350F777116DA}" type="slidenum">
              <a:t>1</a:t>
            </a:fld>
            <a:endParaRPr lang="en-GB"/>
          </a:p>
        </p:txBody>
      </p:sp>
    </p:spTree>
    <p:extLst>
      <p:ext uri="{BB962C8B-B14F-4D97-AF65-F5344CB8AC3E}">
        <p14:creationId xmlns:p14="http://schemas.microsoft.com/office/powerpoint/2010/main" val="294432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 </a:t>
            </a:r>
            <a:r>
              <a:rPr lang="en-US" b="1" dirty="0"/>
              <a:t>"globular"</a:t>
            </a:r>
            <a:r>
              <a:rPr lang="en-US" dirty="0"/>
              <a:t> refers to the </a:t>
            </a:r>
            <a:r>
              <a:rPr lang="en-US" b="1" dirty="0"/>
              <a:t>shape of clusters</a:t>
            </a:r>
            <a:r>
              <a:rPr lang="en-US" dirty="0"/>
              <a:t>, meaning </a:t>
            </a:r>
            <a:r>
              <a:rPr lang="en-US" b="1" dirty="0"/>
              <a:t>spherical or compact</a:t>
            </a:r>
            <a:r>
              <a:rPr lang="en-US" dirty="0"/>
              <a:t> clusters. In clustering, a </a:t>
            </a:r>
            <a:r>
              <a:rPr lang="en-US" b="1" dirty="0"/>
              <a:t>globular cluster</a:t>
            </a:r>
            <a:r>
              <a:rPr lang="en-US" dirty="0"/>
              <a:t> is one where the data points are grouped closely around a central point, resembling a sphere (or hypersphere in higher dimensions)</a:t>
            </a:r>
          </a:p>
        </p:txBody>
      </p:sp>
      <p:sp>
        <p:nvSpPr>
          <p:cNvPr id="4" name="Slide Number Placeholder 3"/>
          <p:cNvSpPr>
            <a:spLocks noGrp="1"/>
          </p:cNvSpPr>
          <p:nvPr>
            <p:ph type="sldNum" sz="quarter" idx="5"/>
          </p:nvPr>
        </p:nvSpPr>
        <p:spPr/>
        <p:txBody>
          <a:bodyPr/>
          <a:lstStyle/>
          <a:p>
            <a:fld id="{FAD31592-3C66-914C-8F2B-350F777116DA}" type="slidenum">
              <a:rPr lang="en-US" smtClean="0"/>
              <a:t>24</a:t>
            </a:fld>
            <a:endParaRPr lang="en-US"/>
          </a:p>
        </p:txBody>
      </p:sp>
    </p:spTree>
    <p:extLst>
      <p:ext uri="{BB962C8B-B14F-4D97-AF65-F5344CB8AC3E}">
        <p14:creationId xmlns:p14="http://schemas.microsoft.com/office/powerpoint/2010/main" val="2642181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25</a:t>
            </a:fld>
            <a:endParaRPr lang="en-US"/>
          </a:p>
        </p:txBody>
      </p:sp>
    </p:spTree>
    <p:extLst>
      <p:ext uri="{BB962C8B-B14F-4D97-AF65-F5344CB8AC3E}">
        <p14:creationId xmlns:p14="http://schemas.microsoft.com/office/powerpoint/2010/main" val="1570036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30</a:t>
            </a:fld>
            <a:endParaRPr lang="en-US"/>
          </a:p>
        </p:txBody>
      </p:sp>
    </p:spTree>
    <p:extLst>
      <p:ext uri="{BB962C8B-B14F-4D97-AF65-F5344CB8AC3E}">
        <p14:creationId xmlns:p14="http://schemas.microsoft.com/office/powerpoint/2010/main" val="35971745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23459167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63441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12190791"/>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759083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913489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US" noProof="0"/>
              <a:t>Click to edit Master text styles</a:t>
            </a:r>
          </a:p>
        </p:txBody>
      </p:sp>
    </p:spTree>
    <p:extLst>
      <p:ext uri="{BB962C8B-B14F-4D97-AF65-F5344CB8AC3E}">
        <p14:creationId xmlns:p14="http://schemas.microsoft.com/office/powerpoint/2010/main" val="2663736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US" noProof="0"/>
              <a:t>Click icon to add picture</a:t>
            </a:r>
            <a:endParaRPr lang="en-GB" noProof="0"/>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727522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2131801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98802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US" noProof="0"/>
              <a:t>Click icon to add picture</a:t>
            </a:r>
            <a:endParaRPr lang="en-GB" noProof="0"/>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292568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215728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paring your presentation">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73512C92-439E-A01A-D5DD-EECE63EE9B11}"/>
              </a:ext>
            </a:extLst>
          </p:cNvPr>
          <p:cNvSpPr txBox="1"/>
          <p:nvPr userDrawn="1"/>
        </p:nvSpPr>
        <p:spPr>
          <a:xfrm>
            <a:off x="947738" y="2544623"/>
            <a:ext cx="4559299"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The presentation is a visual aid and will be better if the written information is brief and punchy</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Use the presentation to illustrate your message – use figures, quotes, etc.</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Cues and bullet points are often useful</a:t>
            </a:r>
          </a:p>
        </p:txBody>
      </p:sp>
      <p:sp>
        <p:nvSpPr>
          <p:cNvPr id="7" name="textruta 6">
            <a:extLst>
              <a:ext uri="{FF2B5EF4-FFF2-40B4-BE49-F238E27FC236}">
                <a16:creationId xmlns:a16="http://schemas.microsoft.com/office/drawing/2014/main" id="{A3F9ED89-B1B8-9C3C-C691-E42F30F9DFE9}"/>
              </a:ext>
            </a:extLst>
          </p:cNvPr>
          <p:cNvSpPr txBox="1"/>
          <p:nvPr userDrawn="1"/>
        </p:nvSpPr>
        <p:spPr>
          <a:xfrm>
            <a:off x="6084515" y="2544623"/>
            <a:ext cx="4637273"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Choose images/photos carefully – the right picture reinforces the message, the wrong one spoils it</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If you can’t make a coherent slide, skip it – explain in your own words instead </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Keep the presentation short. Talk instead</a:t>
            </a:r>
          </a:p>
        </p:txBody>
      </p:sp>
      <p:sp>
        <p:nvSpPr>
          <p:cNvPr id="8" name="textruta 7">
            <a:extLst>
              <a:ext uri="{FF2B5EF4-FFF2-40B4-BE49-F238E27FC236}">
                <a16:creationId xmlns:a16="http://schemas.microsoft.com/office/drawing/2014/main" id="{FFB6DB86-71A6-8FB0-0835-66FC238AC4B9}"/>
              </a:ext>
            </a:extLst>
          </p:cNvPr>
          <p:cNvSpPr txBox="1"/>
          <p:nvPr userDrawn="1"/>
        </p:nvSpPr>
        <p:spPr>
          <a:xfrm>
            <a:off x="947738" y="1890199"/>
            <a:ext cx="4559299" cy="361637"/>
          </a:xfrm>
          <a:prstGeom prst="rect">
            <a:avLst/>
          </a:prstGeom>
          <a:noFill/>
        </p:spPr>
        <p:txBody>
          <a:bodyPr wrap="square" rtlCol="0">
            <a:spAutoFit/>
          </a:bodyPr>
          <a:lstStyle/>
          <a:p>
            <a:pPr lvl="0">
              <a:lnSpc>
                <a:spcPts val="2120"/>
              </a:lnSpc>
              <a:spcBef>
                <a:spcPts val="300"/>
              </a:spcBef>
            </a:pPr>
            <a:r>
              <a:rPr lang="en-GB" kern="100" noProof="0">
                <a:effectLst/>
                <a:latin typeface="Work Sans" pitchFamily="2" charset="77"/>
                <a:ea typeface="Calibri" panose="020F0502020204030204" pitchFamily="34" charset="0"/>
                <a:cs typeface="Times New Roman" panose="02020603050405020304" pitchFamily="18" charset="0"/>
              </a:rPr>
              <a:t>Bear in mind:</a:t>
            </a:r>
          </a:p>
        </p:txBody>
      </p:sp>
      <p:sp>
        <p:nvSpPr>
          <p:cNvPr id="9" name="textruta 8">
            <a:extLst>
              <a:ext uri="{FF2B5EF4-FFF2-40B4-BE49-F238E27FC236}">
                <a16:creationId xmlns:a16="http://schemas.microsoft.com/office/drawing/2014/main" id="{A24D50C7-2824-5A60-8126-6E551E176684}"/>
              </a:ext>
            </a:extLst>
          </p:cNvPr>
          <p:cNvSpPr txBox="1"/>
          <p:nvPr userDrawn="1"/>
        </p:nvSpPr>
        <p:spPr>
          <a:xfrm>
            <a:off x="947738" y="899447"/>
            <a:ext cx="7774921" cy="579646"/>
          </a:xfrm>
          <a:prstGeom prst="rect">
            <a:avLst/>
          </a:prstGeom>
          <a:noFill/>
        </p:spPr>
        <p:txBody>
          <a:bodyPr wrap="square" rtlCol="0">
            <a:spAutoFit/>
          </a:bodyPr>
          <a:lstStyle/>
          <a:p>
            <a:pPr lvl="0">
              <a:lnSpc>
                <a:spcPts val="3840"/>
              </a:lnSpc>
            </a:pPr>
            <a:r>
              <a:rPr lang="en-GB" sz="3200" kern="100" noProof="0">
                <a:effectLst/>
                <a:latin typeface="Work Sans" pitchFamily="2" charset="77"/>
                <a:ea typeface="Calibri" panose="020F0502020204030204" pitchFamily="34" charset="0"/>
                <a:cs typeface="Times New Roman" panose="02020603050405020304" pitchFamily="18" charset="0"/>
              </a:rPr>
              <a:t>Preparing your presentation</a:t>
            </a:r>
          </a:p>
        </p:txBody>
      </p:sp>
    </p:spTree>
    <p:extLst>
      <p:ext uri="{BB962C8B-B14F-4D97-AF65-F5344CB8AC3E}">
        <p14:creationId xmlns:p14="http://schemas.microsoft.com/office/powerpoint/2010/main" val="134574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8EB50238-E622-CC4D-E865-CA7D7EF35C9E}"/>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46DB352F-69A9-1E92-AAD7-901A1A1F9054}"/>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2013/2016.</a:t>
            </a:r>
          </a:p>
        </p:txBody>
      </p:sp>
      <p:sp>
        <p:nvSpPr>
          <p:cNvPr id="8" name="textruta 7">
            <a:extLst>
              <a:ext uri="{FF2B5EF4-FFF2-40B4-BE49-F238E27FC236}">
                <a16:creationId xmlns:a16="http://schemas.microsoft.com/office/drawing/2014/main" id="{DA13882F-AF79-0DD9-0229-90F3341A13E5}"/>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4DBAB48A-0207-EBBB-5144-24A47388C7DA}"/>
              </a:ext>
            </a:extLst>
          </p:cNvPr>
          <p:cNvSpPr txBox="1"/>
          <p:nvPr userDrawn="1"/>
        </p:nvSpPr>
        <p:spPr>
          <a:xfrm>
            <a:off x="5549719" y="2600794"/>
            <a:ext cx="4234721" cy="3554819"/>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an object in the file.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Choosing the "Format" tab that appears on the right side of the ribbon.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"Selection Pane" in the "Arrange" group.</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one or more objects in the list.</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selection upward or downward, or clicking the "Up" button.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32D64C20-E0EC-50ED-8276-1342580DEAE9}"/>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E6A6CDBB-9355-D585-CAEB-E68FDC04C402}"/>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350348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0A51E754-9C7A-11C0-D983-A8276233FD20}"/>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9AB3E6E3-4894-429E-071D-F50345A149E8}"/>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365 or Office 2019.</a:t>
            </a:r>
          </a:p>
        </p:txBody>
      </p:sp>
      <p:sp>
        <p:nvSpPr>
          <p:cNvPr id="8" name="textruta 7">
            <a:extLst>
              <a:ext uri="{FF2B5EF4-FFF2-40B4-BE49-F238E27FC236}">
                <a16:creationId xmlns:a16="http://schemas.microsoft.com/office/drawing/2014/main" id="{37E57577-6FE9-C8F8-56EA-64EB95087ADD}"/>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784D433E-62E1-750A-6876-97EF3EB623C3}"/>
              </a:ext>
            </a:extLst>
          </p:cNvPr>
          <p:cNvSpPr txBox="1"/>
          <p:nvPr userDrawn="1"/>
        </p:nvSpPr>
        <p:spPr>
          <a:xfrm>
            <a:off x="5549719" y="2600794"/>
            <a:ext cx="4234721" cy="2708434"/>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On the </a:t>
            </a:r>
            <a:r>
              <a:rPr lang="en-GB" sz="1000" i="1" noProof="0">
                <a:latin typeface="Work Sans" pitchFamily="2" charset="77"/>
              </a:rPr>
              <a:t>Home</a:t>
            </a:r>
            <a:r>
              <a:rPr lang="en-GB" sz="1000" noProof="0">
                <a:latin typeface="Work Sans" pitchFamily="2" charset="77"/>
              </a:rPr>
              <a:t> tab, select </a:t>
            </a:r>
            <a:r>
              <a:rPr lang="en-GB" sz="1000" i="1" noProof="0">
                <a:latin typeface="Work Sans" pitchFamily="2" charset="77"/>
              </a:rPr>
              <a:t>Arrange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From the </a:t>
            </a:r>
            <a:r>
              <a:rPr lang="en-GB" sz="1000" i="1" noProof="0">
                <a:latin typeface="Work Sans" pitchFamily="2" charset="77"/>
              </a:rPr>
              <a:t>Arrange </a:t>
            </a:r>
            <a:r>
              <a:rPr lang="en-GB" sz="1000" noProof="0">
                <a:latin typeface="Work Sans" pitchFamily="2" charset="77"/>
              </a:rPr>
              <a:t>menu, choose "Selection Pane.“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A tab will open on the right side of the window. Drag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428F5CB4-3C8B-C8B1-437D-FEBDF5863F8A}"/>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DD22A84C-EFA4-C49C-D348-83942967797F}"/>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152822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EDEDED"/>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12215714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3914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664417730"/>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07983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86826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2593814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988817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294288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432607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10526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4495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BFBFBF"/>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91058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6845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658302844"/>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672001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45554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1848961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2040206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1318472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962458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15/02/2026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9849280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5188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15/02/2026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3426821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5" r:id="rId12"/>
    <p:sldLayoutId id="2147483663" r:id="rId13"/>
    <p:sldLayoutId id="2147483664" r:id="rId14"/>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EDED"/>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15/02/2026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319938482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FBFBF"/>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15/02/2026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680173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05358F1-922A-C7F3-A6E9-0F6221082D49}"/>
              </a:ext>
            </a:extLst>
          </p:cNvPr>
          <p:cNvSpPr>
            <a:spLocks noGrp="1"/>
          </p:cNvSpPr>
          <p:nvPr>
            <p:ph type="ctrTitle"/>
          </p:nvPr>
        </p:nvSpPr>
        <p:spPr>
          <a:xfrm>
            <a:off x="1695855" y="3109419"/>
            <a:ext cx="8798701" cy="1654175"/>
          </a:xfrm>
        </p:spPr>
        <p:txBody>
          <a:bodyPr/>
          <a:lstStyle/>
          <a:p>
            <a:r>
              <a:rPr lang="en-GB" dirty="0">
                <a:latin typeface="+mj-lt"/>
              </a:rPr>
              <a:t>Unsupervised Learning: </a:t>
            </a:r>
            <a:br>
              <a:rPr lang="en-GB" dirty="0">
                <a:latin typeface="+mj-lt"/>
              </a:rPr>
            </a:br>
            <a:r>
              <a:rPr lang="en-GB" dirty="0">
                <a:latin typeface="+mj-lt"/>
              </a:rPr>
              <a:t>Clustering</a:t>
            </a:r>
          </a:p>
        </p:txBody>
      </p:sp>
      <p:sp>
        <p:nvSpPr>
          <p:cNvPr id="3" name="Underrubrik 2">
            <a:extLst>
              <a:ext uri="{FF2B5EF4-FFF2-40B4-BE49-F238E27FC236}">
                <a16:creationId xmlns:a16="http://schemas.microsoft.com/office/drawing/2014/main" id="{10AEE97D-FBCF-C7E2-AC97-1B5EB152B3E6}"/>
              </a:ext>
            </a:extLst>
          </p:cNvPr>
          <p:cNvSpPr>
            <a:spLocks noGrp="1"/>
          </p:cNvSpPr>
          <p:nvPr>
            <p:ph type="subTitle" idx="1"/>
          </p:nvPr>
        </p:nvSpPr>
        <p:spPr/>
        <p:txBody>
          <a:bodyPr/>
          <a:lstStyle/>
          <a:p>
            <a:r>
              <a:rPr lang="en-GB" dirty="0" err="1">
                <a:latin typeface="+mn-lt"/>
              </a:rPr>
              <a:t>Dr.</a:t>
            </a:r>
            <a:r>
              <a:rPr lang="en-GB" dirty="0">
                <a:latin typeface="+mn-lt"/>
              </a:rPr>
              <a:t> Sourasekhar Banerjee (Ph.D.)</a:t>
            </a:r>
          </a:p>
        </p:txBody>
      </p:sp>
    </p:spTree>
    <p:extLst>
      <p:ext uri="{BB962C8B-B14F-4D97-AF65-F5344CB8AC3E}">
        <p14:creationId xmlns:p14="http://schemas.microsoft.com/office/powerpoint/2010/main" val="3407965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38F2919-2991-D02F-FB06-1F4EAB2A55E0}"/>
              </a:ext>
            </a:extLst>
          </p:cNvPr>
          <p:cNvSpPr>
            <a:spLocks noGrp="1"/>
          </p:cNvSpPr>
          <p:nvPr>
            <p:ph type="title"/>
          </p:nvPr>
        </p:nvSpPr>
        <p:spPr/>
        <p:txBody>
          <a:bodyPr/>
          <a:lstStyle/>
          <a:p>
            <a:r>
              <a:rPr lang="en-GB" dirty="0">
                <a:latin typeface="+mj-lt"/>
              </a:rPr>
              <a:t>Intended Learning Outcome</a:t>
            </a:r>
          </a:p>
        </p:txBody>
      </p:sp>
      <p:sp>
        <p:nvSpPr>
          <p:cNvPr id="3" name="Platshållare för innehåll 2">
            <a:extLst>
              <a:ext uri="{FF2B5EF4-FFF2-40B4-BE49-F238E27FC236}">
                <a16:creationId xmlns:a16="http://schemas.microsoft.com/office/drawing/2014/main" id="{66B1E56E-D645-D1CC-B120-5A691FEC5592}"/>
              </a:ext>
            </a:extLst>
          </p:cNvPr>
          <p:cNvSpPr>
            <a:spLocks noGrp="1"/>
          </p:cNvSpPr>
          <p:nvPr>
            <p:ph sz="quarter" idx="13"/>
          </p:nvPr>
        </p:nvSpPr>
        <p:spPr/>
        <p:txBody>
          <a:bodyPr/>
          <a:lstStyle/>
          <a:p>
            <a:pPr rtl="0" fontAlgn="base">
              <a:buFont typeface="Arial" panose="020B0604020202020204" pitchFamily="34" charset="0"/>
              <a:buChar char="•"/>
            </a:pPr>
            <a:r>
              <a:rPr lang="en-US" sz="2800" b="0" i="0" u="none" strike="noStrike" dirty="0">
                <a:solidFill>
                  <a:srgbClr val="525252"/>
                </a:solidFill>
                <a:effectLst/>
                <a:latin typeface="+mn-lt"/>
              </a:rPr>
              <a:t>Understand the meaning of clustering</a:t>
            </a:r>
          </a:p>
          <a:p>
            <a:pPr marL="0" indent="0" rtl="0" fontAlgn="base">
              <a:buNone/>
            </a:pPr>
            <a:endParaRPr lang="en-US" sz="2800" b="0" i="0" u="none" strike="noStrike" dirty="0">
              <a:solidFill>
                <a:srgbClr val="525252"/>
              </a:solidFill>
              <a:effectLst/>
              <a:latin typeface="+mn-lt"/>
            </a:endParaRPr>
          </a:p>
          <a:p>
            <a:pPr rtl="0" fontAlgn="base">
              <a:buFont typeface="Arial" panose="020B0604020202020204" pitchFamily="34" charset="0"/>
              <a:buChar char="•"/>
            </a:pPr>
            <a:r>
              <a:rPr lang="en-US" sz="2800" b="0" i="0" u="none" strike="noStrike" dirty="0">
                <a:solidFill>
                  <a:srgbClr val="525252"/>
                </a:solidFill>
                <a:effectLst/>
                <a:latin typeface="+mn-lt"/>
              </a:rPr>
              <a:t>Understand why we cluster data</a:t>
            </a:r>
          </a:p>
          <a:p>
            <a:pPr marL="0" indent="0" rtl="0" fontAlgn="base">
              <a:buNone/>
            </a:pPr>
            <a:endParaRPr lang="en-US" sz="2800" b="0" i="0" u="none" strike="noStrike" dirty="0">
              <a:solidFill>
                <a:srgbClr val="525252"/>
              </a:solidFill>
              <a:effectLst/>
              <a:latin typeface="+mn-lt"/>
            </a:endParaRPr>
          </a:p>
          <a:p>
            <a:pPr rtl="0" fontAlgn="base">
              <a:lnSpc>
                <a:spcPct val="100000"/>
              </a:lnSpc>
              <a:buFont typeface="Arial" panose="020B0604020202020204" pitchFamily="34" charset="0"/>
              <a:buChar char="•"/>
            </a:pPr>
            <a:r>
              <a:rPr lang="en-US" sz="2800" b="0" i="0" u="none" strike="noStrike" dirty="0">
                <a:solidFill>
                  <a:srgbClr val="525252"/>
                </a:solidFill>
                <a:effectLst/>
                <a:latin typeface="+mn-lt"/>
              </a:rPr>
              <a:t>Understand clustering algorithms (K-Means, K-Means++, DBSCAN, Hierarchical)</a:t>
            </a:r>
          </a:p>
          <a:p>
            <a:pPr marL="0" indent="0" rtl="0" fontAlgn="base">
              <a:buNone/>
            </a:pPr>
            <a:endParaRPr lang="en-US" sz="2400" dirty="0">
              <a:solidFill>
                <a:srgbClr val="525252"/>
              </a:solidFill>
              <a:latin typeface="+mn-lt"/>
            </a:endParaRPr>
          </a:p>
          <a:p>
            <a:pPr marL="0" indent="0" rtl="0" fontAlgn="base">
              <a:buNone/>
            </a:pPr>
            <a:br>
              <a:rPr lang="en-US" sz="2400" b="0" dirty="0">
                <a:effectLst/>
                <a:latin typeface="+mn-lt"/>
              </a:rPr>
            </a:br>
            <a:endParaRPr lang="en-GB" sz="2400" dirty="0">
              <a:latin typeface="+mn-lt"/>
            </a:endParaRPr>
          </a:p>
        </p:txBody>
      </p:sp>
    </p:spTree>
    <p:extLst>
      <p:ext uri="{BB962C8B-B14F-4D97-AF65-F5344CB8AC3E}">
        <p14:creationId xmlns:p14="http://schemas.microsoft.com/office/powerpoint/2010/main" val="3956364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1E1BB-A71D-06D4-4D16-23FFD6517EE0}"/>
              </a:ext>
            </a:extLst>
          </p:cNvPr>
          <p:cNvSpPr>
            <a:spLocks noGrp="1"/>
          </p:cNvSpPr>
          <p:nvPr>
            <p:ph type="title"/>
          </p:nvPr>
        </p:nvSpPr>
        <p:spPr/>
        <p:txBody>
          <a:bodyPr/>
          <a:lstStyle/>
          <a:p>
            <a:r>
              <a:rPr lang="en-US" dirty="0">
                <a:latin typeface="+mj-lt"/>
              </a:rPr>
              <a:t>Supervised vs Unsupervised</a:t>
            </a:r>
          </a:p>
        </p:txBody>
      </p:sp>
      <p:sp>
        <p:nvSpPr>
          <p:cNvPr id="3" name="Content Placeholder 2">
            <a:extLst>
              <a:ext uri="{FF2B5EF4-FFF2-40B4-BE49-F238E27FC236}">
                <a16:creationId xmlns:a16="http://schemas.microsoft.com/office/drawing/2014/main" id="{F89985BB-4154-FB46-CFB5-B1D56D24338E}"/>
              </a:ext>
            </a:extLst>
          </p:cNvPr>
          <p:cNvSpPr>
            <a:spLocks noGrp="1"/>
          </p:cNvSpPr>
          <p:nvPr>
            <p:ph sz="quarter" idx="13"/>
          </p:nvPr>
        </p:nvSpPr>
        <p:spPr>
          <a:xfrm>
            <a:off x="947738" y="1776413"/>
            <a:ext cx="3919984" cy="4749078"/>
          </a:xfrm>
        </p:spPr>
        <p:txBody>
          <a:bodyPr/>
          <a:lstStyle/>
          <a:p>
            <a:r>
              <a:rPr lang="en-US" sz="2400" b="1" dirty="0">
                <a:latin typeface="+mn-lt"/>
              </a:rPr>
              <a:t>Supervised Learning</a:t>
            </a:r>
            <a:r>
              <a:rPr lang="en-US" sz="2400" dirty="0">
                <a:latin typeface="+mn-lt"/>
              </a:rPr>
              <a:t> requires labeled data → Used for </a:t>
            </a:r>
            <a:r>
              <a:rPr lang="en-US" sz="2400" b="1" dirty="0">
                <a:latin typeface="+mn-lt"/>
              </a:rPr>
              <a:t>prediction</a:t>
            </a:r>
            <a:r>
              <a:rPr lang="en-US" sz="2400" dirty="0">
                <a:latin typeface="+mn-lt"/>
              </a:rPr>
              <a:t>.</a:t>
            </a:r>
          </a:p>
          <a:p>
            <a:endParaRPr lang="en-US" sz="2400" b="1" dirty="0">
              <a:latin typeface="+mn-lt"/>
            </a:endParaRPr>
          </a:p>
          <a:p>
            <a:pPr marL="0" indent="0">
              <a:buNone/>
            </a:pPr>
            <a:endParaRPr lang="en-US" sz="2400" b="1" dirty="0">
              <a:latin typeface="+mn-lt"/>
            </a:endParaRPr>
          </a:p>
          <a:p>
            <a:r>
              <a:rPr lang="en-US" sz="2400" b="1" dirty="0">
                <a:latin typeface="+mn-lt"/>
              </a:rPr>
              <a:t>Unsupervised Learning</a:t>
            </a:r>
            <a:r>
              <a:rPr lang="en-US" sz="2400" dirty="0">
                <a:latin typeface="+mn-lt"/>
              </a:rPr>
              <a:t> works with unlabeled data → Used for </a:t>
            </a:r>
            <a:r>
              <a:rPr lang="en-US" sz="2400" b="1" dirty="0">
                <a:latin typeface="+mn-lt"/>
              </a:rPr>
              <a:t>finding hidden patterns</a:t>
            </a:r>
            <a:r>
              <a:rPr lang="en-US" sz="2400" dirty="0">
                <a:latin typeface="+mn-lt"/>
              </a:rPr>
              <a:t>.</a:t>
            </a:r>
          </a:p>
          <a:p>
            <a:endParaRPr lang="en-US" sz="2400" dirty="0">
              <a:latin typeface="+mn-lt"/>
            </a:endParaRPr>
          </a:p>
        </p:txBody>
      </p:sp>
      <p:graphicFrame>
        <p:nvGraphicFramePr>
          <p:cNvPr id="7" name="Table 6">
            <a:extLst>
              <a:ext uri="{FF2B5EF4-FFF2-40B4-BE49-F238E27FC236}">
                <a16:creationId xmlns:a16="http://schemas.microsoft.com/office/drawing/2014/main" id="{FC0AD402-7AC5-1A08-983D-4168D1F483D3}"/>
              </a:ext>
            </a:extLst>
          </p:cNvPr>
          <p:cNvGraphicFramePr>
            <a:graphicFrameLocks noGrp="1"/>
          </p:cNvGraphicFramePr>
          <p:nvPr>
            <p:extLst>
              <p:ext uri="{D42A27DB-BD31-4B8C-83A1-F6EECF244321}">
                <p14:modId xmlns:p14="http://schemas.microsoft.com/office/powerpoint/2010/main" val="2446628045"/>
              </p:ext>
            </p:extLst>
          </p:nvPr>
        </p:nvGraphicFramePr>
        <p:xfrm>
          <a:off x="4867722" y="2554657"/>
          <a:ext cx="2743200" cy="2489200"/>
        </p:xfrm>
        <a:graphic>
          <a:graphicData uri="http://schemas.openxmlformats.org/drawingml/2006/table">
            <a:tbl>
              <a:tblPr firstRow="1" bandRow="1">
                <a:tableStyleId>{5C22544A-7EE6-4342-B048-85BDC9FD1C3A}</a:tableStyleId>
              </a:tblPr>
              <a:tblGrid>
                <a:gridCol w="1021377">
                  <a:extLst>
                    <a:ext uri="{9D8B030D-6E8A-4147-A177-3AD203B41FA5}">
                      <a16:colId xmlns:a16="http://schemas.microsoft.com/office/drawing/2014/main" val="693002813"/>
                    </a:ext>
                  </a:extLst>
                </a:gridCol>
                <a:gridCol w="1008993">
                  <a:extLst>
                    <a:ext uri="{9D8B030D-6E8A-4147-A177-3AD203B41FA5}">
                      <a16:colId xmlns:a16="http://schemas.microsoft.com/office/drawing/2014/main" val="242793145"/>
                    </a:ext>
                  </a:extLst>
                </a:gridCol>
                <a:gridCol w="712830">
                  <a:extLst>
                    <a:ext uri="{9D8B030D-6E8A-4147-A177-3AD203B41FA5}">
                      <a16:colId xmlns:a16="http://schemas.microsoft.com/office/drawing/2014/main" val="3470101758"/>
                    </a:ext>
                  </a:extLst>
                </a:gridCol>
              </a:tblGrid>
              <a:tr h="370840">
                <a:tc>
                  <a:txBody>
                    <a:bodyPr/>
                    <a:lstStyle/>
                    <a:p>
                      <a:pPr algn="ctr"/>
                      <a:r>
                        <a:rPr lang="en-US" dirty="0">
                          <a:solidFill>
                            <a:schemeClr val="tx1"/>
                          </a:solidFill>
                        </a:rPr>
                        <a:t>Voltage (V)</a:t>
                      </a:r>
                    </a:p>
                  </a:txBody>
                  <a:tcPr/>
                </a:tc>
                <a:tc>
                  <a:txBody>
                    <a:bodyPr/>
                    <a:lstStyle/>
                    <a:p>
                      <a:pPr algn="ctr"/>
                      <a:r>
                        <a:rPr lang="en-US" dirty="0">
                          <a:solidFill>
                            <a:schemeClr val="tx1"/>
                          </a:solidFill>
                        </a:rPr>
                        <a:t>Capacity (Ah)</a:t>
                      </a:r>
                    </a:p>
                  </a:txBody>
                  <a:tcPr/>
                </a:tc>
                <a:tc>
                  <a:txBody>
                    <a:bodyPr/>
                    <a:lstStyle/>
                    <a:p>
                      <a:pPr algn="ctr"/>
                      <a:r>
                        <a:rPr lang="en-US" dirty="0">
                          <a:solidFill>
                            <a:schemeClr val="tx1"/>
                          </a:solidFill>
                        </a:rPr>
                        <a:t>SOH (%)</a:t>
                      </a:r>
                    </a:p>
                  </a:txBody>
                  <a:tcPr/>
                </a:tc>
                <a:extLst>
                  <a:ext uri="{0D108BD9-81ED-4DB2-BD59-A6C34878D82A}">
                    <a16:rowId xmlns:a16="http://schemas.microsoft.com/office/drawing/2014/main" val="4179747928"/>
                  </a:ext>
                </a:extLst>
              </a:tr>
              <a:tr h="370840">
                <a:tc>
                  <a:txBody>
                    <a:bodyPr/>
                    <a:lstStyle/>
                    <a:p>
                      <a:pPr algn="ctr"/>
                      <a:r>
                        <a:rPr lang="en-US" dirty="0"/>
                        <a:t>3.7</a:t>
                      </a:r>
                    </a:p>
                  </a:txBody>
                  <a:tcPr/>
                </a:tc>
                <a:tc>
                  <a:txBody>
                    <a:bodyPr/>
                    <a:lstStyle/>
                    <a:p>
                      <a:pPr algn="ctr"/>
                      <a:r>
                        <a:rPr lang="en-US" dirty="0"/>
                        <a:t>2.0</a:t>
                      </a:r>
                    </a:p>
                  </a:txBody>
                  <a:tcPr/>
                </a:tc>
                <a:tc>
                  <a:txBody>
                    <a:bodyPr/>
                    <a:lstStyle/>
                    <a:p>
                      <a:pPr algn="ctr"/>
                      <a:r>
                        <a:rPr lang="en-US" dirty="0"/>
                        <a:t>H</a:t>
                      </a:r>
                    </a:p>
                  </a:txBody>
                  <a:tcPr/>
                </a:tc>
                <a:extLst>
                  <a:ext uri="{0D108BD9-81ED-4DB2-BD59-A6C34878D82A}">
                    <a16:rowId xmlns:a16="http://schemas.microsoft.com/office/drawing/2014/main" val="656218209"/>
                  </a:ext>
                </a:extLst>
              </a:tr>
              <a:tr h="0">
                <a:tc>
                  <a:txBody>
                    <a:bodyPr/>
                    <a:lstStyle/>
                    <a:p>
                      <a:pPr algn="ctr"/>
                      <a:r>
                        <a:rPr lang="en-US" dirty="0"/>
                        <a:t>4.0</a:t>
                      </a:r>
                    </a:p>
                  </a:txBody>
                  <a:tcPr/>
                </a:tc>
                <a:tc>
                  <a:txBody>
                    <a:bodyPr/>
                    <a:lstStyle/>
                    <a:p>
                      <a:pPr algn="ctr"/>
                      <a:r>
                        <a:rPr lang="en-US" dirty="0"/>
                        <a:t>2.5</a:t>
                      </a:r>
                    </a:p>
                  </a:txBody>
                  <a:tcPr/>
                </a:tc>
                <a:tc>
                  <a:txBody>
                    <a:bodyPr/>
                    <a:lstStyle/>
                    <a:p>
                      <a:pPr algn="ctr"/>
                      <a:r>
                        <a:rPr lang="en-US" dirty="0"/>
                        <a:t>H</a:t>
                      </a:r>
                    </a:p>
                  </a:txBody>
                  <a:tcPr/>
                </a:tc>
                <a:extLst>
                  <a:ext uri="{0D108BD9-81ED-4DB2-BD59-A6C34878D82A}">
                    <a16:rowId xmlns:a16="http://schemas.microsoft.com/office/drawing/2014/main" val="3625293219"/>
                  </a:ext>
                </a:extLst>
              </a:tr>
              <a:tr h="370840">
                <a:tc>
                  <a:txBody>
                    <a:bodyPr/>
                    <a:lstStyle/>
                    <a:p>
                      <a:pPr algn="ctr"/>
                      <a:r>
                        <a:rPr lang="en-US" dirty="0"/>
                        <a:t>3.6</a:t>
                      </a:r>
                    </a:p>
                  </a:txBody>
                  <a:tcPr/>
                </a:tc>
                <a:tc>
                  <a:txBody>
                    <a:bodyPr/>
                    <a:lstStyle/>
                    <a:p>
                      <a:pPr algn="ctr"/>
                      <a:r>
                        <a:rPr lang="en-US" dirty="0"/>
                        <a:t>1.8</a:t>
                      </a:r>
                    </a:p>
                  </a:txBody>
                  <a:tcPr/>
                </a:tc>
                <a:tc>
                  <a:txBody>
                    <a:bodyPr/>
                    <a:lstStyle/>
                    <a:p>
                      <a:pPr algn="ctr"/>
                      <a:r>
                        <a:rPr lang="en-US" dirty="0"/>
                        <a:t>M</a:t>
                      </a:r>
                    </a:p>
                  </a:txBody>
                  <a:tcPr/>
                </a:tc>
                <a:extLst>
                  <a:ext uri="{0D108BD9-81ED-4DB2-BD59-A6C34878D82A}">
                    <a16:rowId xmlns:a16="http://schemas.microsoft.com/office/drawing/2014/main" val="236413360"/>
                  </a:ext>
                </a:extLst>
              </a:tr>
              <a:tr h="370840">
                <a:tc>
                  <a:txBody>
                    <a:bodyPr/>
                    <a:lstStyle/>
                    <a:p>
                      <a:pPr algn="ctr"/>
                      <a:r>
                        <a:rPr lang="en-US" dirty="0"/>
                        <a:t>4.1</a:t>
                      </a:r>
                    </a:p>
                  </a:txBody>
                  <a:tcPr/>
                </a:tc>
                <a:tc>
                  <a:txBody>
                    <a:bodyPr/>
                    <a:lstStyle/>
                    <a:p>
                      <a:pPr algn="ctr"/>
                      <a:r>
                        <a:rPr lang="en-US" dirty="0"/>
                        <a:t>2.7</a:t>
                      </a:r>
                    </a:p>
                  </a:txBody>
                  <a:tcPr/>
                </a:tc>
                <a:tc>
                  <a:txBody>
                    <a:bodyPr/>
                    <a:lstStyle/>
                    <a:p>
                      <a:pPr algn="ctr"/>
                      <a:r>
                        <a:rPr lang="en-US" dirty="0"/>
                        <a:t>L</a:t>
                      </a:r>
                    </a:p>
                  </a:txBody>
                  <a:tcPr/>
                </a:tc>
                <a:extLst>
                  <a:ext uri="{0D108BD9-81ED-4DB2-BD59-A6C34878D82A}">
                    <a16:rowId xmlns:a16="http://schemas.microsoft.com/office/drawing/2014/main" val="3653127789"/>
                  </a:ext>
                </a:extLst>
              </a:tr>
              <a:tr h="370840">
                <a:tc>
                  <a:txBody>
                    <a:bodyPr/>
                    <a:lstStyle/>
                    <a:p>
                      <a:pPr algn="ctr"/>
                      <a:r>
                        <a:rPr lang="en-US" dirty="0"/>
                        <a:t>3.9</a:t>
                      </a:r>
                    </a:p>
                  </a:txBody>
                  <a:tcPr/>
                </a:tc>
                <a:tc>
                  <a:txBody>
                    <a:bodyPr/>
                    <a:lstStyle/>
                    <a:p>
                      <a:pPr algn="ctr"/>
                      <a:r>
                        <a:rPr lang="en-US" dirty="0"/>
                        <a:t>2.2</a:t>
                      </a:r>
                    </a:p>
                  </a:txBody>
                  <a:tcPr/>
                </a:tc>
                <a:tc>
                  <a:txBody>
                    <a:bodyPr/>
                    <a:lstStyle/>
                    <a:p>
                      <a:pPr algn="ctr"/>
                      <a:r>
                        <a:rPr lang="en-US" dirty="0"/>
                        <a:t>L</a:t>
                      </a:r>
                    </a:p>
                  </a:txBody>
                  <a:tcPr/>
                </a:tc>
                <a:extLst>
                  <a:ext uri="{0D108BD9-81ED-4DB2-BD59-A6C34878D82A}">
                    <a16:rowId xmlns:a16="http://schemas.microsoft.com/office/drawing/2014/main" val="2151624937"/>
                  </a:ext>
                </a:extLst>
              </a:tr>
            </a:tbl>
          </a:graphicData>
        </a:graphic>
      </p:graphicFrame>
      <p:graphicFrame>
        <p:nvGraphicFramePr>
          <p:cNvPr id="8" name="Table 7">
            <a:extLst>
              <a:ext uri="{FF2B5EF4-FFF2-40B4-BE49-F238E27FC236}">
                <a16:creationId xmlns:a16="http://schemas.microsoft.com/office/drawing/2014/main" id="{6369DFEB-8B19-63E8-B1F5-C8D8504E2429}"/>
              </a:ext>
            </a:extLst>
          </p:cNvPr>
          <p:cNvGraphicFramePr>
            <a:graphicFrameLocks noGrp="1"/>
          </p:cNvGraphicFramePr>
          <p:nvPr>
            <p:extLst>
              <p:ext uri="{D42A27DB-BD31-4B8C-83A1-F6EECF244321}">
                <p14:modId xmlns:p14="http://schemas.microsoft.com/office/powerpoint/2010/main" val="2741821181"/>
              </p:ext>
            </p:extLst>
          </p:nvPr>
        </p:nvGraphicFramePr>
        <p:xfrm>
          <a:off x="8049491" y="2554657"/>
          <a:ext cx="4003966" cy="2225040"/>
        </p:xfrm>
        <a:graphic>
          <a:graphicData uri="http://schemas.openxmlformats.org/drawingml/2006/table">
            <a:tbl>
              <a:tblPr firstRow="1" bandRow="1">
                <a:tableStyleId>{5C22544A-7EE6-4342-B048-85BDC9FD1C3A}</a:tableStyleId>
              </a:tblPr>
              <a:tblGrid>
                <a:gridCol w="1490799">
                  <a:extLst>
                    <a:ext uri="{9D8B030D-6E8A-4147-A177-3AD203B41FA5}">
                      <a16:colId xmlns:a16="http://schemas.microsoft.com/office/drawing/2014/main" val="693002813"/>
                    </a:ext>
                  </a:extLst>
                </a:gridCol>
                <a:gridCol w="1472722">
                  <a:extLst>
                    <a:ext uri="{9D8B030D-6E8A-4147-A177-3AD203B41FA5}">
                      <a16:colId xmlns:a16="http://schemas.microsoft.com/office/drawing/2014/main" val="242793145"/>
                    </a:ext>
                  </a:extLst>
                </a:gridCol>
                <a:gridCol w="1040445">
                  <a:extLst>
                    <a:ext uri="{9D8B030D-6E8A-4147-A177-3AD203B41FA5}">
                      <a16:colId xmlns:a16="http://schemas.microsoft.com/office/drawing/2014/main" val="3470101758"/>
                    </a:ext>
                  </a:extLst>
                </a:gridCol>
              </a:tblGrid>
              <a:tr h="370840">
                <a:tc>
                  <a:txBody>
                    <a:bodyPr/>
                    <a:lstStyle/>
                    <a:p>
                      <a:pPr algn="ctr"/>
                      <a:r>
                        <a:rPr lang="en-US" dirty="0">
                          <a:solidFill>
                            <a:schemeClr val="tx1"/>
                          </a:solidFill>
                        </a:rPr>
                        <a:t>Voltage (V)</a:t>
                      </a:r>
                    </a:p>
                  </a:txBody>
                  <a:tcPr/>
                </a:tc>
                <a:tc>
                  <a:txBody>
                    <a:bodyPr/>
                    <a:lstStyle/>
                    <a:p>
                      <a:pPr algn="ctr"/>
                      <a:r>
                        <a:rPr lang="en-US" dirty="0">
                          <a:solidFill>
                            <a:schemeClr val="tx1"/>
                          </a:solidFill>
                        </a:rPr>
                        <a:t>Capacity (Ah)</a:t>
                      </a:r>
                    </a:p>
                  </a:txBody>
                  <a:tcPr/>
                </a:tc>
                <a:tc>
                  <a:txBody>
                    <a:bodyPr/>
                    <a:lstStyle/>
                    <a:p>
                      <a:pPr algn="ctr"/>
                      <a:r>
                        <a:rPr lang="en-US" dirty="0" err="1">
                          <a:solidFill>
                            <a:schemeClr val="tx1"/>
                          </a:solidFill>
                        </a:rPr>
                        <a:t>CLusters</a:t>
                      </a:r>
                      <a:endParaRPr lang="en-US" dirty="0">
                        <a:solidFill>
                          <a:schemeClr val="tx1"/>
                        </a:solidFill>
                      </a:endParaRPr>
                    </a:p>
                  </a:txBody>
                  <a:tcPr/>
                </a:tc>
                <a:extLst>
                  <a:ext uri="{0D108BD9-81ED-4DB2-BD59-A6C34878D82A}">
                    <a16:rowId xmlns:a16="http://schemas.microsoft.com/office/drawing/2014/main" val="4179747928"/>
                  </a:ext>
                </a:extLst>
              </a:tr>
              <a:tr h="370840">
                <a:tc>
                  <a:txBody>
                    <a:bodyPr/>
                    <a:lstStyle/>
                    <a:p>
                      <a:pPr algn="ctr"/>
                      <a:r>
                        <a:rPr lang="en-US" dirty="0"/>
                        <a:t>3.7</a:t>
                      </a:r>
                    </a:p>
                  </a:txBody>
                  <a:tcPr/>
                </a:tc>
                <a:tc>
                  <a:txBody>
                    <a:bodyPr/>
                    <a:lstStyle/>
                    <a:p>
                      <a:pPr algn="ctr"/>
                      <a:r>
                        <a:rPr lang="en-US" dirty="0"/>
                        <a:t>2.0</a:t>
                      </a:r>
                    </a:p>
                  </a:txBody>
                  <a:tcPr/>
                </a:tc>
                <a:tc>
                  <a:txBody>
                    <a:bodyPr/>
                    <a:lstStyle/>
                    <a:p>
                      <a:pPr algn="ctr"/>
                      <a:r>
                        <a:rPr lang="en-US" dirty="0"/>
                        <a:t>C1</a:t>
                      </a:r>
                    </a:p>
                  </a:txBody>
                  <a:tcPr/>
                </a:tc>
                <a:extLst>
                  <a:ext uri="{0D108BD9-81ED-4DB2-BD59-A6C34878D82A}">
                    <a16:rowId xmlns:a16="http://schemas.microsoft.com/office/drawing/2014/main" val="656218209"/>
                  </a:ext>
                </a:extLst>
              </a:tr>
              <a:tr h="370840">
                <a:tc>
                  <a:txBody>
                    <a:bodyPr/>
                    <a:lstStyle/>
                    <a:p>
                      <a:pPr algn="ctr"/>
                      <a:r>
                        <a:rPr lang="en-US" dirty="0"/>
                        <a:t>4.0</a:t>
                      </a:r>
                    </a:p>
                  </a:txBody>
                  <a:tcPr/>
                </a:tc>
                <a:tc>
                  <a:txBody>
                    <a:bodyPr/>
                    <a:lstStyle/>
                    <a:p>
                      <a:pPr algn="ctr"/>
                      <a:r>
                        <a:rPr lang="en-US" dirty="0"/>
                        <a:t>2.5</a:t>
                      </a:r>
                    </a:p>
                  </a:txBody>
                  <a:tcPr/>
                </a:tc>
                <a:tc>
                  <a:txBody>
                    <a:bodyPr/>
                    <a:lstStyle/>
                    <a:p>
                      <a:pPr algn="ctr"/>
                      <a:r>
                        <a:rPr lang="en-US" dirty="0"/>
                        <a:t>C2</a:t>
                      </a:r>
                    </a:p>
                  </a:txBody>
                  <a:tcPr/>
                </a:tc>
                <a:extLst>
                  <a:ext uri="{0D108BD9-81ED-4DB2-BD59-A6C34878D82A}">
                    <a16:rowId xmlns:a16="http://schemas.microsoft.com/office/drawing/2014/main" val="3625293219"/>
                  </a:ext>
                </a:extLst>
              </a:tr>
              <a:tr h="370840">
                <a:tc>
                  <a:txBody>
                    <a:bodyPr/>
                    <a:lstStyle/>
                    <a:p>
                      <a:pPr algn="ctr"/>
                      <a:r>
                        <a:rPr lang="en-US" dirty="0"/>
                        <a:t>3.6</a:t>
                      </a:r>
                    </a:p>
                  </a:txBody>
                  <a:tcPr/>
                </a:tc>
                <a:tc>
                  <a:txBody>
                    <a:bodyPr/>
                    <a:lstStyle/>
                    <a:p>
                      <a:pPr algn="ctr"/>
                      <a:r>
                        <a:rPr lang="en-US" dirty="0"/>
                        <a:t>1.8</a:t>
                      </a:r>
                    </a:p>
                  </a:txBody>
                  <a:tcPr/>
                </a:tc>
                <a:tc>
                  <a:txBody>
                    <a:bodyPr/>
                    <a:lstStyle/>
                    <a:p>
                      <a:pPr algn="ctr"/>
                      <a:r>
                        <a:rPr lang="en-US" dirty="0"/>
                        <a:t>C1</a:t>
                      </a:r>
                    </a:p>
                  </a:txBody>
                  <a:tcPr/>
                </a:tc>
                <a:extLst>
                  <a:ext uri="{0D108BD9-81ED-4DB2-BD59-A6C34878D82A}">
                    <a16:rowId xmlns:a16="http://schemas.microsoft.com/office/drawing/2014/main" val="236413360"/>
                  </a:ext>
                </a:extLst>
              </a:tr>
              <a:tr h="370840">
                <a:tc>
                  <a:txBody>
                    <a:bodyPr/>
                    <a:lstStyle/>
                    <a:p>
                      <a:pPr algn="ctr"/>
                      <a:r>
                        <a:rPr lang="en-US" dirty="0"/>
                        <a:t>4.1</a:t>
                      </a:r>
                    </a:p>
                  </a:txBody>
                  <a:tcPr/>
                </a:tc>
                <a:tc>
                  <a:txBody>
                    <a:bodyPr/>
                    <a:lstStyle/>
                    <a:p>
                      <a:pPr algn="ctr"/>
                      <a:r>
                        <a:rPr lang="en-US" dirty="0"/>
                        <a:t>2.7</a:t>
                      </a:r>
                    </a:p>
                  </a:txBody>
                  <a:tcPr/>
                </a:tc>
                <a:tc>
                  <a:txBody>
                    <a:bodyPr/>
                    <a:lstStyle/>
                    <a:p>
                      <a:pPr algn="ctr"/>
                      <a:r>
                        <a:rPr lang="en-US" dirty="0"/>
                        <a:t>C3</a:t>
                      </a:r>
                    </a:p>
                  </a:txBody>
                  <a:tcPr/>
                </a:tc>
                <a:extLst>
                  <a:ext uri="{0D108BD9-81ED-4DB2-BD59-A6C34878D82A}">
                    <a16:rowId xmlns:a16="http://schemas.microsoft.com/office/drawing/2014/main" val="3653127789"/>
                  </a:ext>
                </a:extLst>
              </a:tr>
              <a:tr h="370840">
                <a:tc>
                  <a:txBody>
                    <a:bodyPr/>
                    <a:lstStyle/>
                    <a:p>
                      <a:pPr algn="ctr"/>
                      <a:r>
                        <a:rPr lang="en-US" dirty="0"/>
                        <a:t>3.9</a:t>
                      </a:r>
                    </a:p>
                  </a:txBody>
                  <a:tcPr/>
                </a:tc>
                <a:tc>
                  <a:txBody>
                    <a:bodyPr/>
                    <a:lstStyle/>
                    <a:p>
                      <a:pPr algn="ctr"/>
                      <a:r>
                        <a:rPr lang="en-US" dirty="0"/>
                        <a:t>2.2</a:t>
                      </a:r>
                    </a:p>
                  </a:txBody>
                  <a:tcPr/>
                </a:tc>
                <a:tc>
                  <a:txBody>
                    <a:bodyPr/>
                    <a:lstStyle/>
                    <a:p>
                      <a:pPr algn="ctr"/>
                      <a:r>
                        <a:rPr lang="en-US" dirty="0"/>
                        <a:t>C3</a:t>
                      </a:r>
                    </a:p>
                  </a:txBody>
                  <a:tcPr/>
                </a:tc>
                <a:extLst>
                  <a:ext uri="{0D108BD9-81ED-4DB2-BD59-A6C34878D82A}">
                    <a16:rowId xmlns:a16="http://schemas.microsoft.com/office/drawing/2014/main" val="2151624937"/>
                  </a:ext>
                </a:extLst>
              </a:tr>
            </a:tbl>
          </a:graphicData>
        </a:graphic>
      </p:graphicFrame>
    </p:spTree>
    <p:extLst>
      <p:ext uri="{BB962C8B-B14F-4D97-AF65-F5344CB8AC3E}">
        <p14:creationId xmlns:p14="http://schemas.microsoft.com/office/powerpoint/2010/main" val="3900493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33B-C81D-CB78-0981-6AF5493BE7D1}"/>
              </a:ext>
            </a:extLst>
          </p:cNvPr>
          <p:cNvSpPr>
            <a:spLocks noGrp="1"/>
          </p:cNvSpPr>
          <p:nvPr>
            <p:ph type="title"/>
          </p:nvPr>
        </p:nvSpPr>
        <p:spPr/>
        <p:txBody>
          <a:bodyPr/>
          <a:lstStyle/>
          <a:p>
            <a:r>
              <a:rPr lang="en-US" dirty="0">
                <a:latin typeface="+mj-lt"/>
              </a:rPr>
              <a:t>Purpose of Clustering</a:t>
            </a:r>
          </a:p>
        </p:txBody>
      </p:sp>
      <p:sp>
        <p:nvSpPr>
          <p:cNvPr id="3" name="Content Placeholder 2">
            <a:extLst>
              <a:ext uri="{FF2B5EF4-FFF2-40B4-BE49-F238E27FC236}">
                <a16:creationId xmlns:a16="http://schemas.microsoft.com/office/drawing/2014/main" id="{CC8F357B-8993-BB33-84BE-A45EAE03AE43}"/>
              </a:ext>
            </a:extLst>
          </p:cNvPr>
          <p:cNvSpPr>
            <a:spLocks noGrp="1"/>
          </p:cNvSpPr>
          <p:nvPr>
            <p:ph sz="quarter" idx="13"/>
          </p:nvPr>
        </p:nvSpPr>
        <p:spPr>
          <a:xfrm>
            <a:off x="947738" y="1776413"/>
            <a:ext cx="9472971" cy="4749078"/>
          </a:xfrm>
        </p:spPr>
        <p:txBody>
          <a:bodyPr/>
          <a:lstStyle/>
          <a:p>
            <a:pPr>
              <a:buFont typeface="Arial" panose="020B0604020202020204" pitchFamily="34" charset="0"/>
              <a:buChar char="•"/>
            </a:pPr>
            <a:r>
              <a:rPr lang="en-US" sz="2400" b="1" dirty="0">
                <a:latin typeface="+mn-lt"/>
              </a:rPr>
              <a:t>Identify patterns and structures</a:t>
            </a:r>
            <a:r>
              <a:rPr lang="en-US" sz="2400" dirty="0">
                <a:latin typeface="+mn-lt"/>
              </a:rPr>
              <a:t> in </a:t>
            </a:r>
            <a:r>
              <a:rPr lang="en-US" sz="2400" b="1" dirty="0">
                <a:latin typeface="+mn-lt"/>
              </a:rPr>
              <a:t>unlabeled</a:t>
            </a:r>
            <a:r>
              <a:rPr lang="en-US" sz="2400" dirty="0">
                <a:latin typeface="+mn-lt"/>
              </a:rPr>
              <a:t> data.</a:t>
            </a:r>
          </a:p>
          <a:p>
            <a:pPr marL="0" indent="0">
              <a:buNone/>
            </a:pPr>
            <a:endParaRPr lang="en-US" sz="2400" dirty="0">
              <a:latin typeface="+mn-lt"/>
            </a:endParaRPr>
          </a:p>
          <a:p>
            <a:pPr>
              <a:buFont typeface="Arial" panose="020B0604020202020204" pitchFamily="34" charset="0"/>
              <a:buChar char="•"/>
            </a:pPr>
            <a:r>
              <a:rPr lang="en-US" sz="2400" b="1" dirty="0">
                <a:latin typeface="+mn-lt"/>
              </a:rPr>
              <a:t>Group similar data points</a:t>
            </a:r>
            <a:r>
              <a:rPr lang="en-US" sz="2400" dirty="0">
                <a:latin typeface="+mn-lt"/>
              </a:rPr>
              <a:t> together based on shared characteristics.</a:t>
            </a:r>
          </a:p>
          <a:p>
            <a:pPr>
              <a:buFont typeface="Arial" panose="020B0604020202020204" pitchFamily="34" charset="0"/>
              <a:buChar char="•"/>
            </a:pPr>
            <a:endParaRPr lang="en-US" sz="2400" dirty="0">
              <a:latin typeface="+mn-lt"/>
            </a:endParaRPr>
          </a:p>
          <a:p>
            <a:pPr>
              <a:buFont typeface="Arial" panose="020B0604020202020204" pitchFamily="34" charset="0"/>
              <a:buChar char="•"/>
            </a:pPr>
            <a:r>
              <a:rPr lang="en-US" sz="2400" b="1" dirty="0">
                <a:latin typeface="+mn-lt"/>
              </a:rPr>
              <a:t>Detect anomalies and outliers</a:t>
            </a:r>
            <a:r>
              <a:rPr lang="en-US" sz="2400" dirty="0">
                <a:latin typeface="+mn-lt"/>
              </a:rPr>
              <a:t> (e.g., faulty battery cells)</a:t>
            </a:r>
          </a:p>
          <a:p>
            <a:pPr marL="0" indent="0">
              <a:buNone/>
            </a:pPr>
            <a:endParaRPr lang="en-US" sz="2400" dirty="0">
              <a:latin typeface="+mn-lt"/>
            </a:endParaRPr>
          </a:p>
          <a:p>
            <a:pPr>
              <a:buFont typeface="Arial" panose="020B0604020202020204" pitchFamily="34" charset="0"/>
              <a:buChar char="•"/>
            </a:pPr>
            <a:r>
              <a:rPr lang="en-US" sz="2400" b="1" dirty="0">
                <a:latin typeface="+mn-lt"/>
              </a:rPr>
              <a:t>Enhance decision-making</a:t>
            </a:r>
            <a:r>
              <a:rPr lang="en-US" sz="2400" dirty="0">
                <a:latin typeface="+mn-lt"/>
              </a:rPr>
              <a:t> by segmenting data into meaningful groups.</a:t>
            </a:r>
          </a:p>
          <a:p>
            <a:pPr>
              <a:buFont typeface="Arial" panose="020B0604020202020204" pitchFamily="34" charset="0"/>
              <a:buChar char="•"/>
            </a:pPr>
            <a:endParaRPr lang="en-US" sz="2400" b="1" dirty="0">
              <a:latin typeface="+mn-lt"/>
            </a:endParaRPr>
          </a:p>
        </p:txBody>
      </p:sp>
    </p:spTree>
    <p:extLst>
      <p:ext uri="{BB962C8B-B14F-4D97-AF65-F5344CB8AC3E}">
        <p14:creationId xmlns:p14="http://schemas.microsoft.com/office/powerpoint/2010/main" val="811150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0B406-0B8D-B114-676E-75BEF57CBC83}"/>
              </a:ext>
            </a:extLst>
          </p:cNvPr>
          <p:cNvSpPr>
            <a:spLocks noGrp="1"/>
          </p:cNvSpPr>
          <p:nvPr>
            <p:ph type="title"/>
          </p:nvPr>
        </p:nvSpPr>
        <p:spPr/>
        <p:txBody>
          <a:bodyPr/>
          <a:lstStyle/>
          <a:p>
            <a:r>
              <a:rPr lang="en-US" dirty="0">
                <a:latin typeface="+mj-lt"/>
              </a:rPr>
              <a:t>Clustering</a:t>
            </a:r>
          </a:p>
        </p:txBody>
      </p:sp>
      <p:sp>
        <p:nvSpPr>
          <p:cNvPr id="3" name="Content Placeholder 2">
            <a:extLst>
              <a:ext uri="{FF2B5EF4-FFF2-40B4-BE49-F238E27FC236}">
                <a16:creationId xmlns:a16="http://schemas.microsoft.com/office/drawing/2014/main" id="{D655C3BC-EE27-D40E-2369-3374EE20140F}"/>
              </a:ext>
            </a:extLst>
          </p:cNvPr>
          <p:cNvSpPr>
            <a:spLocks noGrp="1"/>
          </p:cNvSpPr>
          <p:nvPr>
            <p:ph sz="quarter" idx="13"/>
          </p:nvPr>
        </p:nvSpPr>
        <p:spPr/>
        <p:txBody>
          <a:bodyPr/>
          <a:lstStyle/>
          <a:p>
            <a:pPr>
              <a:lnSpc>
                <a:spcPct val="100000"/>
              </a:lnSpc>
              <a:buFont typeface="Arial" panose="020B0604020202020204" pitchFamily="34" charset="0"/>
              <a:buChar char="•"/>
            </a:pPr>
            <a:r>
              <a:rPr lang="en-US" sz="2800" dirty="0">
                <a:latin typeface="+mn-lt"/>
              </a:rPr>
              <a:t>Clustering is a </a:t>
            </a:r>
            <a:r>
              <a:rPr lang="en-US" sz="2800" b="1" dirty="0">
                <a:latin typeface="+mn-lt"/>
              </a:rPr>
              <a:t>machine learning technique</a:t>
            </a:r>
            <a:r>
              <a:rPr lang="en-US" sz="2800" dirty="0">
                <a:latin typeface="+mn-lt"/>
              </a:rPr>
              <a:t> used to group similar data points together.</a:t>
            </a:r>
          </a:p>
          <a:p>
            <a:pPr marL="0" indent="0">
              <a:lnSpc>
                <a:spcPct val="100000"/>
              </a:lnSpc>
              <a:buNone/>
            </a:pPr>
            <a:endParaRPr lang="en-US" sz="2800" dirty="0">
              <a:latin typeface="+mn-lt"/>
            </a:endParaRPr>
          </a:p>
          <a:p>
            <a:pPr>
              <a:lnSpc>
                <a:spcPct val="100000"/>
              </a:lnSpc>
              <a:buFont typeface="Arial" panose="020B0604020202020204" pitchFamily="34" charset="0"/>
              <a:buChar char="•"/>
            </a:pPr>
            <a:r>
              <a:rPr lang="en-US" sz="2800" dirty="0">
                <a:latin typeface="+mn-lt"/>
              </a:rPr>
              <a:t>It helps in identifying </a:t>
            </a:r>
            <a:r>
              <a:rPr lang="en-US" sz="2800" b="1" dirty="0">
                <a:latin typeface="+mn-lt"/>
              </a:rPr>
              <a:t>patterns and structures</a:t>
            </a:r>
            <a:r>
              <a:rPr lang="en-US" sz="2800" dirty="0">
                <a:latin typeface="+mn-lt"/>
              </a:rPr>
              <a:t> in large datasets without labels.</a:t>
            </a:r>
          </a:p>
          <a:p>
            <a:pPr marL="0" indent="0">
              <a:lnSpc>
                <a:spcPct val="100000"/>
              </a:lnSpc>
              <a:buNone/>
            </a:pPr>
            <a:endParaRPr lang="en-US" sz="2800" dirty="0">
              <a:latin typeface="+mn-lt"/>
            </a:endParaRPr>
          </a:p>
          <a:p>
            <a:pPr>
              <a:lnSpc>
                <a:spcPct val="100000"/>
              </a:lnSpc>
              <a:buFont typeface="Arial" panose="020B0604020202020204" pitchFamily="34" charset="0"/>
              <a:buChar char="•"/>
            </a:pPr>
            <a:r>
              <a:rPr lang="en-US" sz="2800" dirty="0">
                <a:latin typeface="+mn-lt"/>
              </a:rPr>
              <a:t>Groups are formed based on </a:t>
            </a:r>
            <a:r>
              <a:rPr lang="en-US" sz="2800" b="1" dirty="0">
                <a:latin typeface="+mn-lt"/>
              </a:rPr>
              <a:t>similar characteristics</a:t>
            </a:r>
            <a:r>
              <a:rPr lang="en-US" sz="2800" dirty="0">
                <a:latin typeface="+mn-lt"/>
              </a:rPr>
              <a:t> or predefined criteria.</a:t>
            </a:r>
          </a:p>
          <a:p>
            <a:endParaRPr lang="en-US" dirty="0"/>
          </a:p>
        </p:txBody>
      </p:sp>
    </p:spTree>
    <p:extLst>
      <p:ext uri="{BB962C8B-B14F-4D97-AF65-F5344CB8AC3E}">
        <p14:creationId xmlns:p14="http://schemas.microsoft.com/office/powerpoint/2010/main" val="4062534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AFA9D-A677-3085-F50E-45B246F4449E}"/>
              </a:ext>
            </a:extLst>
          </p:cNvPr>
          <p:cNvSpPr>
            <a:spLocks noGrp="1"/>
          </p:cNvSpPr>
          <p:nvPr>
            <p:ph type="title"/>
          </p:nvPr>
        </p:nvSpPr>
        <p:spPr/>
        <p:txBody>
          <a:bodyPr/>
          <a:lstStyle/>
          <a:p>
            <a:r>
              <a:rPr lang="en-US" dirty="0">
                <a:latin typeface="+mj-lt"/>
              </a:rPr>
              <a:t>Clustering Approaches</a:t>
            </a:r>
          </a:p>
        </p:txBody>
      </p:sp>
      <p:sp>
        <p:nvSpPr>
          <p:cNvPr id="3" name="Content Placeholder 2">
            <a:extLst>
              <a:ext uri="{FF2B5EF4-FFF2-40B4-BE49-F238E27FC236}">
                <a16:creationId xmlns:a16="http://schemas.microsoft.com/office/drawing/2014/main" id="{B37C96FB-39A4-FD28-E283-956C6675C5F8}"/>
              </a:ext>
            </a:extLst>
          </p:cNvPr>
          <p:cNvSpPr>
            <a:spLocks noGrp="1"/>
          </p:cNvSpPr>
          <p:nvPr>
            <p:ph sz="quarter" idx="13"/>
          </p:nvPr>
        </p:nvSpPr>
        <p:spPr/>
        <p:txBody>
          <a:bodyPr/>
          <a:lstStyle/>
          <a:p>
            <a:r>
              <a:rPr lang="en-US" sz="2800" dirty="0">
                <a:latin typeface="+mn-lt"/>
              </a:rPr>
              <a:t>Prototype-based clustering</a:t>
            </a:r>
          </a:p>
          <a:p>
            <a:pPr lvl="1"/>
            <a:r>
              <a:rPr lang="en-US" sz="2200" dirty="0">
                <a:latin typeface="+mn-lt"/>
              </a:rPr>
              <a:t>Uses centroids or means to represent clusters.</a:t>
            </a:r>
            <a:endParaRPr lang="en-US" sz="2400" dirty="0">
              <a:latin typeface="+mn-lt"/>
            </a:endParaRPr>
          </a:p>
          <a:p>
            <a:endParaRPr lang="en-US" sz="2400" dirty="0">
              <a:latin typeface="+mn-lt"/>
            </a:endParaRPr>
          </a:p>
          <a:p>
            <a:r>
              <a:rPr lang="en-US" sz="2800" dirty="0">
                <a:latin typeface="+mn-lt"/>
              </a:rPr>
              <a:t>Density based clustering</a:t>
            </a:r>
          </a:p>
          <a:p>
            <a:pPr lvl="1"/>
            <a:r>
              <a:rPr lang="en-US" sz="2200" dirty="0">
                <a:latin typeface="+mn-lt"/>
              </a:rPr>
              <a:t>Identifies clusters based on high-density regions without using explicit prototypes.</a:t>
            </a:r>
          </a:p>
          <a:p>
            <a:pPr marL="0" indent="0">
              <a:buNone/>
            </a:pPr>
            <a:endParaRPr lang="en-US" sz="2400" dirty="0">
              <a:latin typeface="+mn-lt"/>
            </a:endParaRPr>
          </a:p>
          <a:p>
            <a:r>
              <a:rPr lang="en-US" sz="2800" dirty="0">
                <a:latin typeface="+mn-lt"/>
              </a:rPr>
              <a:t>Hierarchical clustering</a:t>
            </a:r>
          </a:p>
          <a:p>
            <a:pPr lvl="1"/>
            <a:r>
              <a:rPr lang="en-US" sz="2200" dirty="0">
                <a:latin typeface="+mn-lt"/>
              </a:rPr>
              <a:t>Forms a tree-like structure of nested clusters instead of using prototypes.</a:t>
            </a:r>
          </a:p>
        </p:txBody>
      </p:sp>
    </p:spTree>
    <p:extLst>
      <p:ext uri="{BB962C8B-B14F-4D97-AF65-F5344CB8AC3E}">
        <p14:creationId xmlns:p14="http://schemas.microsoft.com/office/powerpoint/2010/main" val="2212123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52052-4695-F728-76DA-C3BA3F9C6947}"/>
              </a:ext>
            </a:extLst>
          </p:cNvPr>
          <p:cNvSpPr>
            <a:spLocks noGrp="1"/>
          </p:cNvSpPr>
          <p:nvPr>
            <p:ph type="title"/>
          </p:nvPr>
        </p:nvSpPr>
        <p:spPr/>
        <p:txBody>
          <a:bodyPr/>
          <a:lstStyle/>
          <a:p>
            <a:r>
              <a:rPr lang="en-US" dirty="0">
                <a:latin typeface="+mj-lt"/>
              </a:rPr>
              <a:t>K-Means Clustering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95FF0F-ABC8-306A-BF64-60609993E89C}"/>
                  </a:ext>
                </a:extLst>
              </p:cNvPr>
              <p:cNvSpPr>
                <a:spLocks noGrp="1"/>
              </p:cNvSpPr>
              <p:nvPr>
                <p:ph sz="quarter" idx="13"/>
              </p:nvPr>
            </p:nvSpPr>
            <p:spPr>
              <a:xfrm>
                <a:off x="947738" y="1776413"/>
                <a:ext cx="9472971" cy="1277683"/>
              </a:xfrm>
            </p:spPr>
            <p:txBody>
              <a:bodyPr/>
              <a:lstStyle/>
              <a:p>
                <a:r>
                  <a:rPr lang="en-US" dirty="0">
                    <a:latin typeface="+mn-lt"/>
                  </a:rPr>
                  <a:t>Objective</a:t>
                </a:r>
                <a:r>
                  <a:rPr lang="en-US" sz="2000" dirty="0">
                    <a:latin typeface="+mn-lt"/>
                  </a:rPr>
                  <a:t>: Suppose we have a dataset of </a:t>
                </a:r>
                <a14:m>
                  <m:oMath xmlns:m="http://schemas.openxmlformats.org/officeDocument/2006/math">
                    <m:r>
                      <a:rPr lang="en-US" sz="2000" i="1" dirty="0" smtClean="0">
                        <a:latin typeface="+mn-lt"/>
                      </a:rPr>
                      <m:t>𝑁</m:t>
                    </m:r>
                  </m:oMath>
                </a14:m>
                <a:r>
                  <a:rPr lang="en-US" sz="2000" dirty="0">
                    <a:latin typeface="+mn-lt"/>
                  </a:rPr>
                  <a:t> observations, </a:t>
                </a:r>
                <a14:m>
                  <m:oMath xmlns:m="http://schemas.openxmlformats.org/officeDocument/2006/math">
                    <m:r>
                      <a:rPr lang="en-US" sz="2000" i="1" dirty="0" smtClean="0">
                        <a:latin typeface="+mn-lt"/>
                      </a:rPr>
                      <m:t>𝑋</m:t>
                    </m:r>
                    <m:r>
                      <a:rPr lang="en-US" sz="2000" i="1" dirty="0" smtClean="0">
                        <a:latin typeface="+mn-lt"/>
                      </a:rPr>
                      <m:t> = </m:t>
                    </m:r>
                    <m:r>
                      <m:rPr>
                        <m:lit/>
                      </m:rPr>
                      <a:rPr lang="en-US" sz="2000" i="1" dirty="0">
                        <a:latin typeface="+mn-lt"/>
                      </a:rPr>
                      <m:t>{</m:t>
                    </m:r>
                    <m:sSub>
                      <m:sSubPr>
                        <m:ctrlPr>
                          <a:rPr lang="en-US" sz="2000" i="1" dirty="0">
                            <a:latin typeface="+mn-lt"/>
                          </a:rPr>
                        </m:ctrlPr>
                      </m:sSubPr>
                      <m:e>
                        <m:r>
                          <a:rPr lang="en-US" sz="2000" i="1" dirty="0">
                            <a:latin typeface="+mn-lt"/>
                          </a:rPr>
                          <m:t>𝑥</m:t>
                        </m:r>
                      </m:e>
                      <m:sub>
                        <m:r>
                          <a:rPr lang="en-US" sz="2000" i="1" dirty="0">
                            <a:latin typeface="+mn-lt"/>
                          </a:rPr>
                          <m:t>1</m:t>
                        </m:r>
                      </m:sub>
                    </m:sSub>
                    <m:r>
                      <a:rPr lang="en-US" sz="2000" i="1" dirty="0">
                        <a:latin typeface="+mn-lt"/>
                      </a:rPr>
                      <m:t>, </m:t>
                    </m:r>
                    <m:sSub>
                      <m:sSubPr>
                        <m:ctrlPr>
                          <a:rPr lang="en-US" sz="2000" i="1" dirty="0">
                            <a:latin typeface="+mn-lt"/>
                          </a:rPr>
                        </m:ctrlPr>
                      </m:sSubPr>
                      <m:e>
                        <m:r>
                          <a:rPr lang="en-US" sz="2000" i="1" dirty="0">
                            <a:latin typeface="+mn-lt"/>
                          </a:rPr>
                          <m:t>𝑥</m:t>
                        </m:r>
                      </m:e>
                      <m:sub>
                        <m:r>
                          <a:rPr lang="en-US" sz="2000" i="1" dirty="0">
                            <a:latin typeface="+mn-lt"/>
                          </a:rPr>
                          <m:t>2</m:t>
                        </m:r>
                      </m:sub>
                    </m:sSub>
                    <m:r>
                      <a:rPr lang="en-US" sz="2000" i="1" dirty="0">
                        <a:latin typeface="+mn-lt"/>
                      </a:rPr>
                      <m:t>, </m:t>
                    </m:r>
                    <m:r>
                      <a:rPr lang="en-US" sz="2000" i="1" dirty="0" smtClean="0">
                        <a:latin typeface="+mn-lt"/>
                      </a:rPr>
                      <m:t>…</m:t>
                    </m:r>
                    <m:r>
                      <a:rPr lang="en-US" sz="2000" i="1" dirty="0">
                        <a:latin typeface="+mn-lt"/>
                      </a:rPr>
                      <m:t>, </m:t>
                    </m:r>
                    <m:sSub>
                      <m:sSubPr>
                        <m:ctrlPr>
                          <a:rPr lang="en-US" sz="2000" i="1" dirty="0" err="1">
                            <a:latin typeface="+mn-lt"/>
                          </a:rPr>
                        </m:ctrlPr>
                      </m:sSubPr>
                      <m:e>
                        <m:r>
                          <a:rPr lang="en-US" sz="2000" i="1" dirty="0" err="1">
                            <a:latin typeface="+mn-lt"/>
                          </a:rPr>
                          <m:t>𝑥</m:t>
                        </m:r>
                      </m:e>
                      <m:sub>
                        <m:r>
                          <a:rPr lang="en-US" sz="2000" i="1" dirty="0" err="1">
                            <a:latin typeface="+mn-lt"/>
                          </a:rPr>
                          <m:t>𝑁</m:t>
                        </m:r>
                      </m:sub>
                    </m:sSub>
                    <m:r>
                      <m:rPr>
                        <m:lit/>
                      </m:rPr>
                      <a:rPr lang="en-US" sz="2000" i="1" dirty="0">
                        <a:latin typeface="+mn-lt"/>
                      </a:rPr>
                      <m:t>}</m:t>
                    </m:r>
                  </m:oMath>
                </a14:m>
                <a:r>
                  <a:rPr lang="en-US" sz="2000" dirty="0">
                    <a:latin typeface="+mn-lt"/>
                  </a:rPr>
                  <a:t>, and we want to partition them into </a:t>
                </a:r>
                <a14:m>
                  <m:oMath xmlns:m="http://schemas.openxmlformats.org/officeDocument/2006/math">
                    <m:r>
                      <a:rPr lang="en-US" sz="2000" i="1" dirty="0" smtClean="0">
                        <a:latin typeface="+mn-lt"/>
                      </a:rPr>
                      <m:t>𝐾</m:t>
                    </m:r>
                  </m:oMath>
                </a14:m>
                <a:r>
                  <a:rPr lang="en-US" sz="2000" dirty="0">
                    <a:latin typeface="+mn-lt"/>
                  </a:rPr>
                  <a:t> distinct clusters, </a:t>
                </a:r>
                <a14:m>
                  <m:oMath xmlns:m="http://schemas.openxmlformats.org/officeDocument/2006/math">
                    <m:r>
                      <a:rPr lang="en-US" sz="2000" i="1" dirty="0" smtClean="0">
                        <a:latin typeface="+mn-lt"/>
                      </a:rPr>
                      <m:t>𝑆</m:t>
                    </m:r>
                    <m:r>
                      <a:rPr lang="en-US" sz="2000" i="1" dirty="0" smtClean="0">
                        <a:latin typeface="+mn-lt"/>
                      </a:rPr>
                      <m:t> = </m:t>
                    </m:r>
                    <m:r>
                      <m:rPr>
                        <m:lit/>
                      </m:rPr>
                      <a:rPr lang="en-US" sz="2000" i="1" dirty="0">
                        <a:latin typeface="+mn-lt"/>
                      </a:rPr>
                      <m:t>{</m:t>
                    </m:r>
                    <m:sSub>
                      <m:sSubPr>
                        <m:ctrlPr>
                          <a:rPr lang="en-US" sz="2000" i="1" dirty="0">
                            <a:latin typeface="+mn-lt"/>
                          </a:rPr>
                        </m:ctrlPr>
                      </m:sSubPr>
                      <m:e>
                        <m:r>
                          <a:rPr lang="en-US" sz="2000" i="1" dirty="0">
                            <a:latin typeface="+mn-lt"/>
                          </a:rPr>
                          <m:t>𝑆</m:t>
                        </m:r>
                      </m:e>
                      <m:sub>
                        <m:r>
                          <a:rPr lang="en-US" sz="2000" i="1" dirty="0">
                            <a:latin typeface="+mn-lt"/>
                          </a:rPr>
                          <m:t>1</m:t>
                        </m:r>
                      </m:sub>
                    </m:sSub>
                    <m:r>
                      <a:rPr lang="en-US" sz="2000" i="1" dirty="0">
                        <a:latin typeface="+mn-lt"/>
                      </a:rPr>
                      <m:t>, </m:t>
                    </m:r>
                    <m:sSub>
                      <m:sSubPr>
                        <m:ctrlPr>
                          <a:rPr lang="en-US" sz="2000" i="1" dirty="0">
                            <a:latin typeface="+mn-lt"/>
                          </a:rPr>
                        </m:ctrlPr>
                      </m:sSubPr>
                      <m:e>
                        <m:r>
                          <a:rPr lang="en-US" sz="2000" i="1" dirty="0">
                            <a:latin typeface="+mn-lt"/>
                          </a:rPr>
                          <m:t>𝑆</m:t>
                        </m:r>
                      </m:e>
                      <m:sub>
                        <m:r>
                          <a:rPr lang="en-US" sz="2000" i="1" dirty="0">
                            <a:latin typeface="+mn-lt"/>
                          </a:rPr>
                          <m:t>2</m:t>
                        </m:r>
                      </m:sub>
                    </m:sSub>
                    <m:r>
                      <a:rPr lang="en-US" sz="2000" i="1" dirty="0">
                        <a:latin typeface="+mn-lt"/>
                      </a:rPr>
                      <m:t>, </m:t>
                    </m:r>
                    <m:r>
                      <a:rPr lang="en-US" sz="2000" i="1" dirty="0" smtClean="0">
                        <a:latin typeface="+mn-lt"/>
                      </a:rPr>
                      <m:t>…</m:t>
                    </m:r>
                    <m:r>
                      <a:rPr lang="en-US" sz="2000" i="1" dirty="0">
                        <a:latin typeface="+mn-lt"/>
                      </a:rPr>
                      <m:t>, </m:t>
                    </m:r>
                    <m:sSub>
                      <m:sSubPr>
                        <m:ctrlPr>
                          <a:rPr lang="en-US" sz="2000" i="1" dirty="0">
                            <a:latin typeface="+mn-lt"/>
                          </a:rPr>
                        </m:ctrlPr>
                      </m:sSubPr>
                      <m:e>
                        <m:r>
                          <a:rPr lang="en-US" sz="2000" i="1" dirty="0">
                            <a:latin typeface="+mn-lt"/>
                          </a:rPr>
                          <m:t>𝑆</m:t>
                        </m:r>
                      </m:e>
                      <m:sub>
                        <m:r>
                          <a:rPr lang="en-US" sz="2000" i="1" dirty="0">
                            <a:latin typeface="+mn-lt"/>
                          </a:rPr>
                          <m:t>𝐾</m:t>
                        </m:r>
                      </m:sub>
                    </m:sSub>
                    <m:r>
                      <m:rPr>
                        <m:lit/>
                      </m:rPr>
                      <a:rPr lang="en-US" sz="2000" i="1" dirty="0" smtClean="0">
                        <a:latin typeface="+mn-lt"/>
                      </a:rPr>
                      <m:t>}</m:t>
                    </m:r>
                  </m:oMath>
                </a14:m>
                <a:r>
                  <a:rPr lang="en-US" sz="2000" dirty="0">
                    <a:latin typeface="+mn-lt"/>
                  </a:rPr>
                  <a:t>, the optimization problem is formulated as</a:t>
                </a:r>
                <a:r>
                  <a:rPr lang="en-US" sz="2000" dirty="0"/>
                  <a:t>:</a:t>
                </a:r>
              </a:p>
              <a:p>
                <a:endParaRPr lang="en-US" sz="2000" dirty="0"/>
              </a:p>
              <a:p>
                <a:endParaRPr lang="en-US" sz="2000" dirty="0"/>
              </a:p>
              <a:p>
                <a:endParaRPr lang="en-US" sz="2000" dirty="0"/>
              </a:p>
              <a:p>
                <a:pPr marL="0" indent="0">
                  <a:buNone/>
                </a:pPr>
                <a:endParaRPr lang="en-US" dirty="0"/>
              </a:p>
              <a:p>
                <a14:m/>
              </a:p>
              <a:p/>
              <a:p/>
              <a:p/>
              <a:p/>
            </p:txBody>
          </p:sp>
        </mc:Choice>
        <mc:Fallback>
          <p:sp>
            <p:nvSpPr>
              <p:cNvPr id="3" name="Content Placeholder 2">
                <a:extLst>
                  <a:ext uri="{FF2B5EF4-FFF2-40B4-BE49-F238E27FC236}">
                    <a16:creationId xmlns:a16="http://schemas.microsoft.com/office/drawing/2014/main" id="{4595FF0F-ABC8-306A-BF64-60609993E89C}"/>
                  </a:ext>
                </a:extLst>
              </p:cNvPr>
              <p:cNvSpPr>
                <a:spLocks noGrp="1" noRot="1" noChangeAspect="1" noMove="1" noResize="1" noEditPoints="1" noAdjustHandles="1" noChangeArrowheads="1" noChangeShapeType="1" noTextEdit="1"/>
              </p:cNvSpPr>
              <p:nvPr>
                <p:ph sz="quarter" idx="13"/>
              </p:nvPr>
            </p:nvSpPr>
            <p:spPr>
              <a:xfrm>
                <a:off x="947738" y="1776413"/>
                <a:ext cx="9472971" cy="1277683"/>
              </a:xfrm>
              <a:blipFill>
                <a:blip r:embed="rId2"/>
                <a:stretch>
                  <a:fillRect l="-535" t="-4902" b="-190196"/>
                </a:stretch>
              </a:blipFill>
            </p:spPr>
            <p:txBody>
              <a:bodyPr/>
              <a:lstStyle/>
              <a:p>
                <a:r>
                  <a:rPr lang="en-US">
                    <a:noFill/>
                  </a:rPr>
                  <a:t> </a:t>
                </a:r>
              </a:p>
            </p:txBody>
          </p:sp>
        </mc:Fallback>
      </mc:AlternateContent>
      <p:pic>
        <p:nvPicPr>
          <p:cNvPr id="5" name="Picture 4" descr="A group of black symbols&#10;&#10;AI-generated content may be incorrect.">
            <a:extLst>
              <a:ext uri="{FF2B5EF4-FFF2-40B4-BE49-F238E27FC236}">
                <a16:creationId xmlns:a16="http://schemas.microsoft.com/office/drawing/2014/main" id="{97C85BD2-4196-268B-66D2-04583BD5A460}"/>
              </a:ext>
            </a:extLst>
          </p:cNvPr>
          <p:cNvPicPr>
            <a:picLocks noChangeAspect="1"/>
          </p:cNvPicPr>
          <p:nvPr/>
        </p:nvPicPr>
        <p:blipFill>
          <a:blip r:embed="rId3"/>
          <a:stretch>
            <a:fillRect/>
          </a:stretch>
        </p:blipFill>
        <p:spPr>
          <a:xfrm>
            <a:off x="3900127" y="2591898"/>
            <a:ext cx="3568192" cy="988348"/>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AC64C9D-A67D-99C7-7BC4-9322D270ABBB}"/>
                  </a:ext>
                </a:extLst>
              </p:cNvPr>
              <p:cNvSpPr txBox="1"/>
              <p:nvPr/>
            </p:nvSpPr>
            <p:spPr>
              <a:xfrm>
                <a:off x="2564892" y="5081587"/>
                <a:ext cx="4585716" cy="707886"/>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sv-SE" sz="2000" b="0" i="1" dirty="0" smtClean="0">
                          <a:latin typeface="Cambria Math" panose="02040503050406030204" pitchFamily="18" charset="0"/>
                        </a:rPr>
                        <m:t>: </m:t>
                      </m:r>
                      <m:r>
                        <a:rPr lang="sv-SE" sz="2000" b="0" i="1" dirty="0" smtClean="0"/>
                        <m:t>𝑊𝐶𝑆𝑆</m:t>
                      </m:r>
                      <m:r>
                        <a:rPr lang="sv-SE" sz="2000" b="0" i="1" dirty="0" smtClean="0"/>
                        <m:t>. </m:t>
                      </m:r>
                      <m:r>
                        <a:rPr lang="en-US" sz="2000" i="1" dirty="0" smtClean="0"/>
                        <m:t>𝑇h𝑒</m:t>
                      </m:r>
                      <m:r>
                        <a:rPr lang="en-US" sz="2000" i="1" dirty="0" smtClean="0"/>
                        <m:t> </m:t>
                      </m:r>
                      <m:r>
                        <a:rPr lang="en-US" sz="2000" i="1" dirty="0"/>
                        <m:t>𝑠𝑞𝑢𝑎𝑟𝑒𝑑</m:t>
                      </m:r>
                      <m:r>
                        <a:rPr lang="en-US" sz="2000" i="1" dirty="0"/>
                        <m:t> </m:t>
                      </m:r>
                      <m:r>
                        <a:rPr lang="en-US" sz="2000" i="1" dirty="0"/>
                        <m:t>𝐸𝑢𝑐𝑙𝑖𝑑𝑒𝑎𝑛</m:t>
                      </m:r>
                      <m:r>
                        <a:rPr lang="en-US" sz="2000" i="1" dirty="0"/>
                        <m:t> </m:t>
                      </m:r>
                      <m:r>
                        <a:rPr lang="en-US" sz="2000" i="1" dirty="0"/>
                        <m:t>𝑑𝑖𝑠𝑡𝑎𝑛𝑐𝑒</m:t>
                      </m:r>
                      <m:r>
                        <a:rPr lang="en-US" sz="2000" i="1" dirty="0"/>
                        <m:t> </m:t>
                      </m:r>
                      <m:r>
                        <a:rPr lang="en-US" sz="2000" i="1" dirty="0"/>
                        <m:t>𝑏𝑒𝑡𝑤𝑒𝑒𝑛</m:t>
                      </m:r>
                      <m:r>
                        <a:rPr lang="en-US" sz="2000" i="1" dirty="0"/>
                        <m:t> </m:t>
                      </m:r>
                      <m:r>
                        <a:rPr lang="en-US" sz="2000" i="1" dirty="0"/>
                        <m:t>𝑎</m:t>
                      </m:r>
                      <m:r>
                        <a:rPr lang="en-US" sz="2000" i="1" dirty="0"/>
                        <m:t> </m:t>
                      </m:r>
                    </m:oMath>
                  </m:oMathPara>
                </a14:m>
                <a:endParaRPr lang="sv-SE" sz="2000" i="1" dirty="0"/>
              </a:p>
              <a:p>
                <a14:m>
                  <m:oMathPara xmlns:m="http://schemas.openxmlformats.org/officeDocument/2006/math">
                    <m:oMathParaPr>
                      <m:jc m:val="centerGroup"/>
                    </m:oMathParaPr>
                    <m:oMath xmlns:m="http://schemas.openxmlformats.org/officeDocument/2006/math">
                      <m:r>
                        <a:rPr lang="en-US" sz="2000" i="1" dirty="0"/>
                        <m:t>𝑑𝑎𝑡𝑎</m:t>
                      </m:r>
                      <m:r>
                        <a:rPr lang="en-US" sz="2000" i="1" dirty="0"/>
                        <m:t> </m:t>
                      </m:r>
                      <m:r>
                        <a:rPr lang="en-US" sz="2000" i="1" dirty="0"/>
                        <m:t>𝑝𝑜𝑖𝑛𝑡</m:t>
                      </m:r>
                      <m:r>
                        <a:rPr lang="en-US" sz="2000" i="1" dirty="0"/>
                        <m:t> </m:t>
                      </m:r>
                      <m:sSub>
                        <m:sSubPr>
                          <m:ctrlPr>
                            <a:rPr lang="en-US" sz="2000" i="1" dirty="0" err="1">
                              <a:effectLst/>
                            </a:rPr>
                          </m:ctrlPr>
                        </m:sSubPr>
                        <m:e>
                          <m:r>
                            <a:rPr lang="en-US" sz="2000" i="1" dirty="0" err="1">
                              <a:effectLst/>
                            </a:rPr>
                            <m:t>𝑥</m:t>
                          </m:r>
                        </m:e>
                        <m:sub>
                          <m:r>
                            <a:rPr lang="en-US" sz="2000" i="1" dirty="0" err="1">
                              <a:effectLst/>
                            </a:rPr>
                            <m:t>𝑖</m:t>
                          </m:r>
                        </m:sub>
                      </m:sSub>
                      <m:r>
                        <a:rPr lang="en-US" sz="2000" i="1" dirty="0"/>
                        <m:t> </m:t>
                      </m:r>
                      <m:r>
                        <a:rPr lang="en-US" sz="2000" i="1" dirty="0"/>
                        <m:t>𝑎𝑛𝑑</m:t>
                      </m:r>
                      <m:r>
                        <a:rPr lang="en-US" sz="2000" i="1" dirty="0"/>
                        <m:t> </m:t>
                      </m:r>
                      <m:r>
                        <a:rPr lang="en-US" sz="2000" i="1" dirty="0"/>
                        <m:t>𝑖𝑡𝑠</m:t>
                      </m:r>
                      <m:r>
                        <a:rPr lang="en-US" sz="2000" i="1" dirty="0"/>
                        <m:t> </m:t>
                      </m:r>
                      <m:r>
                        <a:rPr lang="en-US" sz="2000" i="1" dirty="0"/>
                        <m:t>𝑎𝑠𝑠𝑖𝑔𝑛𝑒𝑑</m:t>
                      </m:r>
                      <m:r>
                        <a:rPr lang="en-US" sz="2000" i="1" dirty="0"/>
                        <m:t> </m:t>
                      </m:r>
                      <m:r>
                        <a:rPr lang="en-US" sz="2000" i="1" dirty="0"/>
                        <m:t>𝑐𝑒𝑛𝑡𝑟𝑜𝑖𝑑</m:t>
                      </m:r>
                      <m:sSub>
                        <m:sSubPr>
                          <m:ctrlPr>
                            <a:rPr lang="en-US" altLang="en-US" sz="2000" i="1" dirty="0"/>
                          </m:ctrlPr>
                        </m:sSubPr>
                        <m:e>
                          <m:r>
                            <a:rPr lang="sv-SE" altLang="en-US" sz="2000" b="0" i="1" dirty="0" smtClean="0"/>
                            <m:t> </m:t>
                          </m:r>
                          <m:r>
                            <a:rPr lang="sv-SE" altLang="en-US" sz="2000" i="1" dirty="0">
                              <a:ea typeface="Cambria Math" panose="02040503050406030204" pitchFamily="18" charset="0"/>
                            </a:rPr>
                            <m:t>𝜇</m:t>
                          </m:r>
                        </m:e>
                        <m:sub>
                          <m:r>
                            <a:rPr lang="en-US" altLang="en-US" sz="2000" i="1" dirty="0" err="1"/>
                            <m:t>𝑘</m:t>
                          </m:r>
                        </m:sub>
                      </m:sSub>
                    </m:oMath>
                  </m:oMathPara>
                </a14:m>
              </a:p>
            </p:txBody>
          </p:sp>
        </mc:Choice>
        <mc:Fallback>
          <p:sp>
            <p:nvSpPr>
              <p:cNvPr id="10" name="TextBox 9">
                <a:extLst>
                  <a:ext uri="{FF2B5EF4-FFF2-40B4-BE49-F238E27FC236}">
                    <a16:creationId xmlns:a16="http://schemas.microsoft.com/office/drawing/2014/main" id="{3AC64C9D-A67D-99C7-7BC4-9322D270ABBB}"/>
                  </a:ext>
                </a:extLst>
              </p:cNvPr>
              <p:cNvSpPr txBox="1">
                <a:spLocks noRot="1" noChangeAspect="1" noMove="1" noResize="1" noEditPoints="1" noAdjustHandles="1" noChangeArrowheads="1" noChangeShapeType="1" noTextEdit="1"/>
              </p:cNvSpPr>
              <p:nvPr/>
            </p:nvSpPr>
            <p:spPr>
              <a:xfrm>
                <a:off x="2564892" y="5081587"/>
                <a:ext cx="4585716" cy="707886"/>
              </a:xfrm>
              <a:prstGeom prst="rect">
                <a:avLst/>
              </a:prstGeom>
              <a:blipFill>
                <a:blip r:embed="rId4"/>
                <a:stretch>
                  <a:fillRect r="-32320" b="-14035"/>
                </a:stretch>
              </a:blipFill>
            </p:spPr>
            <p:txBody>
              <a:bodyPr/>
              <a:lstStyle/>
              <a:p>
                <a:r>
                  <a:rPr lang="en-US">
                    <a:noFill/>
                  </a:rPr>
                  <a:t> </a:t>
                </a:r>
              </a:p>
            </p:txBody>
          </p:sp>
        </mc:Fallback>
      </mc:AlternateContent>
    </p:spTree>
    <p:extLst>
      <p:ext uri="{BB962C8B-B14F-4D97-AF65-F5344CB8AC3E}">
        <p14:creationId xmlns:p14="http://schemas.microsoft.com/office/powerpoint/2010/main" val="2253662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A22FC-0047-C516-71CD-78A03B36F21D}"/>
              </a:ext>
            </a:extLst>
          </p:cNvPr>
          <p:cNvSpPr>
            <a:spLocks noGrp="1"/>
          </p:cNvSpPr>
          <p:nvPr>
            <p:ph type="title"/>
          </p:nvPr>
        </p:nvSpPr>
        <p:spPr/>
        <p:txBody>
          <a:bodyPr/>
          <a:lstStyle/>
          <a:p>
            <a:r>
              <a:rPr lang="en-US" dirty="0">
                <a:latin typeface="+mj-lt"/>
              </a:rPr>
              <a:t>K-means Clustering</a:t>
            </a:r>
          </a:p>
        </p:txBody>
      </p:sp>
      <p:sp>
        <p:nvSpPr>
          <p:cNvPr id="3" name="Content Placeholder 2">
            <a:extLst>
              <a:ext uri="{FF2B5EF4-FFF2-40B4-BE49-F238E27FC236}">
                <a16:creationId xmlns:a16="http://schemas.microsoft.com/office/drawing/2014/main" id="{5C6E5E31-63CE-1104-0670-9819D679B24C}"/>
              </a:ext>
            </a:extLst>
          </p:cNvPr>
          <p:cNvSpPr>
            <a:spLocks noGrp="1"/>
          </p:cNvSpPr>
          <p:nvPr>
            <p:ph sz="quarter" idx="13"/>
          </p:nvPr>
        </p:nvSpPr>
        <p:spPr>
          <a:xfrm>
            <a:off x="947738" y="1776413"/>
            <a:ext cx="9678698" cy="4244974"/>
          </a:xfrm>
        </p:spPr>
        <p:txBody>
          <a:bodyPr/>
          <a:lstStyle/>
          <a:p>
            <a:pPr>
              <a:lnSpc>
                <a:spcPct val="100000"/>
              </a:lnSpc>
            </a:pPr>
            <a:r>
              <a:rPr lang="en-US" sz="2400" b="1" dirty="0">
                <a:latin typeface="+mn-lt"/>
              </a:rPr>
              <a:t>Step 1:</a:t>
            </a:r>
            <a:r>
              <a:rPr lang="en-US" sz="2400" dirty="0">
                <a:latin typeface="+mn-lt"/>
              </a:rPr>
              <a:t> Select the number of clusters </a:t>
            </a:r>
            <a:r>
              <a:rPr lang="en-US" sz="2400" b="1" dirty="0">
                <a:latin typeface="+mn-lt"/>
              </a:rPr>
              <a:t>(K)</a:t>
            </a:r>
            <a:r>
              <a:rPr lang="en-US" sz="2400" dirty="0">
                <a:latin typeface="+mn-lt"/>
              </a:rPr>
              <a:t> to group the data.</a:t>
            </a:r>
          </a:p>
          <a:p>
            <a:pPr>
              <a:lnSpc>
                <a:spcPct val="100000"/>
              </a:lnSpc>
            </a:pPr>
            <a:r>
              <a:rPr lang="en-US" sz="2400" b="1" dirty="0">
                <a:latin typeface="+mn-lt"/>
              </a:rPr>
              <a:t>Step 2:</a:t>
            </a:r>
            <a:r>
              <a:rPr lang="en-US" sz="2400" dirty="0">
                <a:latin typeface="+mn-lt"/>
              </a:rPr>
              <a:t> Initialize </a:t>
            </a:r>
            <a:r>
              <a:rPr lang="en-US" sz="2400" b="1" dirty="0">
                <a:latin typeface="+mn-lt"/>
              </a:rPr>
              <a:t>K</a:t>
            </a:r>
            <a:r>
              <a:rPr lang="en-US" sz="2400" dirty="0">
                <a:latin typeface="+mn-lt"/>
              </a:rPr>
              <a:t> centroids randomly from the dataset.</a:t>
            </a:r>
          </a:p>
          <a:p>
            <a:pPr>
              <a:lnSpc>
                <a:spcPct val="100000"/>
              </a:lnSpc>
            </a:pPr>
            <a:r>
              <a:rPr lang="en-US" sz="2400" b="1" dirty="0">
                <a:latin typeface="+mn-lt"/>
              </a:rPr>
              <a:t>Step 3:</a:t>
            </a:r>
            <a:r>
              <a:rPr lang="en-US" sz="2400" dirty="0">
                <a:latin typeface="+mn-lt"/>
              </a:rPr>
              <a:t> Assign each data point to the nearest centroid based on </a:t>
            </a:r>
            <a:r>
              <a:rPr lang="en-US" sz="2400" b="1" dirty="0">
                <a:latin typeface="+mn-lt"/>
              </a:rPr>
              <a:t>distance measures (e.g., Euclidean distance)</a:t>
            </a:r>
            <a:r>
              <a:rPr lang="en-US" sz="2400" dirty="0">
                <a:latin typeface="+mn-lt"/>
              </a:rPr>
              <a:t>.</a:t>
            </a:r>
          </a:p>
          <a:p>
            <a:pPr>
              <a:lnSpc>
                <a:spcPct val="100000"/>
              </a:lnSpc>
            </a:pPr>
            <a:r>
              <a:rPr lang="en-US" sz="2400" b="1" dirty="0">
                <a:latin typeface="+mn-lt"/>
              </a:rPr>
              <a:t>Step 4:</a:t>
            </a:r>
            <a:r>
              <a:rPr lang="en-US" sz="2400" dirty="0">
                <a:latin typeface="+mn-lt"/>
              </a:rPr>
              <a:t> Compute new centroids as the </a:t>
            </a:r>
            <a:r>
              <a:rPr lang="en-US" sz="2400" b="1" dirty="0">
                <a:latin typeface="+mn-lt"/>
              </a:rPr>
              <a:t>mean of all points assigned to a cluster</a:t>
            </a:r>
            <a:r>
              <a:rPr lang="en-US" sz="2400" dirty="0">
                <a:latin typeface="+mn-lt"/>
              </a:rPr>
              <a:t>.</a:t>
            </a:r>
          </a:p>
          <a:p>
            <a:pPr>
              <a:lnSpc>
                <a:spcPct val="100000"/>
              </a:lnSpc>
            </a:pPr>
            <a:r>
              <a:rPr lang="en-US" sz="2400" b="1" dirty="0">
                <a:latin typeface="+mn-lt"/>
              </a:rPr>
              <a:t>Step 5:</a:t>
            </a:r>
            <a:r>
              <a:rPr lang="en-US" sz="2400" dirty="0">
                <a:latin typeface="+mn-lt"/>
              </a:rPr>
              <a:t> Repeat steps 3 and 4 until centroids </a:t>
            </a:r>
            <a:r>
              <a:rPr lang="en-US" sz="2400" b="1" dirty="0">
                <a:latin typeface="+mn-lt"/>
              </a:rPr>
              <a:t>no longer change</a:t>
            </a:r>
            <a:r>
              <a:rPr lang="en-US" sz="2400" dirty="0">
                <a:latin typeface="+mn-lt"/>
              </a:rPr>
              <a:t> or reach a stopping condition.</a:t>
            </a:r>
          </a:p>
          <a:p>
            <a:pPr>
              <a:lnSpc>
                <a:spcPct val="100000"/>
              </a:lnSpc>
            </a:pPr>
            <a:r>
              <a:rPr lang="en-US" sz="2400" b="1" dirty="0">
                <a:latin typeface="+mn-lt"/>
              </a:rPr>
              <a:t>Step 6:</a:t>
            </a:r>
            <a:r>
              <a:rPr lang="en-US" sz="2400" dirty="0">
                <a:latin typeface="+mn-lt"/>
              </a:rPr>
              <a:t> Final clusters are formed, and the algorithm terminates.</a:t>
            </a:r>
          </a:p>
        </p:txBody>
      </p:sp>
    </p:spTree>
    <p:extLst>
      <p:ext uri="{BB962C8B-B14F-4D97-AF65-F5344CB8AC3E}">
        <p14:creationId xmlns:p14="http://schemas.microsoft.com/office/powerpoint/2010/main" val="428836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57483-8279-B6C3-8742-6327E2C9CEE9}"/>
              </a:ext>
            </a:extLst>
          </p:cNvPr>
          <p:cNvSpPr>
            <a:spLocks noGrp="1"/>
          </p:cNvSpPr>
          <p:nvPr>
            <p:ph type="title"/>
          </p:nvPr>
        </p:nvSpPr>
        <p:spPr>
          <a:xfrm>
            <a:off x="670647" y="318288"/>
            <a:ext cx="9472971" cy="716142"/>
          </a:xfrm>
        </p:spPr>
        <p:txBody>
          <a:bodyPr/>
          <a:lstStyle/>
          <a:p>
            <a:r>
              <a:rPr lang="en-US" dirty="0">
                <a:latin typeface="+mj-lt"/>
              </a:rPr>
              <a:t>K-Means Example</a:t>
            </a:r>
          </a:p>
        </p:txBody>
      </p:sp>
      <p:graphicFrame>
        <p:nvGraphicFramePr>
          <p:cNvPr id="10" name="Content Placeholder 9">
            <a:extLst>
              <a:ext uri="{FF2B5EF4-FFF2-40B4-BE49-F238E27FC236}">
                <a16:creationId xmlns:a16="http://schemas.microsoft.com/office/drawing/2014/main" id="{131ADA2D-1087-F1B0-B7DD-20743D76735B}"/>
              </a:ext>
            </a:extLst>
          </p:cNvPr>
          <p:cNvGraphicFramePr>
            <a:graphicFrameLocks noGrp="1"/>
          </p:cNvGraphicFramePr>
          <p:nvPr>
            <p:ph sz="quarter" idx="13"/>
            <p:extLst>
              <p:ext uri="{D42A27DB-BD31-4B8C-83A1-F6EECF244321}">
                <p14:modId xmlns:p14="http://schemas.microsoft.com/office/powerpoint/2010/main" val="2615155173"/>
              </p:ext>
            </p:extLst>
          </p:nvPr>
        </p:nvGraphicFramePr>
        <p:xfrm>
          <a:off x="670647" y="1553801"/>
          <a:ext cx="10296524" cy="4627840"/>
        </p:xfrm>
        <a:graphic>
          <a:graphicData uri="http://schemas.openxmlformats.org/drawingml/2006/table">
            <a:tbl>
              <a:tblPr/>
              <a:tblGrid>
                <a:gridCol w="943286">
                  <a:extLst>
                    <a:ext uri="{9D8B030D-6E8A-4147-A177-3AD203B41FA5}">
                      <a16:colId xmlns:a16="http://schemas.microsoft.com/office/drawing/2014/main" val="2784266775"/>
                    </a:ext>
                  </a:extLst>
                </a:gridCol>
                <a:gridCol w="1053541">
                  <a:extLst>
                    <a:ext uri="{9D8B030D-6E8A-4147-A177-3AD203B41FA5}">
                      <a16:colId xmlns:a16="http://schemas.microsoft.com/office/drawing/2014/main" val="2403889320"/>
                    </a:ext>
                  </a:extLst>
                </a:gridCol>
                <a:gridCol w="1120918">
                  <a:extLst>
                    <a:ext uri="{9D8B030D-6E8A-4147-A177-3AD203B41FA5}">
                      <a16:colId xmlns:a16="http://schemas.microsoft.com/office/drawing/2014/main" val="2672374792"/>
                    </a:ext>
                  </a:extLst>
                </a:gridCol>
                <a:gridCol w="1408805">
                  <a:extLst>
                    <a:ext uri="{9D8B030D-6E8A-4147-A177-3AD203B41FA5}">
                      <a16:colId xmlns:a16="http://schemas.microsoft.com/office/drawing/2014/main" val="201966914"/>
                    </a:ext>
                  </a:extLst>
                </a:gridCol>
                <a:gridCol w="1813070">
                  <a:extLst>
                    <a:ext uri="{9D8B030D-6E8A-4147-A177-3AD203B41FA5}">
                      <a16:colId xmlns:a16="http://schemas.microsoft.com/office/drawing/2014/main" val="4286274682"/>
                    </a:ext>
                  </a:extLst>
                </a:gridCol>
                <a:gridCol w="2156084">
                  <a:extLst>
                    <a:ext uri="{9D8B030D-6E8A-4147-A177-3AD203B41FA5}">
                      <a16:colId xmlns:a16="http://schemas.microsoft.com/office/drawing/2014/main" val="3814036805"/>
                    </a:ext>
                  </a:extLst>
                </a:gridCol>
                <a:gridCol w="1800820">
                  <a:extLst>
                    <a:ext uri="{9D8B030D-6E8A-4147-A177-3AD203B41FA5}">
                      <a16:colId xmlns:a16="http://schemas.microsoft.com/office/drawing/2014/main" val="758101582"/>
                    </a:ext>
                  </a:extLst>
                </a:gridCol>
              </a:tblGrid>
              <a:tr h="225442">
                <a:tc gridSpan="7">
                  <a:txBody>
                    <a:bodyPr/>
                    <a:lstStyle/>
                    <a:p>
                      <a:pPr algn="ctr" rtl="0" fontAlgn="b"/>
                      <a:r>
                        <a:rPr lang="en-US" sz="1400" b="1" dirty="0">
                          <a:effectLst/>
                          <a:latin typeface="Calibri" panose="020F0502020204030204" pitchFamily="34" charset="0"/>
                        </a:rPr>
                        <a:t>Iteration 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CE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3338929"/>
                  </a:ext>
                </a:extLst>
              </a:tr>
              <a:tr h="576677">
                <a:tc>
                  <a:txBody>
                    <a:bodyPr/>
                    <a:lstStyle/>
                    <a:p>
                      <a:pPr algn="ctr" rtl="0" fontAlgn="t"/>
                      <a:r>
                        <a:rPr lang="en-US" sz="1400" b="1" dirty="0">
                          <a:effectLst/>
                          <a:latin typeface="Calibri" panose="020F0502020204030204" pitchFamily="34" charset="0"/>
                        </a:rPr>
                        <a:t>Feature 1</a:t>
                      </a:r>
                    </a:p>
                  </a:txBody>
                  <a:tcPr marL="16905" marR="16905" marT="11270" marB="11270">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Feature 2</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Centroid 0</a:t>
                      </a:r>
                      <a:br>
                        <a:rPr lang="en-US" sz="1400" b="1">
                          <a:effectLst/>
                          <a:latin typeface="Calibri" panose="020F0502020204030204" pitchFamily="34" charset="0"/>
                        </a:rPr>
                      </a:br>
                      <a:r>
                        <a:rPr lang="en-US" sz="1400" b="1">
                          <a:effectLst/>
                          <a:latin typeface="Calibri" panose="020F0502020204030204" pitchFamily="34" charset="0"/>
                        </a:rPr>
                        <a:t>(x,y)</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Centroid 1</a:t>
                      </a:r>
                      <a:br>
                        <a:rPr lang="en-US" sz="1400" b="1">
                          <a:effectLst/>
                          <a:latin typeface="Calibri" panose="020F0502020204030204" pitchFamily="34" charset="0"/>
                        </a:rPr>
                      </a:br>
                      <a:r>
                        <a:rPr lang="en-US" sz="1400" b="1">
                          <a:effectLst/>
                          <a:latin typeface="Calibri" panose="020F0502020204030204" pitchFamily="34" charset="0"/>
                        </a:rPr>
                        <a:t>(x,y)</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Distance</a:t>
                      </a:r>
                      <a:br>
                        <a:rPr lang="en-US" sz="1400" b="1">
                          <a:effectLst/>
                          <a:latin typeface="Calibri" panose="020F0502020204030204" pitchFamily="34" charset="0"/>
                        </a:rPr>
                      </a:br>
                      <a:r>
                        <a:rPr lang="en-US" sz="1400" b="1">
                          <a:effectLst/>
                          <a:latin typeface="Calibri" panose="020F0502020204030204" pitchFamily="34" charset="0"/>
                        </a:rPr>
                        <a:t>to </a:t>
                      </a:r>
                      <a:br>
                        <a:rPr lang="en-US" sz="1400" b="1">
                          <a:effectLst/>
                          <a:latin typeface="Calibri" panose="020F0502020204030204" pitchFamily="34" charset="0"/>
                        </a:rPr>
                      </a:br>
                      <a:r>
                        <a:rPr lang="en-US" sz="1400" b="1">
                          <a:effectLst/>
                          <a:latin typeface="Calibri" panose="020F0502020204030204" pitchFamily="34" charset="0"/>
                        </a:rPr>
                        <a:t>Centroid 0 (Iter 1)</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Distance</a:t>
                      </a:r>
                      <a:br>
                        <a:rPr lang="en-US" sz="1400" b="1">
                          <a:effectLst/>
                          <a:latin typeface="Calibri" panose="020F0502020204030204" pitchFamily="34" charset="0"/>
                        </a:rPr>
                      </a:br>
                      <a:r>
                        <a:rPr lang="en-US" sz="1400" b="1">
                          <a:effectLst/>
                          <a:latin typeface="Calibri" panose="020F0502020204030204" pitchFamily="34" charset="0"/>
                        </a:rPr>
                        <a:t>to </a:t>
                      </a:r>
                      <a:br>
                        <a:rPr lang="en-US" sz="1400" b="1">
                          <a:effectLst/>
                          <a:latin typeface="Calibri" panose="020F0502020204030204" pitchFamily="34" charset="0"/>
                        </a:rPr>
                      </a:br>
                      <a:r>
                        <a:rPr lang="en-US" sz="1400" b="1">
                          <a:effectLst/>
                          <a:latin typeface="Calibri" panose="020F0502020204030204" pitchFamily="34" charset="0"/>
                        </a:rPr>
                        <a:t>Centroid 1 (Iter 1)</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dirty="0">
                          <a:effectLst/>
                          <a:latin typeface="Calibri" panose="020F0502020204030204" pitchFamily="34" charset="0"/>
                        </a:rPr>
                        <a:t>Assigned </a:t>
                      </a:r>
                      <a:br>
                        <a:rPr lang="en-US" sz="1400" b="1" dirty="0">
                          <a:effectLst/>
                          <a:latin typeface="Calibri" panose="020F0502020204030204" pitchFamily="34" charset="0"/>
                        </a:rPr>
                      </a:br>
                      <a:r>
                        <a:rPr lang="en-US" sz="1400" b="1" dirty="0">
                          <a:effectLst/>
                          <a:latin typeface="Calibri" panose="020F0502020204030204" pitchFamily="34" charset="0"/>
                        </a:rPr>
                        <a:t>Cluster </a:t>
                      </a:r>
                      <a:br>
                        <a:rPr lang="en-US" sz="1400" b="1" dirty="0">
                          <a:effectLst/>
                          <a:latin typeface="Calibri" panose="020F0502020204030204" pitchFamily="34" charset="0"/>
                        </a:rPr>
                      </a:br>
                      <a:r>
                        <a:rPr lang="en-US" sz="1400" b="1" dirty="0">
                          <a:effectLst/>
                          <a:latin typeface="Calibri" panose="020F0502020204030204" pitchFamily="34" charset="0"/>
                        </a:rPr>
                        <a:t>(</a:t>
                      </a:r>
                      <a:r>
                        <a:rPr lang="en-US" sz="1400" b="1" dirty="0" err="1">
                          <a:effectLst/>
                          <a:latin typeface="Calibri" panose="020F0502020204030204" pitchFamily="34" charset="0"/>
                        </a:rPr>
                        <a:t>Iter</a:t>
                      </a:r>
                      <a:r>
                        <a:rPr lang="en-US" sz="1400" b="1" dirty="0">
                          <a:effectLst/>
                          <a:latin typeface="Calibri" panose="020F0502020204030204" pitchFamily="34" charset="0"/>
                        </a:rPr>
                        <a:t> 1)</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10380976"/>
                  </a:ext>
                </a:extLst>
              </a:tr>
              <a:tr h="225442">
                <a:tc>
                  <a:txBody>
                    <a:bodyPr/>
                    <a:lstStyle/>
                    <a:p>
                      <a:pPr algn="r" rtl="0" fontAlgn="b"/>
                      <a:r>
                        <a:rPr lang="en-US" sz="1400" b="0" dirty="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(2, 3)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1.41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dirty="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056024948"/>
                  </a:ext>
                </a:extLst>
              </a:tr>
              <a:tr h="225442">
                <a:tc>
                  <a:txBody>
                    <a:bodyPr/>
                    <a:lstStyle/>
                    <a:p>
                      <a:pPr algn="r" rtl="0" fontAlgn="b"/>
                      <a:r>
                        <a:rPr lang="en-US" sz="1400" b="0" dirty="0">
                          <a:effectLst/>
                          <a:latin typeface="Calibri" panose="020F0502020204030204" pitchFamily="34" charset="0"/>
                        </a:rPr>
                        <a:t>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(2, 3)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1.41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dirty="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16774093"/>
                  </a:ext>
                </a:extLst>
              </a:tr>
              <a:tr h="225442">
                <a:tc>
                  <a:txBody>
                    <a:bodyPr/>
                    <a:lstStyle/>
                    <a:p>
                      <a:pPr algn="r" rtl="0" fontAlgn="b"/>
                      <a:r>
                        <a:rPr lang="en-US" sz="1400" b="0" dirty="0">
                          <a:effectLst/>
                          <a:latin typeface="Calibri" panose="020F0502020204030204" pitchFamily="34" charset="0"/>
                        </a:rPr>
                        <a:t>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(2, 3)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2.24</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71604275"/>
                  </a:ext>
                </a:extLst>
              </a:tr>
              <a:tr h="225442">
                <a:tc>
                  <a:txBody>
                    <a:bodyPr/>
                    <a:lstStyle/>
                    <a:p>
                      <a:pPr algn="r" rtl="0" fontAlgn="b"/>
                      <a:r>
                        <a:rPr lang="en-US" sz="1400" b="0" dirty="0">
                          <a:effectLst/>
                          <a:latin typeface="Calibri" panose="020F0502020204030204" pitchFamily="34" charset="0"/>
                        </a:rPr>
                        <a:t>6</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(2, 3)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7.81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6.4</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61053107"/>
                  </a:ext>
                </a:extLst>
              </a:tr>
              <a:tr h="225442">
                <a:tc>
                  <a:txBody>
                    <a:bodyPr/>
                    <a:lstStyle/>
                    <a:p>
                      <a:pPr algn="r" rtl="0" fontAlgn="b"/>
                      <a:r>
                        <a:rPr lang="en-US" sz="1400" b="0" dirty="0">
                          <a:effectLst/>
                          <a:latin typeface="Calibri" panose="020F0502020204030204" pitchFamily="34" charset="0"/>
                        </a:rPr>
                        <a:t>7</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9</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(2, 3)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9.22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7.81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16483284"/>
                  </a:ext>
                </a:extLst>
              </a:tr>
              <a:tr h="225442">
                <a:tc>
                  <a:txBody>
                    <a:bodyPr/>
                    <a:lstStyle/>
                    <a:p>
                      <a:pPr algn="r" rtl="0" fontAlgn="b"/>
                      <a:r>
                        <a:rPr lang="en-US" sz="1400" b="0" dirty="0">
                          <a:effectLst/>
                          <a:latin typeface="Calibri" panose="020F0502020204030204" pitchFamily="34" charset="0"/>
                        </a:rPr>
                        <a:t>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(2, 3)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9.22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7.81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96161199"/>
                  </a:ext>
                </a:extLst>
              </a:tr>
              <a:tr h="225442">
                <a:tc gridSpan="7">
                  <a:txBody>
                    <a:bodyPr/>
                    <a:lstStyle/>
                    <a:p>
                      <a:pPr algn="ctr" rtl="0" fontAlgn="b"/>
                      <a:r>
                        <a:rPr lang="en-US" sz="1400" b="1" dirty="0">
                          <a:effectLst/>
                          <a:latin typeface="Calibri" panose="020F0502020204030204" pitchFamily="34" charset="0"/>
                        </a:rPr>
                        <a:t>Iteration 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CE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6543289"/>
                  </a:ext>
                </a:extLst>
              </a:tr>
              <a:tr h="576677">
                <a:tc>
                  <a:txBody>
                    <a:bodyPr/>
                    <a:lstStyle/>
                    <a:p>
                      <a:pPr algn="ctr" rtl="0" fontAlgn="t"/>
                      <a:r>
                        <a:rPr lang="en-US" sz="1400" b="1" dirty="0">
                          <a:effectLst/>
                          <a:latin typeface="Calibri" panose="020F0502020204030204" pitchFamily="34" charset="0"/>
                        </a:rPr>
                        <a:t>Feature 1</a:t>
                      </a:r>
                    </a:p>
                  </a:txBody>
                  <a:tcPr marL="16905" marR="16905" marT="11270" marB="11270">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Feature 2</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Centroid 0</a:t>
                      </a:r>
                      <a:br>
                        <a:rPr lang="en-US" sz="1400" b="1">
                          <a:effectLst/>
                          <a:latin typeface="Calibri" panose="020F0502020204030204" pitchFamily="34" charset="0"/>
                        </a:rPr>
                      </a:br>
                      <a:r>
                        <a:rPr lang="en-US" sz="1400" b="1">
                          <a:effectLst/>
                          <a:latin typeface="Calibri" panose="020F0502020204030204" pitchFamily="34" charset="0"/>
                        </a:rPr>
                        <a:t>(x,y)</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Centroid 1</a:t>
                      </a:r>
                      <a:br>
                        <a:rPr lang="en-US" sz="1400" b="1">
                          <a:effectLst/>
                          <a:latin typeface="Calibri" panose="020F0502020204030204" pitchFamily="34" charset="0"/>
                        </a:rPr>
                      </a:br>
                      <a:r>
                        <a:rPr lang="en-US" sz="1400" b="1">
                          <a:effectLst/>
                          <a:latin typeface="Calibri" panose="020F0502020204030204" pitchFamily="34" charset="0"/>
                        </a:rPr>
                        <a:t>(x,y)</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Distance</a:t>
                      </a:r>
                      <a:br>
                        <a:rPr lang="en-US" sz="1400" b="1">
                          <a:effectLst/>
                          <a:latin typeface="Calibri" panose="020F0502020204030204" pitchFamily="34" charset="0"/>
                        </a:rPr>
                      </a:br>
                      <a:r>
                        <a:rPr lang="en-US" sz="1400" b="1">
                          <a:effectLst/>
                          <a:latin typeface="Calibri" panose="020F0502020204030204" pitchFamily="34" charset="0"/>
                        </a:rPr>
                        <a:t>to </a:t>
                      </a:r>
                      <a:br>
                        <a:rPr lang="en-US" sz="1400" b="1">
                          <a:effectLst/>
                          <a:latin typeface="Calibri" panose="020F0502020204030204" pitchFamily="34" charset="0"/>
                        </a:rPr>
                      </a:br>
                      <a:r>
                        <a:rPr lang="en-US" sz="1400" b="1">
                          <a:effectLst/>
                          <a:latin typeface="Calibri" panose="020F0502020204030204" pitchFamily="34" charset="0"/>
                        </a:rPr>
                        <a:t>Centroid 0 (Iter 1)</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Distance</a:t>
                      </a:r>
                      <a:br>
                        <a:rPr lang="en-US" sz="1400" b="1">
                          <a:effectLst/>
                          <a:latin typeface="Calibri" panose="020F0502020204030204" pitchFamily="34" charset="0"/>
                        </a:rPr>
                      </a:br>
                      <a:r>
                        <a:rPr lang="en-US" sz="1400" b="1">
                          <a:effectLst/>
                          <a:latin typeface="Calibri" panose="020F0502020204030204" pitchFamily="34" charset="0"/>
                        </a:rPr>
                        <a:t>to </a:t>
                      </a:r>
                      <a:br>
                        <a:rPr lang="en-US" sz="1400" b="1">
                          <a:effectLst/>
                          <a:latin typeface="Calibri" panose="020F0502020204030204" pitchFamily="34" charset="0"/>
                        </a:rPr>
                      </a:br>
                      <a:r>
                        <a:rPr lang="en-US" sz="1400" b="1">
                          <a:effectLst/>
                          <a:latin typeface="Calibri" panose="020F0502020204030204" pitchFamily="34" charset="0"/>
                        </a:rPr>
                        <a:t>Centroid 1 (Iter 1)</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t"/>
                      <a:r>
                        <a:rPr lang="en-US" sz="1400" b="1">
                          <a:effectLst/>
                          <a:latin typeface="Calibri" panose="020F0502020204030204" pitchFamily="34" charset="0"/>
                        </a:rPr>
                        <a:t>Assigned </a:t>
                      </a:r>
                      <a:br>
                        <a:rPr lang="en-US" sz="1400" b="1">
                          <a:effectLst/>
                          <a:latin typeface="Calibri" panose="020F0502020204030204" pitchFamily="34" charset="0"/>
                        </a:rPr>
                      </a:br>
                      <a:r>
                        <a:rPr lang="en-US" sz="1400" b="1">
                          <a:effectLst/>
                          <a:latin typeface="Calibri" panose="020F0502020204030204" pitchFamily="34" charset="0"/>
                        </a:rPr>
                        <a:t>Cluster </a:t>
                      </a:r>
                      <a:br>
                        <a:rPr lang="en-US" sz="1400" b="1">
                          <a:effectLst/>
                          <a:latin typeface="Calibri" panose="020F0502020204030204" pitchFamily="34" charset="0"/>
                        </a:rPr>
                      </a:br>
                      <a:r>
                        <a:rPr lang="en-US" sz="1400" b="1">
                          <a:effectLst/>
                          <a:latin typeface="Calibri" panose="020F0502020204030204" pitchFamily="34" charset="0"/>
                        </a:rPr>
                        <a:t>(Iter 1)</a:t>
                      </a:r>
                    </a:p>
                  </a:txBody>
                  <a:tcPr marL="16905" marR="16905" marT="11270" marB="11270">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99177191"/>
                  </a:ext>
                </a:extLst>
              </a:tr>
              <a:tr h="225442">
                <a:tc>
                  <a:txBody>
                    <a:bodyPr/>
                    <a:lstStyle/>
                    <a:p>
                      <a:pPr algn="r" rtl="0" fontAlgn="b"/>
                      <a:r>
                        <a:rPr lang="en-US" sz="1400" b="0" dirty="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(1.0, 2.0)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(5.2, 6.2)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5.94</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05000667"/>
                  </a:ext>
                </a:extLst>
              </a:tr>
              <a:tr h="225442">
                <a:tc>
                  <a:txBody>
                    <a:bodyPr/>
                    <a:lstStyle/>
                    <a:p>
                      <a:pPr algn="r" rtl="0" fontAlgn="b"/>
                      <a:r>
                        <a:rPr lang="en-US" sz="1400" b="0" dirty="0">
                          <a:effectLst/>
                          <a:latin typeface="Calibri" panose="020F0502020204030204" pitchFamily="34" charset="0"/>
                        </a:rPr>
                        <a:t>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(1.0, 2.0)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(5.2, 6.2)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1.41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4.53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02709555"/>
                  </a:ext>
                </a:extLst>
              </a:tr>
              <a:tr h="225442">
                <a:tc>
                  <a:txBody>
                    <a:bodyPr/>
                    <a:lstStyle/>
                    <a:p>
                      <a:pPr algn="r" rtl="0" fontAlgn="b"/>
                      <a:r>
                        <a:rPr lang="en-US" sz="1400" b="0" dirty="0">
                          <a:effectLst/>
                          <a:latin typeface="Calibri" panose="020F0502020204030204" pitchFamily="34" charset="0"/>
                        </a:rPr>
                        <a:t>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(1.0, 2.0)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(5.2, 6.2)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2.24</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3.88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86528534"/>
                  </a:ext>
                </a:extLst>
              </a:tr>
              <a:tr h="225442">
                <a:tc>
                  <a:txBody>
                    <a:bodyPr/>
                    <a:lstStyle/>
                    <a:p>
                      <a:pPr algn="r" rtl="0" fontAlgn="b"/>
                      <a:r>
                        <a:rPr lang="en-US" sz="1400" b="0" dirty="0">
                          <a:effectLst/>
                          <a:latin typeface="Calibri" panose="020F0502020204030204" pitchFamily="34" charset="0"/>
                        </a:rPr>
                        <a:t>6</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(1.0, 2.0)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(5.2, 6.2)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7.81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1.97</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45579514"/>
                  </a:ext>
                </a:extLst>
              </a:tr>
              <a:tr h="225442">
                <a:tc>
                  <a:txBody>
                    <a:bodyPr/>
                    <a:lstStyle/>
                    <a:p>
                      <a:pPr algn="r" rtl="0" fontAlgn="b"/>
                      <a:r>
                        <a:rPr lang="en-US" sz="1400" b="0" dirty="0">
                          <a:effectLst/>
                          <a:latin typeface="Calibri" panose="020F0502020204030204" pitchFamily="34" charset="0"/>
                        </a:rPr>
                        <a:t>7</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9</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(1.0, 2.0)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400" b="0">
                          <a:effectLst/>
                          <a:latin typeface="Calibri" panose="020F0502020204030204" pitchFamily="34" charset="0"/>
                        </a:rPr>
                        <a:t>(5.2, 6.2)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9.22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3.33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400" b="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90562157"/>
                  </a:ext>
                </a:extLst>
              </a:tr>
              <a:tr h="225442">
                <a:tc>
                  <a:txBody>
                    <a:bodyPr/>
                    <a:lstStyle/>
                    <a:p>
                      <a:pPr algn="r" rtl="0" fontAlgn="b"/>
                      <a:r>
                        <a:rPr lang="en-US" sz="1400" b="0" dirty="0">
                          <a:effectLst/>
                          <a:latin typeface="Calibri" panose="020F0502020204030204" pitchFamily="34" charset="0"/>
                        </a:rPr>
                        <a:t>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r" rtl="0" fontAlgn="b"/>
                      <a:r>
                        <a:rPr lang="en-US" sz="1400" b="0" dirty="0">
                          <a:effectLst/>
                          <a:latin typeface="Calibri" panose="020F0502020204030204" pitchFamily="34" charset="0"/>
                        </a:rPr>
                        <a:t>8</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
                      <a:r>
                        <a:rPr lang="en-US" sz="1400" b="0" dirty="0">
                          <a:effectLst/>
                          <a:latin typeface="Calibri" panose="020F0502020204030204" pitchFamily="34" charset="0"/>
                        </a:rPr>
                        <a:t>(1.0, 2.0)</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
                      <a:r>
                        <a:rPr lang="en-US" sz="1400" b="0" dirty="0">
                          <a:effectLst/>
                          <a:latin typeface="Calibri" panose="020F0502020204030204" pitchFamily="34" charset="0"/>
                        </a:rPr>
                        <a:t>(5.2, 6.2)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r" rtl="0" fontAlgn="b"/>
                      <a:r>
                        <a:rPr lang="en-US" sz="1400" b="0" dirty="0">
                          <a:effectLst/>
                          <a:latin typeface="Calibri" panose="020F0502020204030204" pitchFamily="34" charset="0"/>
                        </a:rPr>
                        <a:t>9.22</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r" rtl="0" fontAlgn="b"/>
                      <a:r>
                        <a:rPr lang="en-US" sz="1400" b="0" dirty="0">
                          <a:effectLst/>
                          <a:latin typeface="Calibri" panose="020F0502020204030204" pitchFamily="34" charset="0"/>
                        </a:rPr>
                        <a:t>3.33</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r" rtl="0" fontAlgn="b"/>
                      <a:r>
                        <a:rPr lang="en-US" sz="1400" b="0" dirty="0">
                          <a:effectLst/>
                          <a:latin typeface="Calibri" panose="020F0502020204030204" pitchFamily="34" charset="0"/>
                        </a:rPr>
                        <a:t>1</a:t>
                      </a:r>
                    </a:p>
                  </a:txBody>
                  <a:tcPr marL="16905" marR="16905" marT="11270" marB="1127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7054209"/>
                  </a:ext>
                </a:extLst>
              </a:tr>
            </a:tbl>
          </a:graphicData>
        </a:graphic>
      </p:graphicFrame>
    </p:spTree>
    <p:extLst>
      <p:ext uri="{BB962C8B-B14F-4D97-AF65-F5344CB8AC3E}">
        <p14:creationId xmlns:p14="http://schemas.microsoft.com/office/powerpoint/2010/main" val="1671244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6D7AB-252C-5B20-365C-D00BD0CFDBF2}"/>
              </a:ext>
            </a:extLst>
          </p:cNvPr>
          <p:cNvSpPr>
            <a:spLocks noGrp="1"/>
          </p:cNvSpPr>
          <p:nvPr>
            <p:ph type="title"/>
          </p:nvPr>
        </p:nvSpPr>
        <p:spPr>
          <a:xfrm>
            <a:off x="769785" y="191844"/>
            <a:ext cx="9472971" cy="716142"/>
          </a:xfrm>
        </p:spPr>
        <p:txBody>
          <a:bodyPr/>
          <a:lstStyle/>
          <a:p>
            <a:r>
              <a:rPr lang="en-US" dirty="0">
                <a:latin typeface="+mj-lt"/>
              </a:rPr>
              <a:t>K-Means Example</a:t>
            </a:r>
          </a:p>
        </p:txBody>
      </p:sp>
      <p:pic>
        <p:nvPicPr>
          <p:cNvPr id="2050" name="Picture 2">
            <a:extLst>
              <a:ext uri="{FF2B5EF4-FFF2-40B4-BE49-F238E27FC236}">
                <a16:creationId xmlns:a16="http://schemas.microsoft.com/office/drawing/2014/main" id="{5D501026-F24C-1750-82DA-C4F7BEA2CA04}"/>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554181" y="1934151"/>
            <a:ext cx="2743201" cy="205267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458653C-10D9-71FD-3123-2F7FD6496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615" y="1734010"/>
            <a:ext cx="3044385" cy="227935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38D061D5-F1CC-D9A4-C2C1-D49FAD5629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2961" y="1612621"/>
            <a:ext cx="3211660" cy="240459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085110F-8968-F3BE-FC0B-48D8598DDB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50281" y="1552755"/>
            <a:ext cx="3211660" cy="24045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731E031C-C656-98C4-7B70-7CBFE9E2D2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0123" y="4213510"/>
            <a:ext cx="3046148" cy="227935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CD45C79-FF5B-0937-6438-A3F9BB819A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2287" y="4043079"/>
            <a:ext cx="3211660" cy="2404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62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9AA5F-B0F0-9E31-B17A-3DC7FDF8B31F}"/>
              </a:ext>
            </a:extLst>
          </p:cNvPr>
          <p:cNvSpPr>
            <a:spLocks noGrp="1"/>
          </p:cNvSpPr>
          <p:nvPr>
            <p:ph type="title"/>
          </p:nvPr>
        </p:nvSpPr>
        <p:spPr>
          <a:xfrm>
            <a:off x="947737" y="409541"/>
            <a:ext cx="9472971" cy="716142"/>
          </a:xfrm>
        </p:spPr>
        <p:txBody>
          <a:bodyPr/>
          <a:lstStyle/>
          <a:p>
            <a:r>
              <a:rPr lang="en-US" dirty="0">
                <a:latin typeface="+mj-lt"/>
              </a:rPr>
              <a:t>Clustering</a:t>
            </a:r>
          </a:p>
        </p:txBody>
      </p:sp>
      <p:sp>
        <p:nvSpPr>
          <p:cNvPr id="3" name="Content Placeholder 2">
            <a:extLst>
              <a:ext uri="{FF2B5EF4-FFF2-40B4-BE49-F238E27FC236}">
                <a16:creationId xmlns:a16="http://schemas.microsoft.com/office/drawing/2014/main" id="{F0103E9D-E33C-7EAB-63AD-B78AECC9E1F9}"/>
              </a:ext>
            </a:extLst>
          </p:cNvPr>
          <p:cNvSpPr>
            <a:spLocks noGrp="1"/>
          </p:cNvSpPr>
          <p:nvPr>
            <p:ph sz="quarter" idx="13"/>
          </p:nvPr>
        </p:nvSpPr>
        <p:spPr/>
        <p:txBody>
          <a:bodyPr/>
          <a:lstStyle/>
          <a:p>
            <a:endParaRPr lang="en-US"/>
          </a:p>
        </p:txBody>
      </p:sp>
      <p:pic>
        <p:nvPicPr>
          <p:cNvPr id="1026" name="Picture 2">
            <a:extLst>
              <a:ext uri="{FF2B5EF4-FFF2-40B4-BE49-F238E27FC236}">
                <a16:creationId xmlns:a16="http://schemas.microsoft.com/office/drawing/2014/main" id="{22338457-1A0A-1E67-56FC-76E730D99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9313" y="2063510"/>
            <a:ext cx="7172614" cy="366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526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C214E-B5D1-4813-9367-A952762A430E}"/>
              </a:ext>
            </a:extLst>
          </p:cNvPr>
          <p:cNvSpPr>
            <a:spLocks noGrp="1"/>
          </p:cNvSpPr>
          <p:nvPr>
            <p:ph type="title"/>
          </p:nvPr>
        </p:nvSpPr>
        <p:spPr>
          <a:xfrm>
            <a:off x="865676" y="320798"/>
            <a:ext cx="9472971" cy="716142"/>
          </a:xfrm>
        </p:spPr>
        <p:txBody>
          <a:bodyPr/>
          <a:lstStyle/>
          <a:p>
            <a:r>
              <a:rPr lang="en-US" dirty="0">
                <a:latin typeface="+mj-lt"/>
              </a:rPr>
              <a:t>Cluster Quality Measurement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B68C0F-5102-499E-3A40-4A015AF41963}"/>
                  </a:ext>
                </a:extLst>
              </p:cNvPr>
              <p:cNvSpPr>
                <a:spLocks noGrp="1"/>
              </p:cNvSpPr>
              <p:nvPr>
                <p:ph sz="quarter" idx="13"/>
              </p:nvPr>
            </p:nvSpPr>
            <p:spPr>
              <a:xfrm>
                <a:off x="947738" y="1776413"/>
                <a:ext cx="9692553" cy="4499696"/>
              </a:xfrm>
            </p:spPr>
            <p:txBody>
              <a:bodyPr/>
              <a:lstStyle/>
              <a:p>
                <a:r>
                  <a:rPr lang="en-US" sz="2400" b="1" dirty="0">
                    <a:latin typeface="+mn-lt"/>
                  </a:rPr>
                  <a:t>Silhouette Score</a:t>
                </a:r>
              </a:p>
              <a:p>
                <a:pPr lvl="1"/>
                <a:r>
                  <a:rPr lang="en-US" sz="2400" dirty="0">
                    <a:latin typeface="+mn-lt"/>
                  </a:rPr>
                  <a:t>Measures how similar each point is to its own cluster compared to the nearest other cluster.</a:t>
                </a:r>
              </a:p>
              <a:p>
                <a:pPr lvl="1"/>
                <a:r>
                  <a:rPr lang="en-US" sz="2400" dirty="0">
                    <a:latin typeface="+mn-lt"/>
                  </a:rPr>
                  <a:t>Formula: </a:t>
                </a:r>
                <a14:m>
                  <m:oMath xmlns:m="http://schemas.openxmlformats.org/officeDocument/2006/math">
                    <m:r>
                      <a:rPr lang="sv-SE" sz="2400" b="0" i="1" smtClean="0">
                        <a:latin typeface="Cambria Math" panose="02040503050406030204" pitchFamily="18" charset="0"/>
                      </a:rPr>
                      <m:t>𝑆</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𝑖</m:t>
                        </m:r>
                      </m:e>
                    </m:d>
                    <m:r>
                      <a:rPr lang="sv-SE" sz="2400" b="0" i="1" smtClean="0">
                        <a:latin typeface="Cambria Math" panose="02040503050406030204" pitchFamily="18" charset="0"/>
                      </a:rPr>
                      <m:t>= </m:t>
                    </m:r>
                    <m:f>
                      <m:fPr>
                        <m:ctrlPr>
                          <a:rPr lang="en-US" sz="2400" i="1" smtClean="0">
                            <a:latin typeface="Cambria Math" panose="02040503050406030204" pitchFamily="18" charset="0"/>
                          </a:rPr>
                        </m:ctrlPr>
                      </m:fPr>
                      <m:num>
                        <m:r>
                          <a:rPr lang="sv-SE" sz="2400" b="0" i="1" smtClean="0">
                            <a:latin typeface="Cambria Math" panose="02040503050406030204" pitchFamily="18" charset="0"/>
                          </a:rPr>
                          <m:t>𝑏</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𝑖</m:t>
                            </m:r>
                          </m:e>
                        </m:d>
                        <m:r>
                          <a:rPr lang="sv-SE" sz="2400" b="0" i="1" smtClean="0">
                            <a:latin typeface="Cambria Math" panose="02040503050406030204" pitchFamily="18" charset="0"/>
                          </a:rPr>
                          <m:t>−</m:t>
                        </m:r>
                        <m:r>
                          <a:rPr lang="sv-SE" sz="2400" b="0" i="1" smtClean="0">
                            <a:latin typeface="Cambria Math" panose="02040503050406030204" pitchFamily="18" charset="0"/>
                          </a:rPr>
                          <m:t>𝑎</m:t>
                        </m:r>
                        <m:r>
                          <a:rPr lang="sv-SE" sz="2400" b="0" i="1" smtClean="0">
                            <a:latin typeface="Cambria Math" panose="02040503050406030204" pitchFamily="18" charset="0"/>
                          </a:rPr>
                          <m:t>(</m:t>
                        </m:r>
                        <m:r>
                          <a:rPr lang="sv-SE" sz="2400" b="0" i="1" smtClean="0">
                            <a:latin typeface="Cambria Math" panose="02040503050406030204" pitchFamily="18" charset="0"/>
                          </a:rPr>
                          <m:t>𝑖</m:t>
                        </m:r>
                        <m:r>
                          <a:rPr lang="sv-SE" sz="2400" b="0" i="1" smtClean="0">
                            <a:latin typeface="Cambria Math" panose="02040503050406030204" pitchFamily="18" charset="0"/>
                          </a:rPr>
                          <m:t>)</m:t>
                        </m:r>
                      </m:num>
                      <m:den>
                        <m:r>
                          <a:rPr lang="sv-SE" sz="2400" b="0" i="1" smtClean="0">
                            <a:latin typeface="Cambria Math" panose="02040503050406030204" pitchFamily="18" charset="0"/>
                          </a:rPr>
                          <m:t>𝑚𝑎𝑥</m:t>
                        </m:r>
                        <m:r>
                          <a:rPr lang="sv-SE" sz="2400" b="0" i="1" smtClean="0">
                            <a:latin typeface="Cambria Math" panose="02040503050406030204" pitchFamily="18" charset="0"/>
                          </a:rPr>
                          <m:t>(</m:t>
                        </m:r>
                        <m:r>
                          <a:rPr lang="sv-SE" sz="2400" b="0" i="1" smtClean="0">
                            <a:latin typeface="Cambria Math" panose="02040503050406030204" pitchFamily="18" charset="0"/>
                          </a:rPr>
                          <m:t>𝑎</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𝑖</m:t>
                            </m:r>
                          </m:e>
                        </m:d>
                        <m:r>
                          <a:rPr lang="sv-SE" sz="2400" b="0" i="1" smtClean="0">
                            <a:latin typeface="Cambria Math" panose="02040503050406030204" pitchFamily="18" charset="0"/>
                          </a:rPr>
                          <m:t>,</m:t>
                        </m:r>
                        <m:r>
                          <a:rPr lang="sv-SE" sz="2400" b="0" i="1" smtClean="0">
                            <a:latin typeface="Cambria Math" panose="02040503050406030204" pitchFamily="18" charset="0"/>
                          </a:rPr>
                          <m:t>𝑏</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𝑖</m:t>
                            </m:r>
                          </m:e>
                        </m:d>
                        <m:r>
                          <a:rPr lang="sv-SE" sz="2400" b="0" i="1" smtClean="0">
                            <a:latin typeface="Cambria Math" panose="02040503050406030204" pitchFamily="18" charset="0"/>
                          </a:rPr>
                          <m:t>)</m:t>
                        </m:r>
                      </m:den>
                    </m:f>
                  </m:oMath>
                </a14:m>
                <a:endParaRPr lang="en-US" sz="2400" i="1" dirty="0">
                  <a:latin typeface="+mn-lt"/>
                </a:endParaRPr>
              </a:p>
              <a:p>
                <a:pPr>
                  <a:buFont typeface="Arial" panose="020B0604020202020204" pitchFamily="34" charset="0"/>
                  <a:buChar char="•"/>
                </a:pPr>
                <a:r>
                  <a:rPr lang="en-US" sz="2400" dirty="0">
                    <a:latin typeface="+mn-lt"/>
                  </a:rPr>
                  <a:t>a(</a:t>
                </a:r>
                <a:r>
                  <a:rPr lang="en-US" sz="2400" dirty="0" err="1">
                    <a:latin typeface="+mn-lt"/>
                  </a:rPr>
                  <a:t>i</a:t>
                </a:r>
                <a:r>
                  <a:rPr lang="en-US" sz="2400" dirty="0">
                    <a:latin typeface="+mn-lt"/>
                  </a:rPr>
                  <a:t>) or Cohesion</a:t>
                </a:r>
              </a:p>
              <a:p>
                <a:pPr lvl="1"/>
                <a:r>
                  <a:rPr lang="en-US" sz="2000" dirty="0">
                    <a:latin typeface="+mn-lt"/>
                  </a:rPr>
                  <a:t>Mean intra-cluster distance (average distance between point </a:t>
                </a:r>
                <a:r>
                  <a:rPr lang="en-US" sz="2000" dirty="0" err="1">
                    <a:latin typeface="+mn-lt"/>
                  </a:rPr>
                  <a:t>i</a:t>
                </a:r>
                <a:r>
                  <a:rPr lang="en-US" sz="2000" dirty="0">
                    <a:latin typeface="+mn-lt"/>
                  </a:rPr>
                  <a:t> and all other points in its own cluster ) </a:t>
                </a:r>
                <a:endParaRPr lang="en-US" sz="2400" dirty="0">
                  <a:latin typeface="+mn-lt"/>
                </a:endParaRPr>
              </a:p>
              <a:p>
                <a:r>
                  <a:rPr lang="en-US" sz="2400" dirty="0">
                    <a:latin typeface="+mn-lt"/>
                  </a:rPr>
                  <a:t>b(</a:t>
                </a:r>
                <a:r>
                  <a:rPr lang="en-US" sz="2400" dirty="0" err="1">
                    <a:latin typeface="+mn-lt"/>
                  </a:rPr>
                  <a:t>i</a:t>
                </a:r>
                <a:r>
                  <a:rPr lang="en-US" sz="2400" dirty="0">
                    <a:latin typeface="+mn-lt"/>
                  </a:rPr>
                  <a:t>) or Separation</a:t>
                </a:r>
              </a:p>
              <a:p>
                <a:pPr lvl="1"/>
                <a:r>
                  <a:rPr lang="en-US" sz="2000" dirty="0">
                    <a:latin typeface="+mn-lt"/>
                  </a:rPr>
                  <a:t>Mean nearest-cluster distance (average distance between point </a:t>
                </a:r>
                <a:r>
                  <a:rPr lang="en-US" sz="2000" dirty="0" err="1">
                    <a:latin typeface="+mn-lt"/>
                  </a:rPr>
                  <a:t>i</a:t>
                </a:r>
                <a:r>
                  <a:rPr lang="en-US" sz="2000" dirty="0">
                    <a:latin typeface="+mn-lt"/>
                  </a:rPr>
                  <a:t> and points in the nearest different cluster)</a:t>
                </a:r>
                <a:endParaRPr lang="en-US" sz="2400" dirty="0">
                  <a:latin typeface="+mn-lt"/>
                </a:endParaRPr>
              </a:p>
              <a:p>
                <a:r>
                  <a:rPr lang="en-US" sz="2400" dirty="0">
                    <a:latin typeface="+mn-lt"/>
                  </a:rPr>
                  <a:t>Values range from -1 to 1</a:t>
                </a:r>
                <a:endParaRPr lang="en-US" sz="2400" i="1" dirty="0">
                  <a:latin typeface="+mn-lt"/>
                </a:endParaRPr>
              </a:p>
              <a:p>
                <a:pPr lvl="1"/>
                <a:r>
                  <a:rPr lang="en-US" sz="2200" i="1" dirty="0">
                    <a:latin typeface="+mn-lt"/>
                  </a:rPr>
                  <a:t>Near 1 → Well-clustered data (clear cluster separation)</a:t>
                </a:r>
              </a:p>
              <a:p>
                <a:pPr lvl="1"/>
                <a:r>
                  <a:rPr lang="en-US" sz="2200" i="1" dirty="0">
                    <a:latin typeface="+mn-lt"/>
                  </a:rPr>
                  <a:t>Near 0 → Overlapping clusters</a:t>
                </a:r>
              </a:p>
              <a:p>
                <a:pPr lvl="1"/>
                <a:r>
                  <a:rPr lang="en-US" sz="2200" i="1" dirty="0">
                    <a:latin typeface="+mn-lt"/>
                  </a:rPr>
                  <a:t>Negative → Poor clustering (points are assigned to the wrong clusters)</a:t>
                </a:r>
              </a:p>
            </p:txBody>
          </p:sp>
        </mc:Choice>
        <mc:Fallback>
          <p:sp>
            <p:nvSpPr>
              <p:cNvPr id="3" name="Content Placeholder 2">
                <a:extLst>
                  <a:ext uri="{FF2B5EF4-FFF2-40B4-BE49-F238E27FC236}">
                    <a16:creationId xmlns:a16="http://schemas.microsoft.com/office/drawing/2014/main" id="{C7B68C0F-5102-499E-3A40-4A015AF41963}"/>
                  </a:ext>
                </a:extLst>
              </p:cNvPr>
              <p:cNvSpPr>
                <a:spLocks noGrp="1" noRot="1" noChangeAspect="1" noMove="1" noResize="1" noEditPoints="1" noAdjustHandles="1" noChangeArrowheads="1" noChangeShapeType="1" noTextEdit="1"/>
              </p:cNvSpPr>
              <p:nvPr>
                <p:ph sz="quarter" idx="13"/>
              </p:nvPr>
            </p:nvSpPr>
            <p:spPr>
              <a:xfrm>
                <a:off x="947738" y="1776413"/>
                <a:ext cx="9692553" cy="4499696"/>
              </a:xfrm>
              <a:blipFill>
                <a:blip r:embed="rId2"/>
                <a:stretch>
                  <a:fillRect l="-785" t="-2528" b="-11798"/>
                </a:stretch>
              </a:blipFill>
            </p:spPr>
            <p:txBody>
              <a:bodyPr/>
              <a:lstStyle/>
              <a:p>
                <a:r>
                  <a:rPr lang="en-US">
                    <a:noFill/>
                  </a:rPr>
                  <a:t> </a:t>
                </a:r>
              </a:p>
            </p:txBody>
          </p:sp>
        </mc:Fallback>
      </mc:AlternateContent>
    </p:spTree>
    <p:extLst>
      <p:ext uri="{BB962C8B-B14F-4D97-AF65-F5344CB8AC3E}">
        <p14:creationId xmlns:p14="http://schemas.microsoft.com/office/powerpoint/2010/main" val="3030069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68A6-9576-EC12-3D79-FBC172A529CB}"/>
              </a:ext>
            </a:extLst>
          </p:cNvPr>
          <p:cNvSpPr>
            <a:spLocks noGrp="1"/>
          </p:cNvSpPr>
          <p:nvPr>
            <p:ph type="title"/>
          </p:nvPr>
        </p:nvSpPr>
        <p:spPr>
          <a:xfrm>
            <a:off x="947737" y="320798"/>
            <a:ext cx="9472971" cy="716142"/>
          </a:xfrm>
        </p:spPr>
        <p:txBody>
          <a:bodyPr/>
          <a:lstStyle/>
          <a:p>
            <a:r>
              <a:rPr lang="en-US" dirty="0">
                <a:latin typeface="+mj-lt"/>
              </a:rPr>
              <a:t>Importance of the Choice of Initial Centroid</a:t>
            </a:r>
          </a:p>
        </p:txBody>
      </p:sp>
      <p:sp>
        <p:nvSpPr>
          <p:cNvPr id="4" name="Content Placeholder 3">
            <a:extLst>
              <a:ext uri="{FF2B5EF4-FFF2-40B4-BE49-F238E27FC236}">
                <a16:creationId xmlns:a16="http://schemas.microsoft.com/office/drawing/2014/main" id="{D6BE01A7-74B0-86E4-513F-FBCDB6BE0148}"/>
              </a:ext>
            </a:extLst>
          </p:cNvPr>
          <p:cNvSpPr>
            <a:spLocks noGrp="1"/>
          </p:cNvSpPr>
          <p:nvPr>
            <p:ph sz="quarter" idx="13"/>
          </p:nvPr>
        </p:nvSpPr>
        <p:spPr/>
        <p:txBody>
          <a:bodyPr/>
          <a:lstStyle/>
          <a:p>
            <a:r>
              <a:rPr lang="en-US" sz="2400" dirty="0">
                <a:latin typeface="+mn-lt"/>
              </a:rPr>
              <a:t>Example with 2 different Initial centroid can generate two different clusters </a:t>
            </a:r>
          </a:p>
        </p:txBody>
      </p:sp>
      <p:pic>
        <p:nvPicPr>
          <p:cNvPr id="3080" name="Picture 8">
            <a:extLst>
              <a:ext uri="{FF2B5EF4-FFF2-40B4-BE49-F238E27FC236}">
                <a16:creationId xmlns:a16="http://schemas.microsoft.com/office/drawing/2014/main" id="{A23FFBDB-C885-874C-0ED3-48504EF65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2897335"/>
            <a:ext cx="4548332" cy="340537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FFC06C48-49A3-97EA-7102-DBC27A5BD9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7018" y="2897335"/>
            <a:ext cx="4548332" cy="3405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955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6EA11-027D-E7E0-9EC9-A7A228E08783}"/>
              </a:ext>
            </a:extLst>
          </p:cNvPr>
          <p:cNvSpPr>
            <a:spLocks noGrp="1"/>
          </p:cNvSpPr>
          <p:nvPr>
            <p:ph type="title"/>
          </p:nvPr>
        </p:nvSpPr>
        <p:spPr>
          <a:xfrm>
            <a:off x="947738" y="344244"/>
            <a:ext cx="9472971" cy="716142"/>
          </a:xfrm>
        </p:spPr>
        <p:txBody>
          <a:bodyPr/>
          <a:lstStyle/>
          <a:p>
            <a:r>
              <a:rPr lang="en-US" dirty="0">
                <a:latin typeface="+mj-lt"/>
              </a:rPr>
              <a:t>Drawbacks of K-Means Algorithm</a:t>
            </a:r>
          </a:p>
        </p:txBody>
      </p:sp>
      <p:sp>
        <p:nvSpPr>
          <p:cNvPr id="3" name="Content Placeholder 2">
            <a:extLst>
              <a:ext uri="{FF2B5EF4-FFF2-40B4-BE49-F238E27FC236}">
                <a16:creationId xmlns:a16="http://schemas.microsoft.com/office/drawing/2014/main" id="{ED884A1B-DDE5-A472-CECD-0F693F0B86D8}"/>
              </a:ext>
            </a:extLst>
          </p:cNvPr>
          <p:cNvSpPr>
            <a:spLocks noGrp="1"/>
          </p:cNvSpPr>
          <p:nvPr>
            <p:ph sz="quarter" idx="13"/>
          </p:nvPr>
        </p:nvSpPr>
        <p:spPr>
          <a:xfrm>
            <a:off x="445478" y="1207477"/>
            <a:ext cx="9975232" cy="4813910"/>
          </a:xfrm>
        </p:spPr>
        <p:txBody>
          <a:bodyPr/>
          <a:lstStyle/>
          <a:p>
            <a:pPr>
              <a:lnSpc>
                <a:spcPct val="100000"/>
              </a:lnSpc>
            </a:pPr>
            <a:r>
              <a:rPr lang="en-US" sz="2000" b="1" dirty="0">
                <a:latin typeface="+mn-lt"/>
              </a:rPr>
              <a:t>Convergence Speed</a:t>
            </a:r>
            <a:r>
              <a:rPr lang="en-US" sz="2000" dirty="0">
                <a:latin typeface="+mn-lt"/>
              </a:rPr>
              <a:t>: Poorly chosen centroids can lead to slow convergence or unnecessary iterations.</a:t>
            </a:r>
          </a:p>
          <a:p>
            <a:pPr>
              <a:lnSpc>
                <a:spcPct val="100000"/>
              </a:lnSpc>
            </a:pPr>
            <a:r>
              <a:rPr lang="en-US" sz="2000" b="1" dirty="0">
                <a:latin typeface="+mn-lt"/>
              </a:rPr>
              <a:t>Local Minima</a:t>
            </a:r>
            <a:r>
              <a:rPr lang="en-US" sz="2000" dirty="0">
                <a:latin typeface="+mn-lt"/>
              </a:rPr>
              <a:t>: K-Means is an iterative optimization algorithm that may get stuck in local minima, leading to suboptimal clustering.</a:t>
            </a:r>
          </a:p>
          <a:p>
            <a:pPr>
              <a:lnSpc>
                <a:spcPct val="100000"/>
              </a:lnSpc>
            </a:pPr>
            <a:r>
              <a:rPr lang="en-US" sz="2000" b="1" dirty="0">
                <a:latin typeface="+mn-lt"/>
              </a:rPr>
              <a:t>Cluster Quality</a:t>
            </a:r>
            <a:r>
              <a:rPr lang="en-US" sz="2000" dirty="0">
                <a:latin typeface="+mn-lt"/>
              </a:rPr>
              <a:t>: If the centroids are not well-initialized, clusters may be unbalanced or incorrectly formed, reducing clustering effectiveness.</a:t>
            </a:r>
          </a:p>
          <a:p>
            <a:pPr>
              <a:lnSpc>
                <a:spcPct val="100000"/>
              </a:lnSpc>
            </a:pPr>
            <a:r>
              <a:rPr lang="en-US" sz="2000" b="1" dirty="0">
                <a:latin typeface="+mn-lt"/>
              </a:rPr>
              <a:t>Reproducibility</a:t>
            </a:r>
            <a:r>
              <a:rPr lang="en-US" sz="2000" dirty="0">
                <a:latin typeface="+mn-lt"/>
              </a:rPr>
              <a:t>: Random initialization can lead to different results for different </a:t>
            </a:r>
            <a:r>
              <a:rPr lang="en-US" sz="2000" dirty="0"/>
              <a:t>runs</a:t>
            </a:r>
            <a:r>
              <a:rPr lang="en-US" sz="2000" dirty="0">
                <a:latin typeface="+mn-lt"/>
              </a:rPr>
              <a:t>, making clustering inconsistent.</a:t>
            </a:r>
          </a:p>
          <a:p>
            <a:pPr>
              <a:lnSpc>
                <a:spcPct val="100000"/>
              </a:lnSpc>
            </a:pPr>
            <a:r>
              <a:rPr lang="en-US" sz="2000" b="1" dirty="0">
                <a:latin typeface="+mn-lt"/>
              </a:rPr>
              <a:t>Sensitivity to Outliers: </a:t>
            </a:r>
            <a:r>
              <a:rPr lang="en-US" sz="2000" dirty="0">
                <a:latin typeface="+mn-lt"/>
              </a:rPr>
              <a:t>Outliers can significantly distort the centroid positions, reducing clustering accuracy.</a:t>
            </a:r>
          </a:p>
          <a:p>
            <a:pPr>
              <a:lnSpc>
                <a:spcPct val="100000"/>
              </a:lnSpc>
            </a:pPr>
            <a:r>
              <a:rPr lang="en-US" sz="2000" b="1" dirty="0">
                <a:latin typeface="+mn-lt"/>
              </a:rPr>
              <a:t>Predefined Number of Clusters:</a:t>
            </a:r>
            <a:r>
              <a:rPr lang="en-US" sz="2000" dirty="0">
                <a:latin typeface="+mn-lt"/>
              </a:rPr>
              <a:t> The number of clusters (K) must be specified in advance, which may not align with the actual data distribution.</a:t>
            </a:r>
          </a:p>
          <a:p>
            <a:pPr>
              <a:lnSpc>
                <a:spcPct val="100000"/>
              </a:lnSpc>
            </a:pPr>
            <a:r>
              <a:rPr lang="en-US" sz="2000" b="1" dirty="0">
                <a:latin typeface="+mn-lt"/>
              </a:rPr>
              <a:t>Shape and Size Assumptions: </a:t>
            </a:r>
            <a:r>
              <a:rPr lang="en-US" sz="2000" dirty="0">
                <a:latin typeface="+mn-lt"/>
              </a:rPr>
              <a:t>K-Means performs best with round and evenly sized clusters, making it unsuitable for irregularly shaped or unevenly distributed clusters.</a:t>
            </a:r>
          </a:p>
          <a:p>
            <a:endParaRPr lang="en-US" sz="2400" dirty="0">
              <a:latin typeface="+mn-lt"/>
            </a:endParaRPr>
          </a:p>
          <a:p>
            <a:pPr marL="0" indent="0">
              <a:buNone/>
            </a:pPr>
            <a:endParaRPr lang="en-US" sz="2400" dirty="0">
              <a:latin typeface="+mn-lt"/>
            </a:endParaRPr>
          </a:p>
        </p:txBody>
      </p:sp>
    </p:spTree>
    <p:extLst>
      <p:ext uri="{BB962C8B-B14F-4D97-AF65-F5344CB8AC3E}">
        <p14:creationId xmlns:p14="http://schemas.microsoft.com/office/powerpoint/2010/main" val="2450102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BD4A-7A69-AA47-FA32-9BBDE10A9D0B}"/>
              </a:ext>
            </a:extLst>
          </p:cNvPr>
          <p:cNvSpPr>
            <a:spLocks noGrp="1"/>
          </p:cNvSpPr>
          <p:nvPr>
            <p:ph type="title"/>
          </p:nvPr>
        </p:nvSpPr>
        <p:spPr/>
        <p:txBody>
          <a:bodyPr/>
          <a:lstStyle/>
          <a:p>
            <a:r>
              <a:rPr lang="en-US" dirty="0">
                <a:latin typeface="+mj-lt"/>
              </a:rPr>
              <a:t>K-Means++</a:t>
            </a:r>
          </a:p>
        </p:txBody>
      </p:sp>
      <p:sp>
        <p:nvSpPr>
          <p:cNvPr id="3" name="Content Placeholder 2">
            <a:extLst>
              <a:ext uri="{FF2B5EF4-FFF2-40B4-BE49-F238E27FC236}">
                <a16:creationId xmlns:a16="http://schemas.microsoft.com/office/drawing/2014/main" id="{65DF502F-2343-4D61-EF73-FC03941D2FBA}"/>
              </a:ext>
            </a:extLst>
          </p:cNvPr>
          <p:cNvSpPr>
            <a:spLocks noGrp="1"/>
          </p:cNvSpPr>
          <p:nvPr>
            <p:ph sz="quarter" idx="13"/>
          </p:nvPr>
        </p:nvSpPr>
        <p:spPr/>
        <p:txBody>
          <a:bodyPr/>
          <a:lstStyle/>
          <a:p>
            <a:r>
              <a:rPr lang="en-US" sz="2400" dirty="0">
                <a:latin typeface="+mn-lt"/>
              </a:rPr>
              <a:t>Address the issue of random centroid initialization. </a:t>
            </a:r>
          </a:p>
          <a:p>
            <a:pPr marL="0" indent="0">
              <a:buNone/>
            </a:pPr>
            <a:endParaRPr lang="en-US" sz="2400" dirty="0">
              <a:latin typeface="+mn-lt"/>
            </a:endParaRPr>
          </a:p>
          <a:p>
            <a:r>
              <a:rPr lang="en-US" sz="2400" b="1" dirty="0">
                <a:latin typeface="+mn-lt"/>
              </a:rPr>
              <a:t>Algorithm</a:t>
            </a:r>
          </a:p>
          <a:p>
            <a:pPr marL="914400" lvl="1" indent="-457200">
              <a:buFont typeface="+mj-lt"/>
              <a:buAutoNum type="arabicPeriod"/>
            </a:pPr>
            <a:r>
              <a:rPr lang="en-US" sz="2000" b="1" dirty="0">
                <a:latin typeface="+mn-lt"/>
              </a:rPr>
              <a:t>Choose the First Centroid: </a:t>
            </a:r>
            <a:r>
              <a:rPr lang="en-US" sz="2000" dirty="0">
                <a:latin typeface="+mn-lt"/>
              </a:rPr>
              <a:t>Select the first centroid </a:t>
            </a:r>
            <a:r>
              <a:rPr lang="en-US" sz="2000" b="1" dirty="0">
                <a:latin typeface="+mn-lt"/>
              </a:rPr>
              <a:t>randomly from the data points.</a:t>
            </a:r>
          </a:p>
          <a:p>
            <a:pPr marL="914400" lvl="1" indent="-457200">
              <a:buFont typeface="+mj-lt"/>
              <a:buAutoNum type="arabicPeriod"/>
            </a:pPr>
            <a:r>
              <a:rPr lang="en-US" sz="2000" b="1" dirty="0">
                <a:latin typeface="+mn-lt"/>
              </a:rPr>
              <a:t>Select Subsequent Centroids: </a:t>
            </a:r>
          </a:p>
          <a:p>
            <a:pPr marL="1371600" lvl="2" indent="-457200">
              <a:buFont typeface="+mj-lt"/>
              <a:buAutoNum type="romanUcPeriod"/>
            </a:pPr>
            <a:r>
              <a:rPr lang="en-US" sz="1800" dirty="0">
                <a:latin typeface="+mn-lt"/>
              </a:rPr>
              <a:t>For each remaining centroid, calculate </a:t>
            </a:r>
            <a:r>
              <a:rPr lang="en-US" sz="1800" b="1" dirty="0">
                <a:latin typeface="+mn-lt"/>
              </a:rPr>
              <a:t>the squared distance</a:t>
            </a:r>
            <a:r>
              <a:rPr lang="en-US" sz="1800" dirty="0">
                <a:latin typeface="+mn-lt"/>
              </a:rPr>
              <a:t> </a:t>
            </a:r>
            <a:r>
              <a:rPr lang="en-US" sz="1800" b="1" dirty="0">
                <a:latin typeface="+mn-lt"/>
              </a:rPr>
              <a:t>of each data point to the nearest centroid.</a:t>
            </a:r>
          </a:p>
          <a:p>
            <a:pPr marL="1371600" lvl="2" indent="-457200">
              <a:buFont typeface="+mj-lt"/>
              <a:buAutoNum type="romanUcPeriod"/>
            </a:pPr>
            <a:r>
              <a:rPr lang="en-US" sz="1800" dirty="0">
                <a:latin typeface="+mn-lt"/>
              </a:rPr>
              <a:t>Assign </a:t>
            </a:r>
            <a:r>
              <a:rPr lang="en-US" sz="1800" b="1" dirty="0">
                <a:latin typeface="+mn-lt"/>
              </a:rPr>
              <a:t>a probability </a:t>
            </a:r>
            <a:r>
              <a:rPr lang="en-US" sz="1800" dirty="0">
                <a:latin typeface="+mn-lt"/>
              </a:rPr>
              <a:t>to </a:t>
            </a:r>
            <a:r>
              <a:rPr lang="en-US" sz="1800" b="1" dirty="0">
                <a:latin typeface="+mn-lt"/>
              </a:rPr>
              <a:t>each point </a:t>
            </a:r>
            <a:r>
              <a:rPr lang="en-US" sz="1800" dirty="0">
                <a:latin typeface="+mn-lt"/>
              </a:rPr>
              <a:t>based on </a:t>
            </a:r>
            <a:r>
              <a:rPr lang="en-US" sz="1800" b="1" dirty="0">
                <a:latin typeface="+mn-lt"/>
              </a:rPr>
              <a:t>its distance</a:t>
            </a:r>
            <a:r>
              <a:rPr lang="en-US" sz="1800" dirty="0">
                <a:latin typeface="+mn-lt"/>
              </a:rPr>
              <a:t>, with </a:t>
            </a:r>
            <a:r>
              <a:rPr lang="en-US" sz="1800" b="1" dirty="0">
                <a:latin typeface="+mn-lt"/>
              </a:rPr>
              <a:t>farther points having a higher chance of being selected.</a:t>
            </a:r>
          </a:p>
          <a:p>
            <a:pPr marL="1371600" lvl="2" indent="-457200">
              <a:buFont typeface="+mj-lt"/>
              <a:buAutoNum type="romanUcPeriod"/>
            </a:pPr>
            <a:r>
              <a:rPr lang="en-US" sz="1800" dirty="0">
                <a:latin typeface="+mn-lt"/>
              </a:rPr>
              <a:t>Select </a:t>
            </a:r>
            <a:r>
              <a:rPr lang="en-US" sz="1800" b="1" dirty="0">
                <a:latin typeface="+mn-lt"/>
              </a:rPr>
              <a:t>the next centroid</a:t>
            </a:r>
            <a:r>
              <a:rPr lang="en-US" sz="1800" dirty="0">
                <a:latin typeface="+mn-lt"/>
              </a:rPr>
              <a:t> based on </a:t>
            </a:r>
            <a:r>
              <a:rPr lang="en-US" sz="1800" b="1" dirty="0">
                <a:latin typeface="+mn-lt"/>
              </a:rPr>
              <a:t>this probability distribution</a:t>
            </a:r>
            <a:r>
              <a:rPr lang="en-US" sz="1800" dirty="0">
                <a:latin typeface="+mn-lt"/>
              </a:rPr>
              <a:t>.</a:t>
            </a:r>
          </a:p>
          <a:p>
            <a:pPr marL="1371600" lvl="2" indent="-457200">
              <a:buFont typeface="+mj-lt"/>
              <a:buAutoNum type="romanUcPeriod"/>
            </a:pPr>
            <a:r>
              <a:rPr lang="en-US" sz="1800" b="1" dirty="0">
                <a:latin typeface="+mn-lt"/>
              </a:rPr>
              <a:t>Repeat Until All K Centroids Are Chosen:</a:t>
            </a:r>
            <a:r>
              <a:rPr lang="en-US" sz="1800" dirty="0">
                <a:latin typeface="+mn-lt"/>
              </a:rPr>
              <a:t> Continue the process until all K centroids are initialized.</a:t>
            </a:r>
          </a:p>
          <a:p>
            <a:pPr marL="914400" lvl="1" indent="-457200">
              <a:buFont typeface="+mj-lt"/>
              <a:buAutoNum type="arabicPeriod"/>
            </a:pPr>
            <a:r>
              <a:rPr lang="en-US" sz="2000" b="1" dirty="0">
                <a:latin typeface="+mn-lt"/>
              </a:rPr>
              <a:t>Proceed with Standard K-Means: </a:t>
            </a:r>
            <a:r>
              <a:rPr lang="en-US" sz="2000" dirty="0">
                <a:latin typeface="+mn-lt"/>
              </a:rPr>
              <a:t>After initialization, the algorithm continues with the regular K-Means steps.</a:t>
            </a:r>
          </a:p>
          <a:p>
            <a:endParaRPr lang="en-US" sz="2400" dirty="0">
              <a:latin typeface="+mn-lt"/>
            </a:endParaRPr>
          </a:p>
        </p:txBody>
      </p:sp>
    </p:spTree>
    <p:extLst>
      <p:ext uri="{BB962C8B-B14F-4D97-AF65-F5344CB8AC3E}">
        <p14:creationId xmlns:p14="http://schemas.microsoft.com/office/powerpoint/2010/main" val="1716318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369C4-7AC2-5CD0-7D37-55E8EC5DAE17}"/>
              </a:ext>
            </a:extLst>
          </p:cNvPr>
          <p:cNvSpPr>
            <a:spLocks noGrp="1"/>
          </p:cNvSpPr>
          <p:nvPr>
            <p:ph type="title"/>
          </p:nvPr>
        </p:nvSpPr>
        <p:spPr/>
        <p:txBody>
          <a:bodyPr/>
          <a:lstStyle/>
          <a:p>
            <a:r>
              <a:rPr lang="en-US" dirty="0">
                <a:latin typeface="+mj-lt"/>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30A63F-5840-FD24-E283-D4FF2B4192C8}"/>
                  </a:ext>
                </a:extLst>
              </p:cNvPr>
              <p:cNvSpPr>
                <a:spLocks noGrp="1"/>
              </p:cNvSpPr>
              <p:nvPr>
                <p:ph sz="quarter" idx="13"/>
              </p:nvPr>
            </p:nvSpPr>
            <p:spPr>
              <a:xfrm>
                <a:off x="947738" y="1776413"/>
                <a:ext cx="9983498" cy="2144423"/>
              </a:xfrm>
            </p:spPr>
            <p:txBody>
              <a:bodyPr/>
              <a:lstStyle/>
              <a:p>
                <a:r>
                  <a:rPr lang="en-US" sz="2400" b="1" dirty="0">
                    <a:latin typeface="+mn-lt"/>
                  </a:rPr>
                  <a:t>Data points          </a:t>
                </a:r>
                <a:r>
                  <a:rPr lang="en-US" sz="2400" dirty="0">
                    <a:latin typeface="+mn-lt"/>
                  </a:rPr>
                  <a:t>X={(1,1),(2,2),(3,3),(10,10),(11,11),(12,12)}</a:t>
                </a:r>
              </a:p>
              <a:p>
                <a:pPr marL="0" indent="0">
                  <a:buNone/>
                </a:pPr>
                <a:endParaRPr lang="en-US" sz="2400" dirty="0">
                  <a:latin typeface="+mn-lt"/>
                </a:endParaRPr>
              </a:p>
              <a:p>
                <a:r>
                  <a:rPr lang="en-US" sz="2400" dirty="0">
                    <a:latin typeface="+mn-lt"/>
                  </a:rPr>
                  <a:t>Step 1: Select the first Centroid Randomly</a:t>
                </a:r>
              </a:p>
              <a:p>
                <a:endParaRPr lang="en-US" sz="2400" dirty="0">
                  <a:latin typeface="+mn-lt"/>
                </a:endParaRPr>
              </a:p>
              <a:p>
                <a:pPr lvl="1"/>
                <a:r>
                  <a:rPr lang="en-US" sz="2200" dirty="0">
                    <a:latin typeface="+mn-lt"/>
                  </a:rPr>
                  <a:t>Chosen </a:t>
                </a:r>
                <a14:m>
                  <m:oMath xmlns:m="http://schemas.openxmlformats.org/officeDocument/2006/math">
                    <m:sSub>
                      <m:sSubPr>
                        <m:ctrlPr>
                          <a:rPr lang="sv-SE" sz="2200" i="1" smtClean="0">
                            <a:latin typeface="Cambria Math" panose="02040503050406030204" pitchFamily="18" charset="0"/>
                          </a:rPr>
                        </m:ctrlPr>
                      </m:sSubPr>
                      <m:e>
                        <m:r>
                          <a:rPr lang="sv-SE" sz="2200" i="1" smtClean="0">
                            <a:latin typeface="Cambria Math" panose="02040503050406030204" pitchFamily="18" charset="0"/>
                          </a:rPr>
                          <m:t>𝐶</m:t>
                        </m:r>
                      </m:e>
                      <m:sub>
                        <m:r>
                          <a:rPr lang="sv-SE" sz="2200" i="1" smtClean="0">
                            <a:latin typeface="Cambria Math" panose="02040503050406030204" pitchFamily="18" charset="0"/>
                          </a:rPr>
                          <m:t>1</m:t>
                        </m:r>
                      </m:sub>
                    </m:sSub>
                    <m:r>
                      <a:rPr lang="sv-SE" sz="2200" i="1" smtClean="0">
                        <a:latin typeface="Cambria Math" panose="02040503050406030204" pitchFamily="18" charset="0"/>
                      </a:rPr>
                      <m:t>=(10,10)</m:t>
                    </m:r>
                  </m:oMath>
                </a14:m>
                <a:endParaRPr lang="en-US" sz="22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200" dirty="0">
                  <a:latin typeface="+mn-lt"/>
                </a:endParaRPr>
              </a:p>
            </p:txBody>
          </p:sp>
        </mc:Choice>
        <mc:Fallback xmlns="">
          <p:sp>
            <p:nvSpPr>
              <p:cNvPr id="3" name="Content Placeholder 2">
                <a:extLst>
                  <a:ext uri="{FF2B5EF4-FFF2-40B4-BE49-F238E27FC236}">
                    <a16:creationId xmlns:a16="http://schemas.microsoft.com/office/drawing/2014/main" id="{3730A63F-5840-FD24-E283-D4FF2B4192C8}"/>
                  </a:ext>
                </a:extLst>
              </p:cNvPr>
              <p:cNvSpPr>
                <a:spLocks noGrp="1" noRot="1" noChangeAspect="1" noMove="1" noResize="1" noEditPoints="1" noAdjustHandles="1" noChangeArrowheads="1" noChangeShapeType="1" noTextEdit="1"/>
              </p:cNvSpPr>
              <p:nvPr>
                <p:ph sz="quarter" idx="13"/>
              </p:nvPr>
            </p:nvSpPr>
            <p:spPr>
              <a:xfrm>
                <a:off x="947738" y="1776413"/>
                <a:ext cx="9983498" cy="2144423"/>
              </a:xfrm>
              <a:blipFill>
                <a:blip r:embed="rId2"/>
                <a:stretch>
                  <a:fillRect l="-762" t="-5294"/>
                </a:stretch>
              </a:blipFill>
            </p:spPr>
            <p:txBody>
              <a:bodyPr/>
              <a:lstStyle/>
              <a:p>
                <a:r>
                  <a:rPr lang="en-US">
                    <a:noFill/>
                  </a:rPr>
                  <a:t> </a:t>
                </a:r>
              </a:p>
            </p:txBody>
          </p:sp>
        </mc:Fallback>
      </mc:AlternateContent>
      <p:pic>
        <p:nvPicPr>
          <p:cNvPr id="5" name="Picture 4" descr="A screenshot of a math book&#10;&#10;AI-generated content may be incorrect.">
            <a:extLst>
              <a:ext uri="{FF2B5EF4-FFF2-40B4-BE49-F238E27FC236}">
                <a16:creationId xmlns:a16="http://schemas.microsoft.com/office/drawing/2014/main" id="{CD07949E-4E4A-0512-AF6D-F2598B8709EF}"/>
              </a:ext>
            </a:extLst>
          </p:cNvPr>
          <p:cNvPicPr>
            <a:picLocks noChangeAspect="1"/>
          </p:cNvPicPr>
          <p:nvPr/>
        </p:nvPicPr>
        <p:blipFill>
          <a:blip r:embed="rId3"/>
          <a:stretch>
            <a:fillRect/>
          </a:stretch>
        </p:blipFill>
        <p:spPr>
          <a:xfrm>
            <a:off x="4133571" y="3262805"/>
            <a:ext cx="8058429" cy="2344040"/>
          </a:xfrm>
          <a:prstGeom prst="rect">
            <a:avLst/>
          </a:prstGeom>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F0726ED8-B81A-EC04-5D28-301024258657}"/>
                  </a:ext>
                </a:extLst>
              </p:cNvPr>
              <p:cNvSpPr txBox="1">
                <a:spLocks/>
              </p:cNvSpPr>
              <p:nvPr/>
            </p:nvSpPr>
            <p:spPr>
              <a:xfrm>
                <a:off x="906173" y="3429000"/>
                <a:ext cx="3416444"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200" dirty="0">
                  <a:latin typeface="+mn-lt"/>
                </a:endParaRPr>
              </a:p>
              <a:p>
                <a:r>
                  <a:rPr lang="en-US" sz="2400" dirty="0">
                    <a:latin typeface="+mn-lt"/>
                  </a:rPr>
                  <a:t>Step 3: Compute Squared Distances from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𝐶</m:t>
                        </m:r>
                      </m:e>
                      <m:sub>
                        <m:r>
                          <a:rPr lang="en-US" sz="2400" i="1" dirty="0" smtClean="0">
                            <a:latin typeface="Cambria Math" panose="02040503050406030204" pitchFamily="18" charset="0"/>
                          </a:rPr>
                          <m:t>1</m:t>
                        </m:r>
                      </m:sub>
                    </m:sSub>
                  </m:oMath>
                </a14:m>
                <a:r>
                  <a:rPr lang="en-US" sz="2400" dirty="0">
                    <a:latin typeface="+mn-lt"/>
                  </a:rPr>
                  <a:t> </a:t>
                </a:r>
              </a:p>
              <a:p>
                <a:pPr lvl="1"/>
                <a14:m>
                  <m:oMath xmlns:m="http://schemas.openxmlformats.org/officeDocument/2006/math">
                    <m:sSup>
                      <m:sSupPr>
                        <m:ctrlPr>
                          <a:rPr lang="sv-SE" sz="2200" i="1" smtClean="0">
                            <a:latin typeface="Cambria Math" panose="02040503050406030204" pitchFamily="18" charset="0"/>
                          </a:rPr>
                        </m:ctrlPr>
                      </m:sSupPr>
                      <m:e>
                        <m:r>
                          <a:rPr lang="sv-SE" sz="2200" i="1" smtClean="0">
                            <a:latin typeface="Cambria Math" panose="02040503050406030204" pitchFamily="18" charset="0"/>
                          </a:rPr>
                          <m:t>𝑑</m:t>
                        </m:r>
                      </m:e>
                      <m:sup>
                        <m:r>
                          <a:rPr lang="sv-SE" sz="2200" i="1" smtClean="0">
                            <a:latin typeface="Cambria Math" panose="02040503050406030204" pitchFamily="18" charset="0"/>
                          </a:rPr>
                          <m:t>2</m:t>
                        </m:r>
                      </m:sup>
                    </m:sSup>
                    <m:d>
                      <m:dPr>
                        <m:ctrlPr>
                          <a:rPr lang="sv-SE" sz="2200" i="1" smtClean="0">
                            <a:latin typeface="Cambria Math" panose="02040503050406030204" pitchFamily="18" charset="0"/>
                          </a:rPr>
                        </m:ctrlPr>
                      </m:dPr>
                      <m:e>
                        <m:sSub>
                          <m:sSubPr>
                            <m:ctrlPr>
                              <a:rPr lang="sv-SE" sz="2200" i="1" smtClean="0">
                                <a:latin typeface="Cambria Math" panose="02040503050406030204" pitchFamily="18" charset="0"/>
                              </a:rPr>
                            </m:ctrlPr>
                          </m:sSubPr>
                          <m:e>
                            <m:r>
                              <a:rPr lang="sv-SE" sz="2200" i="1" smtClean="0">
                                <a:latin typeface="Cambria Math" panose="02040503050406030204" pitchFamily="18" charset="0"/>
                              </a:rPr>
                              <m:t>𝑥</m:t>
                            </m:r>
                          </m:e>
                          <m:sub>
                            <m:r>
                              <a:rPr lang="sv-SE" sz="2200" i="1" smtClean="0">
                                <a:latin typeface="Cambria Math" panose="02040503050406030204" pitchFamily="18" charset="0"/>
                              </a:rPr>
                              <m:t>𝑖</m:t>
                            </m:r>
                          </m:sub>
                        </m:sSub>
                      </m:e>
                    </m:d>
                    <m:r>
                      <a:rPr lang="sv-SE" sz="2200" i="1" smtClean="0">
                        <a:latin typeface="Cambria Math" panose="02040503050406030204" pitchFamily="18" charset="0"/>
                      </a:rPr>
                      <m:t>=</m:t>
                    </m:r>
                    <m:sSup>
                      <m:sSupPr>
                        <m:ctrlPr>
                          <a:rPr lang="sv-SE" sz="2200" i="1" smtClean="0">
                            <a:latin typeface="Cambria Math" panose="02040503050406030204" pitchFamily="18" charset="0"/>
                          </a:rPr>
                        </m:ctrlPr>
                      </m:sSupPr>
                      <m:e>
                        <m:d>
                          <m:dPr>
                            <m:ctrlPr>
                              <a:rPr lang="sv-SE" sz="2200" i="1" smtClean="0">
                                <a:latin typeface="Cambria Math" panose="02040503050406030204" pitchFamily="18" charset="0"/>
                              </a:rPr>
                            </m:ctrlPr>
                          </m:dPr>
                          <m:e>
                            <m:r>
                              <a:rPr lang="sv-SE" sz="2200" i="1" smtClean="0">
                                <a:latin typeface="Cambria Math" panose="02040503050406030204" pitchFamily="18" charset="0"/>
                              </a:rPr>
                              <m:t>𝑥</m:t>
                            </m:r>
                            <m:r>
                              <a:rPr lang="sv-SE" sz="2200" i="1" smtClean="0">
                                <a:latin typeface="Cambria Math" panose="02040503050406030204" pitchFamily="18" charset="0"/>
                              </a:rPr>
                              <m:t> −</m:t>
                            </m:r>
                            <m:sSub>
                              <m:sSubPr>
                                <m:ctrlPr>
                                  <a:rPr lang="sv-SE" sz="2200" i="1" smtClean="0">
                                    <a:latin typeface="Cambria Math" panose="02040503050406030204" pitchFamily="18" charset="0"/>
                                  </a:rPr>
                                </m:ctrlPr>
                              </m:sSubPr>
                              <m:e>
                                <m:r>
                                  <a:rPr lang="sv-SE" sz="2200" i="1" smtClean="0">
                                    <a:latin typeface="Cambria Math" panose="02040503050406030204" pitchFamily="18" charset="0"/>
                                  </a:rPr>
                                  <m:t>𝐶</m:t>
                                </m:r>
                              </m:e>
                              <m:sub>
                                <m:r>
                                  <a:rPr lang="sv-SE" sz="2200" i="1" smtClean="0">
                                    <a:latin typeface="Cambria Math" panose="02040503050406030204" pitchFamily="18" charset="0"/>
                                  </a:rPr>
                                  <m:t>1</m:t>
                                </m:r>
                              </m:sub>
                            </m:sSub>
                          </m:e>
                        </m:d>
                      </m:e>
                      <m:sup>
                        <m:r>
                          <a:rPr lang="sv-SE" sz="2200" i="1" smtClean="0">
                            <a:latin typeface="Cambria Math" panose="02040503050406030204" pitchFamily="18" charset="0"/>
                          </a:rPr>
                          <m:t>2</m:t>
                        </m:r>
                      </m:sup>
                    </m:sSup>
                    <m:r>
                      <a:rPr lang="sv-SE" sz="2200" i="1" smtClean="0">
                        <a:latin typeface="Cambria Math" panose="02040503050406030204" pitchFamily="18" charset="0"/>
                      </a:rPr>
                      <m:t>+</m:t>
                    </m:r>
                    <m:sSup>
                      <m:sSupPr>
                        <m:ctrlPr>
                          <a:rPr lang="sv-SE" sz="2200" i="1" smtClean="0">
                            <a:latin typeface="Cambria Math" panose="02040503050406030204" pitchFamily="18" charset="0"/>
                          </a:rPr>
                        </m:ctrlPr>
                      </m:sSupPr>
                      <m:e>
                        <m:d>
                          <m:dPr>
                            <m:ctrlPr>
                              <a:rPr lang="sv-SE" sz="2200" i="1" smtClean="0">
                                <a:latin typeface="Cambria Math" panose="02040503050406030204" pitchFamily="18" charset="0"/>
                              </a:rPr>
                            </m:ctrlPr>
                          </m:dPr>
                          <m:e>
                            <m:r>
                              <a:rPr lang="sv-SE" sz="2200" i="1" smtClean="0">
                                <a:latin typeface="Cambria Math" panose="02040503050406030204" pitchFamily="18" charset="0"/>
                              </a:rPr>
                              <m:t>𝑥</m:t>
                            </m:r>
                            <m:r>
                              <a:rPr lang="sv-SE" sz="2200" i="1" smtClean="0">
                                <a:latin typeface="Cambria Math" panose="02040503050406030204" pitchFamily="18" charset="0"/>
                              </a:rPr>
                              <m:t> −</m:t>
                            </m:r>
                            <m:sSub>
                              <m:sSubPr>
                                <m:ctrlPr>
                                  <a:rPr lang="sv-SE" sz="2200" i="1" smtClean="0">
                                    <a:latin typeface="Cambria Math" panose="02040503050406030204" pitchFamily="18" charset="0"/>
                                  </a:rPr>
                                </m:ctrlPr>
                              </m:sSubPr>
                              <m:e>
                                <m:r>
                                  <a:rPr lang="sv-SE" sz="2200" i="1" smtClean="0">
                                    <a:latin typeface="Cambria Math" panose="02040503050406030204" pitchFamily="18" charset="0"/>
                                  </a:rPr>
                                  <m:t>𝐶</m:t>
                                </m:r>
                              </m:e>
                              <m:sub>
                                <m:r>
                                  <a:rPr lang="sv-SE" sz="2200" i="1" smtClean="0">
                                    <a:latin typeface="Cambria Math" panose="02040503050406030204" pitchFamily="18" charset="0"/>
                                  </a:rPr>
                                  <m:t>2</m:t>
                                </m:r>
                              </m:sub>
                            </m:sSub>
                          </m:e>
                        </m:d>
                      </m:e>
                      <m:sup>
                        <m:r>
                          <a:rPr lang="sv-SE" sz="2200" i="1" smtClean="0">
                            <a:latin typeface="Cambria Math" panose="02040503050406030204" pitchFamily="18" charset="0"/>
                          </a:rPr>
                          <m:t>2</m:t>
                        </m:r>
                      </m:sup>
                    </m:sSup>
                  </m:oMath>
                </a14:m>
                <a:endParaRPr lang="en-US" sz="2200" dirty="0">
                  <a:latin typeface="+mn-lt"/>
                </a:endParaRPr>
              </a:p>
            </p:txBody>
          </p:sp>
        </mc:Choice>
        <mc:Fallback xmlns="">
          <p:sp>
            <p:nvSpPr>
              <p:cNvPr id="6" name="Content Placeholder 2">
                <a:extLst>
                  <a:ext uri="{FF2B5EF4-FFF2-40B4-BE49-F238E27FC236}">
                    <a16:creationId xmlns:a16="http://schemas.microsoft.com/office/drawing/2014/main" id="{F0726ED8-B81A-EC04-5D28-301024258657}"/>
                  </a:ext>
                </a:extLst>
              </p:cNvPr>
              <p:cNvSpPr txBox="1">
                <a:spLocks noRot="1" noChangeAspect="1" noMove="1" noResize="1" noEditPoints="1" noAdjustHandles="1" noChangeArrowheads="1" noChangeShapeType="1" noTextEdit="1"/>
              </p:cNvSpPr>
              <p:nvPr/>
            </p:nvSpPr>
            <p:spPr>
              <a:xfrm>
                <a:off x="906173" y="3429000"/>
                <a:ext cx="3416444" cy="4244974"/>
              </a:xfrm>
              <a:prstGeom prst="rect">
                <a:avLst/>
              </a:prstGeom>
              <a:blipFill>
                <a:blip r:embed="rId4"/>
                <a:stretch>
                  <a:fillRect l="-2593" r="-2593"/>
                </a:stretch>
              </a:blipFill>
            </p:spPr>
            <p:txBody>
              <a:bodyPr/>
              <a:lstStyle/>
              <a:p>
                <a:r>
                  <a:rPr lang="en-US">
                    <a:noFill/>
                  </a:rPr>
                  <a:t> </a:t>
                </a:r>
              </a:p>
            </p:txBody>
          </p:sp>
        </mc:Fallback>
      </mc:AlternateContent>
    </p:spTree>
    <p:extLst>
      <p:ext uri="{BB962C8B-B14F-4D97-AF65-F5344CB8AC3E}">
        <p14:creationId xmlns:p14="http://schemas.microsoft.com/office/powerpoint/2010/main" val="2818002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13B79-A7AB-38F9-C232-5477448E8BD1}"/>
              </a:ext>
            </a:extLst>
          </p:cNvPr>
          <p:cNvSpPr>
            <a:spLocks noGrp="1"/>
          </p:cNvSpPr>
          <p:nvPr>
            <p:ph type="title"/>
          </p:nvPr>
        </p:nvSpPr>
        <p:spPr/>
        <p:txBody>
          <a:bodyPr/>
          <a:lstStyle/>
          <a:p>
            <a:r>
              <a:rPr lang="en-US" dirty="0">
                <a:latin typeface="+mj-lt"/>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85A319-BB82-2B6D-2124-2888DB2C8AA3}"/>
                  </a:ext>
                </a:extLst>
              </p:cNvPr>
              <p:cNvSpPr>
                <a:spLocks noGrp="1"/>
              </p:cNvSpPr>
              <p:nvPr>
                <p:ph sz="quarter" idx="13"/>
              </p:nvPr>
            </p:nvSpPr>
            <p:spPr>
              <a:xfrm>
                <a:off x="947738" y="1776412"/>
                <a:ext cx="9472971" cy="4887623"/>
              </a:xfrm>
            </p:spPr>
            <p:txBody>
              <a:bodyPr/>
              <a:lstStyle/>
              <a:p>
                <a:r>
                  <a:rPr lang="en-US" sz="2400" dirty="0"/>
                  <a:t>Step 4: </a:t>
                </a:r>
                <a:r>
                  <a:rPr lang="en-US" sz="2400" b="1" dirty="0"/>
                  <a:t>Select the Second Centroid Based on Probability</a:t>
                </a:r>
              </a:p>
              <a:p>
                <a:pPr lvl="1"/>
                <a:r>
                  <a:rPr lang="en-US" sz="2400" b="1" dirty="0"/>
                  <a:t>Probability </a:t>
                </a:r>
                <a14:m>
                  <m:oMath xmlns:m="http://schemas.openxmlformats.org/officeDocument/2006/math">
                    <m:r>
                      <a:rPr lang="sv-SE" sz="2400" b="1" i="1" smtClean="0">
                        <a:latin typeface="Cambria Math" panose="02040503050406030204" pitchFamily="18" charset="0"/>
                      </a:rPr>
                      <m:t>𝑷</m:t>
                    </m:r>
                    <m:d>
                      <m:dPr>
                        <m:ctrlPr>
                          <a:rPr lang="sv-SE" sz="2400" b="1" i="1" smtClean="0">
                            <a:latin typeface="Cambria Math" panose="02040503050406030204" pitchFamily="18" charset="0"/>
                          </a:rPr>
                        </m:ctrlPr>
                      </m:dPr>
                      <m:e>
                        <m:r>
                          <a:rPr lang="sv-SE" sz="2400" b="1" i="1" smtClean="0">
                            <a:latin typeface="Cambria Math" panose="02040503050406030204" pitchFamily="18" charset="0"/>
                          </a:rPr>
                          <m:t>𝒙</m:t>
                        </m:r>
                      </m:e>
                    </m:d>
                    <m:r>
                      <a:rPr lang="sv-SE" sz="2400" b="1" i="1" smtClean="0">
                        <a:latin typeface="Cambria Math" panose="02040503050406030204" pitchFamily="18" charset="0"/>
                      </a:rPr>
                      <m:t>= </m:t>
                    </m:r>
                    <m:f>
                      <m:fPr>
                        <m:ctrlPr>
                          <a:rPr lang="sv-SE" sz="2400" b="1" i="1" smtClean="0">
                            <a:latin typeface="Cambria Math" panose="02040503050406030204" pitchFamily="18" charset="0"/>
                          </a:rPr>
                        </m:ctrlPr>
                      </m:fPr>
                      <m:num>
                        <m:sSup>
                          <m:sSupPr>
                            <m:ctrlPr>
                              <a:rPr lang="sv-SE" sz="2400" b="1" i="1" smtClean="0">
                                <a:latin typeface="Cambria Math" panose="02040503050406030204" pitchFamily="18" charset="0"/>
                              </a:rPr>
                            </m:ctrlPr>
                          </m:sSupPr>
                          <m:e>
                            <m:r>
                              <a:rPr lang="sv-SE" sz="2400" b="1" i="1" smtClean="0">
                                <a:latin typeface="Cambria Math" panose="02040503050406030204" pitchFamily="18" charset="0"/>
                              </a:rPr>
                              <m:t>𝒅</m:t>
                            </m:r>
                          </m:e>
                          <m:sup>
                            <m:r>
                              <a:rPr lang="sv-SE" sz="2400" b="1" i="1" smtClean="0">
                                <a:latin typeface="Cambria Math" panose="02040503050406030204" pitchFamily="18" charset="0"/>
                              </a:rPr>
                              <m:t>𝟐</m:t>
                            </m:r>
                          </m:sup>
                        </m:sSup>
                      </m:num>
                      <m:den>
                        <m:nary>
                          <m:naryPr>
                            <m:chr m:val="∑"/>
                            <m:subHide m:val="on"/>
                            <m:supHide m:val="on"/>
                            <m:ctrlPr>
                              <a:rPr lang="sv-SE" sz="2400" b="1" i="1" smtClean="0">
                                <a:latin typeface="Cambria Math" panose="02040503050406030204" pitchFamily="18" charset="0"/>
                              </a:rPr>
                            </m:ctrlPr>
                          </m:naryPr>
                          <m:sub/>
                          <m:sup/>
                          <m:e>
                            <m:sSup>
                              <m:sSupPr>
                                <m:ctrlPr>
                                  <a:rPr lang="sv-SE" sz="2400" b="1" i="1" smtClean="0">
                                    <a:latin typeface="Cambria Math" panose="02040503050406030204" pitchFamily="18" charset="0"/>
                                  </a:rPr>
                                </m:ctrlPr>
                              </m:sSupPr>
                              <m:e>
                                <m:r>
                                  <a:rPr lang="sv-SE" sz="2400" b="1" i="1" smtClean="0">
                                    <a:latin typeface="Cambria Math" panose="02040503050406030204" pitchFamily="18" charset="0"/>
                                  </a:rPr>
                                  <m:t>𝒅</m:t>
                                </m:r>
                              </m:e>
                              <m:sup>
                                <m:r>
                                  <a:rPr lang="sv-SE" sz="2400" b="1" i="1" smtClean="0">
                                    <a:latin typeface="Cambria Math" panose="02040503050406030204" pitchFamily="18" charset="0"/>
                                  </a:rPr>
                                  <m:t>𝟐</m:t>
                                </m:r>
                              </m:sup>
                            </m:sSup>
                          </m:e>
                        </m:nary>
                      </m:den>
                    </m:f>
                  </m:oMath>
                </a14:m>
                <a:endParaRPr lang="en-US" sz="2400" b="1" dirty="0"/>
              </a:p>
              <a:p>
                <a:pPr lvl="1"/>
                <a:endParaRPr lang="en-US" sz="2400" b="1" dirty="0"/>
              </a:p>
              <a:p>
                <a:pPr lvl="1"/>
                <a:endParaRPr lang="en-US" sz="2400" b="1" dirty="0"/>
              </a:p>
              <a:p>
                <a:pPr lvl="1"/>
                <a:endParaRPr lang="en-US" sz="2400" b="1" dirty="0"/>
              </a:p>
              <a:p>
                <a:pPr lvl="1"/>
                <a:endParaRPr lang="en-US" sz="2400" b="1" dirty="0"/>
              </a:p>
              <a:p>
                <a:pPr lvl="1"/>
                <a:endParaRPr lang="en-US" sz="2400" b="1" dirty="0"/>
              </a:p>
              <a:p>
                <a:pPr lvl="1"/>
                <a:endParaRPr lang="en-US" sz="2400" b="1" dirty="0"/>
              </a:p>
              <a:p>
                <a:pPr lvl="1"/>
                <a:endParaRPr lang="en-US" sz="2400" b="1" dirty="0"/>
              </a:p>
              <a:p>
                <a:pPr lvl="1"/>
                <a:r>
                  <a:rPr lang="en-US" sz="2400" dirty="0">
                    <a:latin typeface="+mn-lt"/>
                  </a:rPr>
                  <a:t>Since (1,1) has the highest probability (0.407), it is chosen as the second centroid. Therefore, </a:t>
                </a:r>
                <a14:m>
                  <m:oMath xmlns:m="http://schemas.openxmlformats.org/officeDocument/2006/math">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𝐶</m:t>
                        </m:r>
                      </m:e>
                      <m:sub>
                        <m:r>
                          <a:rPr lang="sv-SE" sz="2400" b="0" i="1" smtClean="0">
                            <a:latin typeface="Cambria Math" panose="02040503050406030204" pitchFamily="18" charset="0"/>
                          </a:rPr>
                          <m:t>2</m:t>
                        </m:r>
                      </m:sub>
                    </m:sSub>
                    <m:r>
                      <a:rPr lang="sv-SE" sz="2400" b="0" i="1" smtClean="0">
                        <a:latin typeface="Cambria Math" panose="02040503050406030204" pitchFamily="18" charset="0"/>
                      </a:rPr>
                      <m:t>=(1,1)</m:t>
                    </m:r>
                  </m:oMath>
                </a14:m>
                <a:endParaRPr lang="en-US" sz="2400" dirty="0">
                  <a:latin typeface="+mn-lt"/>
                </a:endParaRPr>
              </a:p>
              <a:p>
                <a:endParaRPr lang="en-US" dirty="0"/>
              </a:p>
            </p:txBody>
          </p:sp>
        </mc:Choice>
        <mc:Fallback xmlns="">
          <p:sp>
            <p:nvSpPr>
              <p:cNvPr id="3" name="Content Placeholder 2">
                <a:extLst>
                  <a:ext uri="{FF2B5EF4-FFF2-40B4-BE49-F238E27FC236}">
                    <a16:creationId xmlns:a16="http://schemas.microsoft.com/office/drawing/2014/main" id="{7685A319-BB82-2B6D-2124-2888DB2C8AA3}"/>
                  </a:ext>
                </a:extLst>
              </p:cNvPr>
              <p:cNvSpPr>
                <a:spLocks noGrp="1" noRot="1" noChangeAspect="1" noMove="1" noResize="1" noEditPoints="1" noAdjustHandles="1" noChangeArrowheads="1" noChangeShapeType="1" noTextEdit="1"/>
              </p:cNvSpPr>
              <p:nvPr>
                <p:ph sz="quarter" idx="13"/>
              </p:nvPr>
            </p:nvSpPr>
            <p:spPr>
              <a:xfrm>
                <a:off x="947738" y="1776412"/>
                <a:ext cx="9472971" cy="4887623"/>
              </a:xfrm>
              <a:blipFill>
                <a:blip r:embed="rId2"/>
                <a:stretch>
                  <a:fillRect l="-803" t="-2591"/>
                </a:stretch>
              </a:blipFill>
            </p:spPr>
            <p:txBody>
              <a:bodyPr/>
              <a:lstStyle/>
              <a:p>
                <a:r>
                  <a:rPr lang="en-US">
                    <a:noFill/>
                  </a:rPr>
                  <a:t> </a:t>
                </a:r>
              </a:p>
            </p:txBody>
          </p:sp>
        </mc:Fallback>
      </mc:AlternateContent>
      <p:pic>
        <p:nvPicPr>
          <p:cNvPr id="5" name="Picture 4" descr="A screenshot of a math table&#10;&#10;AI-generated content may be incorrect.">
            <a:extLst>
              <a:ext uri="{FF2B5EF4-FFF2-40B4-BE49-F238E27FC236}">
                <a16:creationId xmlns:a16="http://schemas.microsoft.com/office/drawing/2014/main" id="{863C059D-D5AA-4443-4D93-E4E2058D4E69}"/>
              </a:ext>
            </a:extLst>
          </p:cNvPr>
          <p:cNvPicPr>
            <a:picLocks noChangeAspect="1"/>
          </p:cNvPicPr>
          <p:nvPr/>
        </p:nvPicPr>
        <p:blipFill>
          <a:blip r:embed="rId3"/>
          <a:stretch>
            <a:fillRect/>
          </a:stretch>
        </p:blipFill>
        <p:spPr>
          <a:xfrm>
            <a:off x="1310047" y="2754168"/>
            <a:ext cx="9110662" cy="2592016"/>
          </a:xfrm>
          <a:prstGeom prst="rect">
            <a:avLst/>
          </a:prstGeom>
        </p:spPr>
      </p:pic>
    </p:spTree>
    <p:extLst>
      <p:ext uri="{BB962C8B-B14F-4D97-AF65-F5344CB8AC3E}">
        <p14:creationId xmlns:p14="http://schemas.microsoft.com/office/powerpoint/2010/main" val="322648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4D13-1F0E-782F-CBAC-399ECF4B5270}"/>
              </a:ext>
            </a:extLst>
          </p:cNvPr>
          <p:cNvSpPr>
            <a:spLocks noGrp="1"/>
          </p:cNvSpPr>
          <p:nvPr>
            <p:ph type="title"/>
          </p:nvPr>
        </p:nvSpPr>
        <p:spPr/>
        <p:txBody>
          <a:bodyPr/>
          <a:lstStyle/>
          <a:p>
            <a:r>
              <a:rPr lang="en-US" dirty="0">
                <a:latin typeface="+mj-lt"/>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FE9A8B-AB43-58A6-C9D3-6BE328C39F33}"/>
                  </a:ext>
                </a:extLst>
              </p:cNvPr>
              <p:cNvSpPr>
                <a:spLocks noGrp="1"/>
              </p:cNvSpPr>
              <p:nvPr>
                <p:ph sz="quarter" idx="13"/>
              </p:nvPr>
            </p:nvSpPr>
            <p:spPr/>
            <p:txBody>
              <a:bodyPr/>
              <a:lstStyle/>
              <a:p>
                <a:r>
                  <a:rPr lang="en-US" sz="2400" b="1" dirty="0">
                    <a:latin typeface="+mn-lt"/>
                  </a:rPr>
                  <a:t>Compute Squared Distances from the Closest Selected Centroid</a:t>
                </a:r>
              </a:p>
              <a:p>
                <a:pPr lvl="1"/>
                <a14:m>
                  <m:oMath xmlns:m="http://schemas.openxmlformats.org/officeDocument/2006/math">
                    <m:r>
                      <m:rPr>
                        <m:nor/>
                      </m:rPr>
                      <a:rPr lang="en-US" sz="2200" smtClean="0">
                        <a:latin typeface="+mn-lt"/>
                      </a:rPr>
                      <m:t>Now</m:t>
                    </m:r>
                    <m:r>
                      <m:rPr>
                        <m:nor/>
                      </m:rPr>
                      <a:rPr lang="en-US" sz="2200" smtClean="0">
                        <a:latin typeface="+mn-lt"/>
                      </a:rPr>
                      <m:t>, </m:t>
                    </m:r>
                    <m:r>
                      <m:rPr>
                        <m:nor/>
                      </m:rPr>
                      <a:rPr lang="en-US" sz="2200" smtClean="0">
                        <a:latin typeface="+mn-lt"/>
                      </a:rPr>
                      <m:t>for</m:t>
                    </m:r>
                    <m:r>
                      <m:rPr>
                        <m:nor/>
                      </m:rPr>
                      <a:rPr lang="en-US" sz="2200" smtClean="0">
                        <a:latin typeface="+mn-lt"/>
                      </a:rPr>
                      <m:t> </m:t>
                    </m:r>
                    <m:r>
                      <m:rPr>
                        <m:nor/>
                      </m:rPr>
                      <a:rPr lang="en-US" sz="2200" smtClean="0">
                        <a:latin typeface="+mn-lt"/>
                      </a:rPr>
                      <m:t>each</m:t>
                    </m:r>
                    <m:r>
                      <m:rPr>
                        <m:nor/>
                      </m:rPr>
                      <a:rPr lang="en-US" sz="2200" smtClean="0">
                        <a:latin typeface="+mn-lt"/>
                      </a:rPr>
                      <m:t> </m:t>
                    </m:r>
                    <m:r>
                      <m:rPr>
                        <m:nor/>
                      </m:rPr>
                      <a:rPr lang="en-US" sz="2200" smtClean="0">
                        <a:latin typeface="+mn-lt"/>
                      </a:rPr>
                      <m:t>remaining</m:t>
                    </m:r>
                    <m:r>
                      <m:rPr>
                        <m:nor/>
                      </m:rPr>
                      <a:rPr lang="en-US" sz="2200" smtClean="0">
                        <a:latin typeface="+mn-lt"/>
                      </a:rPr>
                      <m:t> </m:t>
                    </m:r>
                    <m:r>
                      <m:rPr>
                        <m:nor/>
                      </m:rPr>
                      <a:rPr lang="en-US" sz="2200" smtClean="0">
                        <a:latin typeface="+mn-lt"/>
                      </a:rPr>
                      <m:t>point</m:t>
                    </m:r>
                    <m:r>
                      <m:rPr>
                        <m:nor/>
                      </m:rPr>
                      <a:rPr lang="en-US" sz="2200" smtClean="0">
                        <a:latin typeface="+mn-lt"/>
                      </a:rPr>
                      <m:t>, </m:t>
                    </m:r>
                    <m:r>
                      <m:rPr>
                        <m:nor/>
                      </m:rPr>
                      <a:rPr lang="en-US" sz="2200" smtClean="0">
                        <a:latin typeface="+mn-lt"/>
                      </a:rPr>
                      <m:t>compute</m:t>
                    </m:r>
                    <m:r>
                      <m:rPr>
                        <m:nor/>
                      </m:rPr>
                      <a:rPr lang="en-US" sz="2200" smtClean="0">
                        <a:latin typeface="+mn-lt"/>
                      </a:rPr>
                      <m:t> </m:t>
                    </m:r>
                    <m:r>
                      <m:rPr>
                        <m:nor/>
                      </m:rPr>
                      <a:rPr lang="en-US" sz="2200" smtClean="0">
                        <a:latin typeface="+mn-lt"/>
                      </a:rPr>
                      <m:t>its</m:t>
                    </m:r>
                    <m:r>
                      <m:rPr>
                        <m:nor/>
                      </m:rPr>
                      <a:rPr lang="en-US" sz="2200" smtClean="0">
                        <a:latin typeface="+mn-lt"/>
                      </a:rPr>
                      <m:t> </m:t>
                    </m:r>
                    <m:r>
                      <m:rPr>
                        <m:nor/>
                      </m:rPr>
                      <a:rPr lang="en-US" sz="2200" b="1" smtClean="0">
                        <a:latin typeface="+mn-lt"/>
                      </a:rPr>
                      <m:t>minimum</m:t>
                    </m:r>
                    <m:r>
                      <m:rPr>
                        <m:nor/>
                      </m:rPr>
                      <a:rPr lang="en-US" sz="2200" smtClean="0">
                        <a:latin typeface="+mn-lt"/>
                      </a:rPr>
                      <m:t> </m:t>
                    </m:r>
                    <m:r>
                      <m:rPr>
                        <m:nor/>
                      </m:rPr>
                      <a:rPr lang="en-US" sz="2200" smtClean="0">
                        <a:latin typeface="+mn-lt"/>
                      </a:rPr>
                      <m:t>squared</m:t>
                    </m:r>
                    <m:r>
                      <m:rPr>
                        <m:nor/>
                      </m:rPr>
                      <a:rPr lang="en-US" sz="2200" smtClean="0">
                        <a:latin typeface="+mn-lt"/>
                      </a:rPr>
                      <m:t> </m:t>
                    </m:r>
                    <m:r>
                      <m:rPr>
                        <m:nor/>
                      </m:rPr>
                      <a:rPr lang="en-US" sz="2200" smtClean="0">
                        <a:latin typeface="+mn-lt"/>
                      </a:rPr>
                      <m:t>distance</m:t>
                    </m:r>
                    <m:r>
                      <m:rPr>
                        <m:nor/>
                      </m:rPr>
                      <a:rPr lang="en-US" sz="2200" smtClean="0">
                        <a:latin typeface="+mn-lt"/>
                      </a:rPr>
                      <m:t> </m:t>
                    </m:r>
                    <m:r>
                      <m:rPr>
                        <m:nor/>
                      </m:rPr>
                      <a:rPr lang="en-US" sz="2200" smtClean="0">
                        <a:latin typeface="+mn-lt"/>
                      </a:rPr>
                      <m:t>to</m:t>
                    </m:r>
                    <m:r>
                      <m:rPr>
                        <m:nor/>
                      </m:rPr>
                      <a:rPr lang="en-US" sz="2200" smtClean="0">
                        <a:latin typeface="+mn-lt"/>
                      </a:rPr>
                      <m:t> </m:t>
                    </m:r>
                    <m:r>
                      <m:rPr>
                        <m:nor/>
                      </m:rPr>
                      <a:rPr lang="en-US" sz="2200" smtClean="0">
                        <a:latin typeface="+mn-lt"/>
                      </a:rPr>
                      <m:t>either</m:t>
                    </m:r>
                  </m:oMath>
                </a14:m>
                <a:endParaRPr lang="en-US" sz="2200" b="1" dirty="0">
                  <a:latin typeface="+mn-lt"/>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𝐶</m:t>
                          </m:r>
                        </m:e>
                        <m:sub>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 = (10,10) </m:t>
                      </m:r>
                      <m:r>
                        <a:rPr lang="en-US" sz="2400" b="0" i="1" dirty="0" smtClean="0">
                          <a:latin typeface="Cambria Math" panose="02040503050406030204" pitchFamily="18" charset="0"/>
                        </a:rPr>
                        <m:t>𝑜𝑟</m:t>
                      </m:r>
                      <m:r>
                        <a:rPr lang="en-US" sz="2400" b="0" i="1" dirty="0" smtClean="0">
                          <a:latin typeface="Cambria Math" panose="02040503050406030204" pitchFamily="18" charset="0"/>
                        </a:rPr>
                        <m:t> </m:t>
                      </m:r>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𝐶</m:t>
                          </m:r>
                        </m:e>
                        <m:sub>
                          <m:r>
                            <a:rPr lang="en-US" sz="2400" b="0" i="1" dirty="0" smtClean="0">
                              <a:latin typeface="Cambria Math" panose="02040503050406030204" pitchFamily="18" charset="0"/>
                            </a:rPr>
                            <m:t>2</m:t>
                          </m:r>
                        </m:sub>
                      </m:sSub>
                      <m:r>
                        <a:rPr lang="en-US" sz="2400" b="0" i="1" dirty="0" smtClean="0">
                          <a:latin typeface="Cambria Math" panose="02040503050406030204" pitchFamily="18" charset="0"/>
                        </a:rPr>
                        <m:t> = (1,1)</m:t>
                      </m:r>
                    </m:oMath>
                  </m:oMathPara>
                </a14:m>
                <a:endParaRPr lang="en-US" sz="2400" dirty="0">
                  <a:latin typeface="+mn-lt"/>
                </a:endParaRPr>
              </a:p>
              <a:p>
                <a:pPr marL="0" indent="0">
                  <a:buNone/>
                </a:pPr>
                <a:endParaRPr lang="en-US" sz="2400" dirty="0">
                  <a:latin typeface="+mn-lt"/>
                </a:endParaRPr>
              </a:p>
              <a:p>
                <a:endParaRPr lang="en-US" sz="2400" dirty="0">
                  <a:latin typeface="+mn-lt"/>
                </a:endParaRPr>
              </a:p>
              <a:p>
                <a:endParaRPr lang="en-US" dirty="0"/>
              </a:p>
            </p:txBody>
          </p:sp>
        </mc:Choice>
        <mc:Fallback xmlns="">
          <p:sp>
            <p:nvSpPr>
              <p:cNvPr id="3" name="Content Placeholder 2">
                <a:extLst>
                  <a:ext uri="{FF2B5EF4-FFF2-40B4-BE49-F238E27FC236}">
                    <a16:creationId xmlns:a16="http://schemas.microsoft.com/office/drawing/2014/main" id="{ACFE9A8B-AB43-58A6-C9D3-6BE328C39F33}"/>
                  </a:ext>
                </a:extLst>
              </p:cNvPr>
              <p:cNvSpPr>
                <a:spLocks noGrp="1" noRot="1" noChangeAspect="1" noMove="1" noResize="1" noEditPoints="1" noAdjustHandles="1" noChangeArrowheads="1" noChangeShapeType="1" noTextEdit="1"/>
              </p:cNvSpPr>
              <p:nvPr>
                <p:ph sz="quarter" idx="13"/>
              </p:nvPr>
            </p:nvSpPr>
            <p:spPr>
              <a:blipFill>
                <a:blip r:embed="rId2"/>
                <a:stretch>
                  <a:fillRect l="-803" t="-2679"/>
                </a:stretch>
              </a:blipFill>
            </p:spPr>
            <p:txBody>
              <a:bodyPr/>
              <a:lstStyle/>
              <a:p>
                <a:r>
                  <a:rPr lang="en-US">
                    <a:noFill/>
                  </a:rPr>
                  <a:t> </a:t>
                </a:r>
              </a:p>
            </p:txBody>
          </p:sp>
        </mc:Fallback>
      </mc:AlternateContent>
      <p:pic>
        <p:nvPicPr>
          <p:cNvPr id="5" name="Picture 4" descr="A screenshot of a math problem&#10;&#10;AI-generated content may be incorrect.">
            <a:extLst>
              <a:ext uri="{FF2B5EF4-FFF2-40B4-BE49-F238E27FC236}">
                <a16:creationId xmlns:a16="http://schemas.microsoft.com/office/drawing/2014/main" id="{7ED748F4-81FC-FBCC-82B1-D47981E249FE}"/>
              </a:ext>
            </a:extLst>
          </p:cNvPr>
          <p:cNvPicPr>
            <a:picLocks noChangeAspect="1"/>
          </p:cNvPicPr>
          <p:nvPr/>
        </p:nvPicPr>
        <p:blipFill>
          <a:blip r:embed="rId3"/>
          <a:stretch>
            <a:fillRect/>
          </a:stretch>
        </p:blipFill>
        <p:spPr>
          <a:xfrm>
            <a:off x="1204768" y="3052894"/>
            <a:ext cx="9307710" cy="3140085"/>
          </a:xfrm>
          <a:prstGeom prst="rect">
            <a:avLst/>
          </a:prstGeom>
        </p:spPr>
      </p:pic>
    </p:spTree>
    <p:extLst>
      <p:ext uri="{BB962C8B-B14F-4D97-AF65-F5344CB8AC3E}">
        <p14:creationId xmlns:p14="http://schemas.microsoft.com/office/powerpoint/2010/main" val="837388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BF85-7B20-314A-AE17-340631BC09F9}"/>
              </a:ext>
            </a:extLst>
          </p:cNvPr>
          <p:cNvSpPr>
            <a:spLocks noGrp="1"/>
          </p:cNvSpPr>
          <p:nvPr>
            <p:ph type="title"/>
          </p:nvPr>
        </p:nvSpPr>
        <p:spPr/>
        <p:txBody>
          <a:bodyPr/>
          <a:lstStyle/>
          <a:p>
            <a:r>
              <a:rPr lang="en-US" dirty="0">
                <a:latin typeface="+mj-lt"/>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C126BE-7A68-4094-0235-03BB209E0B5B}"/>
                  </a:ext>
                </a:extLst>
              </p:cNvPr>
              <p:cNvSpPr>
                <a:spLocks noGrp="1"/>
              </p:cNvSpPr>
              <p:nvPr>
                <p:ph sz="quarter" idx="13"/>
              </p:nvPr>
            </p:nvSpPr>
            <p:spPr>
              <a:xfrm>
                <a:off x="947738" y="1798782"/>
                <a:ext cx="9472971" cy="4244974"/>
              </a:xfrm>
            </p:spPr>
            <p:txBody>
              <a:bodyPr/>
              <a:lstStyle/>
              <a:p>
                <a:r>
                  <a:rPr lang="en-US" sz="2400" dirty="0">
                    <a:latin typeface="+mn-lt"/>
                  </a:rPr>
                  <a:t>Select the third centroid based on probability</a:t>
                </a: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r>
                  <a:rPr lang="en-US" sz="2400" b="1" dirty="0">
                    <a:latin typeface="+mn-lt"/>
                  </a:rPr>
                  <a:t>(3,3) </a:t>
                </a:r>
                <a:r>
                  <a:rPr lang="en-US" sz="2400" dirty="0">
                    <a:latin typeface="+mn-lt"/>
                  </a:rPr>
                  <a:t>or </a:t>
                </a:r>
                <a:r>
                  <a:rPr lang="en-US" sz="2400" b="1" dirty="0">
                    <a:latin typeface="+mn-lt"/>
                  </a:rPr>
                  <a:t>(12,12) </a:t>
                </a:r>
                <a:r>
                  <a:rPr lang="en-US" sz="2400" dirty="0">
                    <a:latin typeface="+mn-lt"/>
                  </a:rPr>
                  <a:t>has the highest probability </a:t>
                </a:r>
                <a:r>
                  <a:rPr lang="en-US" sz="2400" b="1" dirty="0">
                    <a:latin typeface="+mn-lt"/>
                  </a:rPr>
                  <a:t>(0.40)</a:t>
                </a:r>
                <a:r>
                  <a:rPr lang="en-US" sz="2400" dirty="0">
                    <a:latin typeface="+mn-lt"/>
                  </a:rPr>
                  <a:t> </a:t>
                </a:r>
              </a:p>
              <a:p>
                <a:r>
                  <a:rPr lang="en-US" sz="2400" dirty="0">
                    <a:latin typeface="+mn-lt"/>
                  </a:rPr>
                  <a:t>Suppose (12,12) is selected as the third centroid</a:t>
                </a:r>
              </a:p>
              <a:p>
                <a:pPr lvl="1"/>
                <a14:m>
                  <m:oMath xmlns:m="http://schemas.openxmlformats.org/officeDocument/2006/math">
                    <m:sSub>
                      <m:sSubPr>
                        <m:ctrlPr>
                          <a:rPr lang="sv-SE" sz="2200" b="0" i="1" smtClean="0">
                            <a:latin typeface="Cambria Math" panose="02040503050406030204" pitchFamily="18" charset="0"/>
                          </a:rPr>
                        </m:ctrlPr>
                      </m:sSubPr>
                      <m:e>
                        <m:r>
                          <a:rPr lang="sv-SE" sz="2200" b="0" i="1" smtClean="0">
                            <a:latin typeface="Cambria Math" panose="02040503050406030204" pitchFamily="18" charset="0"/>
                          </a:rPr>
                          <m:t>𝐶</m:t>
                        </m:r>
                      </m:e>
                      <m:sub>
                        <m:r>
                          <a:rPr lang="sv-SE" sz="2200" b="0" i="1" smtClean="0">
                            <a:latin typeface="Cambria Math" panose="02040503050406030204" pitchFamily="18" charset="0"/>
                          </a:rPr>
                          <m:t>3</m:t>
                        </m:r>
                      </m:sub>
                    </m:sSub>
                    <m:r>
                      <a:rPr lang="sv-SE" sz="2200" b="0" i="1" smtClean="0">
                        <a:latin typeface="Cambria Math" panose="02040503050406030204" pitchFamily="18" charset="0"/>
                      </a:rPr>
                      <m:t>=</m:t>
                    </m:r>
                    <m:d>
                      <m:dPr>
                        <m:ctrlPr>
                          <a:rPr lang="sv-SE" sz="2200" b="0" i="1" smtClean="0">
                            <a:latin typeface="Cambria Math" panose="02040503050406030204" pitchFamily="18" charset="0"/>
                          </a:rPr>
                        </m:ctrlPr>
                      </m:dPr>
                      <m:e>
                        <m:r>
                          <a:rPr lang="sv-SE" sz="2200" b="0" i="1" smtClean="0">
                            <a:latin typeface="Cambria Math" panose="02040503050406030204" pitchFamily="18" charset="0"/>
                          </a:rPr>
                          <m:t>12, 12</m:t>
                        </m:r>
                      </m:e>
                    </m:d>
                  </m:oMath>
                </a14:m>
                <a:endParaRPr lang="sv-SE" sz="2200" dirty="0">
                  <a:latin typeface="+mn-lt"/>
                </a:endParaRPr>
              </a:p>
              <a:p>
                <a:r>
                  <a:rPr lang="en-US" sz="2400" dirty="0">
                    <a:latin typeface="+mn-lt"/>
                  </a:rPr>
                  <a:t>Proceed with normal K-Means algorithm</a:t>
                </a:r>
              </a:p>
              <a:p>
                <a:pPr lvl="1"/>
                <a:endParaRPr lang="en-US" sz="2200" dirty="0">
                  <a:latin typeface="+mn-lt"/>
                </a:endParaRPr>
              </a:p>
              <a:p>
                <a:endParaRPr lang="en-US" sz="2400" dirty="0">
                  <a:latin typeface="+mn-lt"/>
                </a:endParaRPr>
              </a:p>
              <a:p>
                <a:endParaRPr lang="en-US" sz="2400" dirty="0">
                  <a:latin typeface="+mn-lt"/>
                </a:endParaRPr>
              </a:p>
            </p:txBody>
          </p:sp>
        </mc:Choice>
        <mc:Fallback xmlns="">
          <p:sp>
            <p:nvSpPr>
              <p:cNvPr id="3" name="Content Placeholder 2">
                <a:extLst>
                  <a:ext uri="{FF2B5EF4-FFF2-40B4-BE49-F238E27FC236}">
                    <a16:creationId xmlns:a16="http://schemas.microsoft.com/office/drawing/2014/main" id="{56C126BE-7A68-4094-0235-03BB209E0B5B}"/>
                  </a:ext>
                </a:extLst>
              </p:cNvPr>
              <p:cNvSpPr>
                <a:spLocks noGrp="1" noRot="1" noChangeAspect="1" noMove="1" noResize="1" noEditPoints="1" noAdjustHandles="1" noChangeArrowheads="1" noChangeShapeType="1" noTextEdit="1"/>
              </p:cNvSpPr>
              <p:nvPr>
                <p:ph sz="quarter" idx="13"/>
              </p:nvPr>
            </p:nvSpPr>
            <p:spPr>
              <a:xfrm>
                <a:off x="947738" y="1798782"/>
                <a:ext cx="9472971" cy="4244974"/>
              </a:xfrm>
              <a:blipFill>
                <a:blip r:embed="rId2"/>
                <a:stretch>
                  <a:fillRect l="-803" t="-2985" b="-7164"/>
                </a:stretch>
              </a:blipFill>
            </p:spPr>
            <p:txBody>
              <a:bodyPr/>
              <a:lstStyle/>
              <a:p>
                <a:r>
                  <a:rPr lang="en-US">
                    <a:noFill/>
                  </a:rPr>
                  <a:t> </a:t>
                </a:r>
              </a:p>
            </p:txBody>
          </p:sp>
        </mc:Fallback>
      </mc:AlternateContent>
      <p:pic>
        <p:nvPicPr>
          <p:cNvPr id="5" name="Picture 4" descr="A screenshot of a phone&#10;&#10;AI-generated content may be incorrect.">
            <a:extLst>
              <a:ext uri="{FF2B5EF4-FFF2-40B4-BE49-F238E27FC236}">
                <a16:creationId xmlns:a16="http://schemas.microsoft.com/office/drawing/2014/main" id="{6755DB45-9E12-34A1-CCF1-450C3A4BF3D7}"/>
              </a:ext>
            </a:extLst>
          </p:cNvPr>
          <p:cNvPicPr>
            <a:picLocks noChangeAspect="1"/>
          </p:cNvPicPr>
          <p:nvPr/>
        </p:nvPicPr>
        <p:blipFill>
          <a:blip r:embed="rId3"/>
          <a:stretch>
            <a:fillRect/>
          </a:stretch>
        </p:blipFill>
        <p:spPr>
          <a:xfrm>
            <a:off x="1365249" y="2415309"/>
            <a:ext cx="9312219" cy="2142836"/>
          </a:xfrm>
          <a:prstGeom prst="rect">
            <a:avLst/>
          </a:prstGeom>
        </p:spPr>
      </p:pic>
    </p:spTree>
    <p:extLst>
      <p:ext uri="{BB962C8B-B14F-4D97-AF65-F5344CB8AC3E}">
        <p14:creationId xmlns:p14="http://schemas.microsoft.com/office/powerpoint/2010/main" val="837954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DBF1-2265-1F9A-F6E7-5A1E92190E0F}"/>
              </a:ext>
            </a:extLst>
          </p:cNvPr>
          <p:cNvSpPr>
            <a:spLocks noGrp="1"/>
          </p:cNvSpPr>
          <p:nvPr>
            <p:ph type="title"/>
          </p:nvPr>
        </p:nvSpPr>
        <p:spPr/>
        <p:txBody>
          <a:bodyPr/>
          <a:lstStyle/>
          <a:p>
            <a:r>
              <a:rPr lang="en-US" dirty="0">
                <a:latin typeface="+mj-lt"/>
              </a:rPr>
              <a:t>K-Means vs K-Means++</a:t>
            </a:r>
          </a:p>
        </p:txBody>
      </p:sp>
      <p:sp>
        <p:nvSpPr>
          <p:cNvPr id="3" name="Content Placeholder 2">
            <a:extLst>
              <a:ext uri="{FF2B5EF4-FFF2-40B4-BE49-F238E27FC236}">
                <a16:creationId xmlns:a16="http://schemas.microsoft.com/office/drawing/2014/main" id="{7F7CF168-A86E-3DC6-BB78-FF7FC3A40AF3}"/>
              </a:ext>
            </a:extLst>
          </p:cNvPr>
          <p:cNvSpPr>
            <a:spLocks noGrp="1"/>
          </p:cNvSpPr>
          <p:nvPr>
            <p:ph sz="quarter" idx="13"/>
          </p:nvPr>
        </p:nvSpPr>
        <p:spPr>
          <a:xfrm>
            <a:off x="947739" y="1776413"/>
            <a:ext cx="6431470" cy="4244974"/>
          </a:xfrm>
        </p:spPr>
        <p:txBody>
          <a:bodyPr/>
          <a:lstStyle/>
          <a:p>
            <a:pPr algn="l" fontAlgn="base">
              <a:spcAft>
                <a:spcPts val="1800"/>
              </a:spcAft>
              <a:buFont typeface="Arial" panose="020B0604020202020204" pitchFamily="34" charset="0"/>
              <a:buChar char="•"/>
            </a:pPr>
            <a:r>
              <a:rPr lang="en-US" sz="2400" b="1" i="0" dirty="0">
                <a:effectLst/>
                <a:latin typeface="+mn-lt"/>
              </a:rPr>
              <a:t>Enhanced spread of centroids: </a:t>
            </a:r>
            <a:r>
              <a:rPr lang="en-US" sz="2400" b="0" i="0" dirty="0">
                <a:effectLst/>
                <a:latin typeface="+mn-lt"/>
              </a:rPr>
              <a:t>K-Means++ helps ensure that they are placed more effectively, making it less likely that clusters will overlap or be poorly defined.</a:t>
            </a:r>
          </a:p>
          <a:p>
            <a:pPr algn="l" fontAlgn="base">
              <a:spcAft>
                <a:spcPts val="1800"/>
              </a:spcAft>
              <a:buFont typeface="Arial" panose="020B0604020202020204" pitchFamily="34" charset="0"/>
              <a:buChar char="•"/>
            </a:pPr>
            <a:r>
              <a:rPr lang="en-US" sz="2400" b="1" i="0" dirty="0">
                <a:effectLst/>
                <a:latin typeface="+mn-lt"/>
              </a:rPr>
              <a:t>Better Convergence: </a:t>
            </a:r>
            <a:r>
              <a:rPr lang="en-US" sz="2400" b="0" i="0" dirty="0">
                <a:effectLst/>
                <a:latin typeface="+mn-lt"/>
              </a:rPr>
              <a:t>Since the initialization process in K-Means++ results in centroids being placed farther apart from each other and away from dense data areas, the algorithm tends to converge more quickly to a reasonable solution.</a:t>
            </a:r>
          </a:p>
          <a:p>
            <a:pPr algn="l" fontAlgn="base">
              <a:spcAft>
                <a:spcPts val="1800"/>
              </a:spcAft>
              <a:buFont typeface="Arial" panose="020B0604020202020204" pitchFamily="34" charset="0"/>
              <a:buChar char="•"/>
            </a:pPr>
            <a:r>
              <a:rPr lang="en-US" sz="2400" b="1" i="0" dirty="0">
                <a:effectLst/>
                <a:latin typeface="+mn-lt"/>
              </a:rPr>
              <a:t>Robustness: </a:t>
            </a:r>
            <a:r>
              <a:rPr lang="en-US" sz="2400" b="0" i="0" dirty="0">
                <a:effectLst/>
                <a:latin typeface="+mn-lt"/>
              </a:rPr>
              <a:t>The improved initialization also makes K-Means++ more robust to datasets with varying densities, shapes, and sizes of clusters</a:t>
            </a:r>
          </a:p>
          <a:p>
            <a:endParaRPr lang="en-US" dirty="0"/>
          </a:p>
        </p:txBody>
      </p:sp>
      <p:sp>
        <p:nvSpPr>
          <p:cNvPr id="4" name="AutoShape 2">
            <a:extLst>
              <a:ext uri="{FF2B5EF4-FFF2-40B4-BE49-F238E27FC236}">
                <a16:creationId xmlns:a16="http://schemas.microsoft.com/office/drawing/2014/main" id="{3A113A85-DE19-3461-4B21-ED68E5CFBE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graph with a line and a number of iterations&#10;&#10;AI-generated content may be incorrect.">
            <a:extLst>
              <a:ext uri="{FF2B5EF4-FFF2-40B4-BE49-F238E27FC236}">
                <a16:creationId xmlns:a16="http://schemas.microsoft.com/office/drawing/2014/main" id="{32A03283-48FC-5BC0-2885-50D7579F89E6}"/>
              </a:ext>
            </a:extLst>
          </p:cNvPr>
          <p:cNvPicPr>
            <a:picLocks noChangeAspect="1"/>
          </p:cNvPicPr>
          <p:nvPr/>
        </p:nvPicPr>
        <p:blipFill>
          <a:blip r:embed="rId2"/>
          <a:stretch>
            <a:fillRect/>
          </a:stretch>
        </p:blipFill>
        <p:spPr>
          <a:xfrm>
            <a:off x="7276592" y="1194684"/>
            <a:ext cx="4915408" cy="2949245"/>
          </a:xfrm>
          <a:prstGeom prst="rect">
            <a:avLst/>
          </a:prstGeom>
        </p:spPr>
      </p:pic>
    </p:spTree>
    <p:extLst>
      <p:ext uri="{BB962C8B-B14F-4D97-AF65-F5344CB8AC3E}">
        <p14:creationId xmlns:p14="http://schemas.microsoft.com/office/powerpoint/2010/main" val="3743800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23DE-D21C-B356-9E17-C3A17E087E93}"/>
              </a:ext>
            </a:extLst>
          </p:cNvPr>
          <p:cNvSpPr>
            <a:spLocks noGrp="1"/>
          </p:cNvSpPr>
          <p:nvPr>
            <p:ph type="title"/>
          </p:nvPr>
        </p:nvSpPr>
        <p:spPr/>
        <p:txBody>
          <a:bodyPr/>
          <a:lstStyle/>
          <a:p>
            <a:r>
              <a:rPr lang="en-US" dirty="0">
                <a:latin typeface="+mj-lt"/>
              </a:rPr>
              <a:t>How to Determine K?</a:t>
            </a:r>
          </a:p>
        </p:txBody>
      </p:sp>
      <p:sp>
        <p:nvSpPr>
          <p:cNvPr id="3" name="Content Placeholder 2">
            <a:extLst>
              <a:ext uri="{FF2B5EF4-FFF2-40B4-BE49-F238E27FC236}">
                <a16:creationId xmlns:a16="http://schemas.microsoft.com/office/drawing/2014/main" id="{53EA4204-2F5E-DE10-1353-516E9540EA04}"/>
              </a:ext>
            </a:extLst>
          </p:cNvPr>
          <p:cNvSpPr>
            <a:spLocks noGrp="1"/>
          </p:cNvSpPr>
          <p:nvPr>
            <p:ph sz="quarter" idx="13"/>
          </p:nvPr>
        </p:nvSpPr>
        <p:spPr/>
        <p:txBody>
          <a:bodyPr/>
          <a:lstStyle/>
          <a:p>
            <a:pPr algn="l" rtl="0" fontAlgn="base">
              <a:spcAft>
                <a:spcPts val="750"/>
              </a:spcAft>
            </a:pPr>
            <a:r>
              <a:rPr lang="en-US" sz="2400" b="0" i="0" dirty="0">
                <a:effectLst/>
                <a:latin typeface="+mn-lt"/>
              </a:rPr>
              <a:t>The Elbow Method helps us find this optimal k value. </a:t>
            </a:r>
          </a:p>
          <a:p>
            <a:pPr lvl="1" fontAlgn="base">
              <a:spcAft>
                <a:spcPts val="1800"/>
              </a:spcAft>
              <a:buFont typeface="+mj-lt"/>
              <a:buAutoNum type="arabicPeriod"/>
            </a:pPr>
            <a:r>
              <a:rPr lang="en-US" sz="2400" b="0" i="0" dirty="0">
                <a:effectLst/>
                <a:latin typeface="+mn-lt"/>
              </a:rPr>
              <a:t>We iterate over a range of k values, typically from 1 to n (where n is a hyper-parameter you choose).</a:t>
            </a:r>
          </a:p>
          <a:p>
            <a:pPr lvl="1" fontAlgn="base">
              <a:spcAft>
                <a:spcPts val="1800"/>
              </a:spcAft>
              <a:buFont typeface="+mj-lt"/>
              <a:buAutoNum type="arabicPeriod"/>
            </a:pPr>
            <a:r>
              <a:rPr lang="en-US" sz="2400" b="0" i="0" dirty="0">
                <a:effectLst/>
                <a:latin typeface="+mn-lt"/>
              </a:rPr>
              <a:t>For each k, we calculate the </a:t>
            </a:r>
            <a:r>
              <a:rPr lang="en-US" sz="2400" b="1" i="0" dirty="0">
                <a:effectLst/>
                <a:latin typeface="+mn-lt"/>
              </a:rPr>
              <a:t>Within-Cluster Sum of Squares (WCSS)</a:t>
            </a:r>
            <a:r>
              <a:rPr lang="en-US" sz="2400" b="0" i="0" dirty="0">
                <a:effectLst/>
                <a:latin typeface="+mn-lt"/>
              </a:rPr>
              <a:t>.</a:t>
            </a:r>
            <a:br>
              <a:rPr lang="en-US" dirty="0"/>
            </a:br>
            <a:endParaRPr lang="en-US" b="0" i="0" dirty="0">
              <a:solidFill>
                <a:srgbClr val="273239"/>
              </a:solidFill>
              <a:effectLst/>
              <a:latin typeface="Nunito" pitchFamily="2" charset="77"/>
            </a:endParaRPr>
          </a:p>
        </p:txBody>
      </p:sp>
      <p:pic>
        <p:nvPicPr>
          <p:cNvPr id="5" name="Picture 4" descr="A white background with black text&#10;&#10;AI-generated content may be incorrect.">
            <a:extLst>
              <a:ext uri="{FF2B5EF4-FFF2-40B4-BE49-F238E27FC236}">
                <a16:creationId xmlns:a16="http://schemas.microsoft.com/office/drawing/2014/main" id="{CD2B4B01-1DA1-EF15-2AB1-C1F0A3F79A5A}"/>
              </a:ext>
            </a:extLst>
          </p:cNvPr>
          <p:cNvPicPr>
            <a:picLocks noChangeAspect="1"/>
          </p:cNvPicPr>
          <p:nvPr/>
        </p:nvPicPr>
        <p:blipFill>
          <a:blip r:embed="rId2"/>
          <a:stretch>
            <a:fillRect/>
          </a:stretch>
        </p:blipFill>
        <p:spPr>
          <a:xfrm>
            <a:off x="1210108" y="3574473"/>
            <a:ext cx="9479972" cy="3159991"/>
          </a:xfrm>
          <a:prstGeom prst="rect">
            <a:avLst/>
          </a:prstGeom>
        </p:spPr>
      </p:pic>
    </p:spTree>
    <p:extLst>
      <p:ext uri="{BB962C8B-B14F-4D97-AF65-F5344CB8AC3E}">
        <p14:creationId xmlns:p14="http://schemas.microsoft.com/office/powerpoint/2010/main" val="2093223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43754-A5F6-FAA4-00DF-F48337090809}"/>
              </a:ext>
            </a:extLst>
          </p:cNvPr>
          <p:cNvSpPr>
            <a:spLocks noGrp="1"/>
          </p:cNvSpPr>
          <p:nvPr>
            <p:ph type="title"/>
          </p:nvPr>
        </p:nvSpPr>
        <p:spPr/>
        <p:txBody>
          <a:bodyPr/>
          <a:lstStyle/>
          <a:p>
            <a:pPr fontAlgn="base">
              <a:spcBef>
                <a:spcPts val="1800"/>
              </a:spcBef>
              <a:spcAft>
                <a:spcPts val="1800"/>
              </a:spcAft>
            </a:pPr>
            <a:r>
              <a:rPr lang="en-US" i="0" dirty="0">
                <a:solidFill>
                  <a:srgbClr val="273239"/>
                </a:solidFill>
                <a:effectLst/>
                <a:latin typeface="+mj-lt"/>
              </a:rPr>
              <a:t>The Elbow Point</a:t>
            </a:r>
            <a:br>
              <a:rPr lang="en-US" i="0" dirty="0">
                <a:solidFill>
                  <a:srgbClr val="273239"/>
                </a:solidFill>
                <a:effectLst/>
                <a:latin typeface="+mj-lt"/>
              </a:rPr>
            </a:br>
            <a:br>
              <a:rPr lang="en-US" dirty="0">
                <a:latin typeface="+mj-lt"/>
              </a:rPr>
            </a:br>
            <a:endParaRPr lang="en-US" dirty="0">
              <a:latin typeface="+mj-lt"/>
            </a:endParaRPr>
          </a:p>
        </p:txBody>
      </p:sp>
      <p:sp>
        <p:nvSpPr>
          <p:cNvPr id="3" name="Content Placeholder 2">
            <a:extLst>
              <a:ext uri="{FF2B5EF4-FFF2-40B4-BE49-F238E27FC236}">
                <a16:creationId xmlns:a16="http://schemas.microsoft.com/office/drawing/2014/main" id="{7B87E1BC-CC04-ABCC-62CA-D2294B20AD37}"/>
              </a:ext>
            </a:extLst>
          </p:cNvPr>
          <p:cNvSpPr>
            <a:spLocks noGrp="1"/>
          </p:cNvSpPr>
          <p:nvPr>
            <p:ph sz="quarter" idx="13"/>
          </p:nvPr>
        </p:nvSpPr>
        <p:spPr/>
        <p:txBody>
          <a:bodyPr/>
          <a:lstStyle/>
          <a:p>
            <a:pPr algn="l" fontAlgn="base">
              <a:spcAft>
                <a:spcPts val="1800"/>
              </a:spcAft>
              <a:buFont typeface="Arial" panose="020B0604020202020204" pitchFamily="34" charset="0"/>
              <a:buChar char="•"/>
            </a:pPr>
            <a:r>
              <a:rPr lang="en-US" sz="2400" b="1" i="0" dirty="0">
                <a:effectLst/>
                <a:latin typeface="+mn-lt"/>
              </a:rPr>
              <a:t>We calculate a distance measure called WCSS (Within-Cluster Sum of Squares).</a:t>
            </a:r>
            <a:r>
              <a:rPr lang="en-US" sz="2400" b="0" i="0" dirty="0">
                <a:effectLst/>
                <a:latin typeface="+mn-lt"/>
              </a:rPr>
              <a:t> This tells us how spread out the data points are within each cluster.</a:t>
            </a:r>
          </a:p>
          <a:p>
            <a:pPr algn="l" fontAlgn="base">
              <a:spcAft>
                <a:spcPts val="1800"/>
              </a:spcAft>
              <a:buFont typeface="Arial" panose="020B0604020202020204" pitchFamily="34" charset="0"/>
              <a:buChar char="•"/>
            </a:pPr>
            <a:r>
              <a:rPr lang="en-US" sz="2400" b="1" i="0" dirty="0">
                <a:effectLst/>
                <a:latin typeface="+mn-lt"/>
              </a:rPr>
              <a:t>We try different k values (number of clusters).</a:t>
            </a:r>
            <a:r>
              <a:rPr lang="en-US" sz="2400" b="0" i="0" dirty="0">
                <a:effectLst/>
                <a:latin typeface="+mn-lt"/>
              </a:rPr>
              <a:t> For each k, we run </a:t>
            </a:r>
            <a:r>
              <a:rPr lang="en-US" sz="2400" b="0" i="0" dirty="0" err="1">
                <a:effectLst/>
                <a:latin typeface="+mn-lt"/>
              </a:rPr>
              <a:t>KMeans</a:t>
            </a:r>
            <a:r>
              <a:rPr lang="en-US" sz="2400" b="0" i="0" dirty="0">
                <a:effectLst/>
                <a:latin typeface="+mn-lt"/>
              </a:rPr>
              <a:t> and calculate the WCSS.</a:t>
            </a:r>
          </a:p>
          <a:p>
            <a:pPr algn="l" fontAlgn="base">
              <a:spcAft>
                <a:spcPts val="1800"/>
              </a:spcAft>
              <a:buFont typeface="Arial" panose="020B0604020202020204" pitchFamily="34" charset="0"/>
              <a:buChar char="•"/>
            </a:pPr>
            <a:r>
              <a:rPr lang="en-US" sz="2400" b="1" i="0" dirty="0">
                <a:effectLst/>
                <a:latin typeface="+mn-lt"/>
              </a:rPr>
              <a:t>We plot a graph with k on the X-axis and WCSS on the Y-axis.</a:t>
            </a:r>
            <a:endParaRPr lang="en-US" sz="2400" b="0" i="0" dirty="0">
              <a:effectLst/>
              <a:latin typeface="+mn-lt"/>
            </a:endParaRPr>
          </a:p>
        </p:txBody>
      </p:sp>
    </p:spTree>
    <p:extLst>
      <p:ext uri="{BB962C8B-B14F-4D97-AF65-F5344CB8AC3E}">
        <p14:creationId xmlns:p14="http://schemas.microsoft.com/office/powerpoint/2010/main" val="3275586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EE88-C0AB-749E-FA6F-6CBD39F7C2DC}"/>
              </a:ext>
            </a:extLst>
          </p:cNvPr>
          <p:cNvSpPr>
            <a:spLocks noGrp="1"/>
          </p:cNvSpPr>
          <p:nvPr>
            <p:ph type="title"/>
          </p:nvPr>
        </p:nvSpPr>
        <p:spPr/>
        <p:txBody>
          <a:bodyPr/>
          <a:lstStyle/>
          <a:p>
            <a:r>
              <a:rPr lang="en-US" b="1" i="0" dirty="0">
                <a:solidFill>
                  <a:srgbClr val="273239"/>
                </a:solidFill>
                <a:effectLst/>
                <a:latin typeface="+mj-lt"/>
              </a:rPr>
              <a:t>The Elbow Point</a:t>
            </a:r>
            <a:br>
              <a:rPr lang="en-US" b="1" i="0" dirty="0">
                <a:solidFill>
                  <a:srgbClr val="273239"/>
                </a:solidFill>
                <a:effectLst/>
                <a:latin typeface="+mj-lt"/>
              </a:rPr>
            </a:br>
            <a:br>
              <a:rPr lang="en-US" dirty="0">
                <a:latin typeface="+mj-lt"/>
              </a:rPr>
            </a:br>
            <a:endParaRPr lang="en-US" dirty="0">
              <a:latin typeface="+mj-lt"/>
            </a:endParaRPr>
          </a:p>
        </p:txBody>
      </p:sp>
      <p:sp>
        <p:nvSpPr>
          <p:cNvPr id="3" name="Content Placeholder 2">
            <a:extLst>
              <a:ext uri="{FF2B5EF4-FFF2-40B4-BE49-F238E27FC236}">
                <a16:creationId xmlns:a16="http://schemas.microsoft.com/office/drawing/2014/main" id="{24C80C9E-1EE1-6F18-A926-33874C8E64C6}"/>
              </a:ext>
            </a:extLst>
          </p:cNvPr>
          <p:cNvSpPr>
            <a:spLocks noGrp="1"/>
          </p:cNvSpPr>
          <p:nvPr>
            <p:ph sz="quarter" idx="13"/>
          </p:nvPr>
        </p:nvSpPr>
        <p:spPr>
          <a:xfrm>
            <a:off x="823047" y="1570164"/>
            <a:ext cx="11244261" cy="2425764"/>
          </a:xfrm>
        </p:spPr>
        <p:txBody>
          <a:bodyPr/>
          <a:lstStyle/>
          <a:p>
            <a:pPr algn="l" fontAlgn="base">
              <a:lnSpc>
                <a:spcPct val="100000"/>
              </a:lnSpc>
              <a:spcBef>
                <a:spcPts val="0"/>
              </a:spcBef>
              <a:buFont typeface="Arial" panose="020B0604020202020204" pitchFamily="34" charset="0"/>
              <a:buChar char="•"/>
            </a:pPr>
            <a:r>
              <a:rPr lang="en-US" sz="2400" i="0" dirty="0">
                <a:effectLst/>
                <a:latin typeface="+mn-lt"/>
              </a:rPr>
              <a:t>Identifying the Elbow Point</a:t>
            </a:r>
          </a:p>
          <a:p>
            <a:pPr lvl="1" fontAlgn="base">
              <a:lnSpc>
                <a:spcPct val="100000"/>
              </a:lnSpc>
              <a:spcBef>
                <a:spcPts val="0"/>
              </a:spcBef>
            </a:pPr>
            <a:r>
              <a:rPr lang="en-US" sz="2000" dirty="0">
                <a:latin typeface="+mn-lt"/>
              </a:rPr>
              <a:t>Increase in K , decrease in WCSS</a:t>
            </a:r>
          </a:p>
          <a:p>
            <a:pPr lvl="1" fontAlgn="base">
              <a:lnSpc>
                <a:spcPct val="100000"/>
              </a:lnSpc>
              <a:spcBef>
                <a:spcPts val="0"/>
              </a:spcBef>
            </a:pPr>
            <a:r>
              <a:rPr lang="en-US" sz="2000" dirty="0">
                <a:latin typeface="+mn-lt"/>
              </a:rPr>
              <a:t>More clusters allow the model to capture more specific details and variations in the data.</a:t>
            </a:r>
          </a:p>
          <a:p>
            <a:pPr lvl="1" fontAlgn="base">
              <a:lnSpc>
                <a:spcPct val="100000"/>
              </a:lnSpc>
              <a:spcBef>
                <a:spcPts val="0"/>
              </a:spcBef>
            </a:pPr>
            <a:r>
              <a:rPr lang="en-US" sz="2000" dirty="0">
                <a:latin typeface="+mn-lt"/>
              </a:rPr>
              <a:t>Adding more clusters provides only a </a:t>
            </a:r>
            <a:r>
              <a:rPr lang="en-US" sz="2000" b="1" dirty="0">
                <a:latin typeface="+mn-lt"/>
              </a:rPr>
              <a:t>marginal decrease</a:t>
            </a:r>
            <a:r>
              <a:rPr lang="en-US" sz="2000" dirty="0">
                <a:latin typeface="+mn-lt"/>
              </a:rPr>
              <a:t> in WCSS.</a:t>
            </a:r>
          </a:p>
          <a:p>
            <a:pPr lvl="1" fontAlgn="base">
              <a:lnSpc>
                <a:spcPct val="100000"/>
              </a:lnSpc>
              <a:spcBef>
                <a:spcPts val="0"/>
              </a:spcBef>
            </a:pPr>
            <a:endParaRPr lang="en-US" sz="2000" dirty="0">
              <a:latin typeface="+mn-lt"/>
            </a:endParaRPr>
          </a:p>
          <a:p>
            <a:pPr lvl="1" fontAlgn="base">
              <a:lnSpc>
                <a:spcPct val="100000"/>
              </a:lnSpc>
              <a:spcAft>
                <a:spcPts val="1800"/>
              </a:spcAft>
            </a:pPr>
            <a:endParaRPr lang="en-US" dirty="0"/>
          </a:p>
          <a:p>
            <a:endParaRPr lang="en-US" dirty="0"/>
          </a:p>
        </p:txBody>
      </p:sp>
      <p:pic>
        <p:nvPicPr>
          <p:cNvPr id="5" name="Picture 4">
            <a:extLst>
              <a:ext uri="{FF2B5EF4-FFF2-40B4-BE49-F238E27FC236}">
                <a16:creationId xmlns:a16="http://schemas.microsoft.com/office/drawing/2014/main" id="{E872FBAD-5FED-10A2-E8DF-47FC8B0A1019}"/>
              </a:ext>
            </a:extLst>
          </p:cNvPr>
          <p:cNvPicPr>
            <a:picLocks noChangeAspect="1"/>
          </p:cNvPicPr>
          <p:nvPr/>
        </p:nvPicPr>
        <p:blipFill>
          <a:blip r:embed="rId2"/>
          <a:stretch>
            <a:fillRect/>
          </a:stretch>
        </p:blipFill>
        <p:spPr>
          <a:xfrm>
            <a:off x="5916009" y="3247836"/>
            <a:ext cx="6151299" cy="2773551"/>
          </a:xfrm>
          <a:prstGeom prst="rect">
            <a:avLst/>
          </a:prstGeom>
        </p:spPr>
      </p:pic>
      <p:sp>
        <p:nvSpPr>
          <p:cNvPr id="6" name="Content Placeholder 2">
            <a:extLst>
              <a:ext uri="{FF2B5EF4-FFF2-40B4-BE49-F238E27FC236}">
                <a16:creationId xmlns:a16="http://schemas.microsoft.com/office/drawing/2014/main" id="{15BF58BA-DEED-2D97-9B6F-1934D4C986AB}"/>
              </a:ext>
            </a:extLst>
          </p:cNvPr>
          <p:cNvSpPr txBox="1">
            <a:spLocks/>
          </p:cNvSpPr>
          <p:nvPr/>
        </p:nvSpPr>
        <p:spPr>
          <a:xfrm>
            <a:off x="338137" y="3002788"/>
            <a:ext cx="5577872"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fontAlgn="base">
              <a:spcBef>
                <a:spcPts val="0"/>
              </a:spcBef>
            </a:pPr>
            <a:r>
              <a:rPr lang="en-US" sz="2400" b="1" dirty="0">
                <a:latin typeface="+mn-lt"/>
              </a:rPr>
              <a:t>Before the elbow</a:t>
            </a:r>
          </a:p>
          <a:p>
            <a:pPr marL="1200150" lvl="2" indent="-285750" fontAlgn="base">
              <a:spcBef>
                <a:spcPts val="0"/>
              </a:spcBef>
            </a:pPr>
            <a:r>
              <a:rPr lang="en-US" sz="1800" dirty="0">
                <a:latin typeface="+mn-lt"/>
              </a:rPr>
              <a:t>Increasing k significantly reduces WCSS</a:t>
            </a:r>
          </a:p>
          <a:p>
            <a:pPr marL="1200150" lvl="2" indent="-285750" fontAlgn="base">
              <a:spcBef>
                <a:spcPts val="0"/>
              </a:spcBef>
            </a:pPr>
            <a:r>
              <a:rPr lang="en-US" sz="1800" dirty="0">
                <a:latin typeface="+mn-lt"/>
              </a:rPr>
              <a:t>Indicating that new clusters effectively capture more of the data’s variability.</a:t>
            </a:r>
          </a:p>
          <a:p>
            <a:pPr marL="914400" lvl="2" indent="0" fontAlgn="base">
              <a:spcBef>
                <a:spcPts val="0"/>
              </a:spcBef>
              <a:buNone/>
            </a:pPr>
            <a:endParaRPr lang="en-US" sz="1800" dirty="0">
              <a:latin typeface="+mn-lt"/>
            </a:endParaRPr>
          </a:p>
          <a:p>
            <a:pPr marL="742950" lvl="1" indent="-285750" fontAlgn="base">
              <a:spcBef>
                <a:spcPts val="0"/>
              </a:spcBef>
            </a:pPr>
            <a:r>
              <a:rPr lang="en-US" sz="2400" b="1" dirty="0">
                <a:latin typeface="+mn-lt"/>
              </a:rPr>
              <a:t>After the elbow</a:t>
            </a:r>
          </a:p>
          <a:p>
            <a:pPr marL="1200150" lvl="2" indent="-285750" fontAlgn="base">
              <a:spcBef>
                <a:spcPts val="0"/>
              </a:spcBef>
            </a:pPr>
            <a:r>
              <a:rPr lang="en-US" sz="1800" dirty="0">
                <a:latin typeface="+mn-lt"/>
              </a:rPr>
              <a:t>Adding more clusters results in a minimal reduction in WCSS,</a:t>
            </a:r>
          </a:p>
          <a:p>
            <a:pPr marL="1200150" lvl="2" indent="-285750" fontAlgn="base">
              <a:spcBef>
                <a:spcPts val="0"/>
              </a:spcBef>
            </a:pPr>
            <a:r>
              <a:rPr lang="en-US" sz="1800" dirty="0">
                <a:latin typeface="+mn-lt"/>
              </a:rPr>
              <a:t>Extra clusters may not be necessary and could lead to overfitting.</a:t>
            </a:r>
          </a:p>
          <a:p>
            <a:br>
              <a:rPr lang="en-US" dirty="0"/>
            </a:br>
            <a:endParaRPr lang="en-US" dirty="0"/>
          </a:p>
          <a:p>
            <a:endParaRPr lang="en-US" dirty="0"/>
          </a:p>
        </p:txBody>
      </p:sp>
    </p:spTree>
    <p:extLst>
      <p:ext uri="{BB962C8B-B14F-4D97-AF65-F5344CB8AC3E}">
        <p14:creationId xmlns:p14="http://schemas.microsoft.com/office/powerpoint/2010/main" val="1781272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080E-6D82-BC12-13BB-EDD38851A107}"/>
              </a:ext>
            </a:extLst>
          </p:cNvPr>
          <p:cNvSpPr>
            <a:spLocks noGrp="1"/>
          </p:cNvSpPr>
          <p:nvPr>
            <p:ph type="title"/>
          </p:nvPr>
        </p:nvSpPr>
        <p:spPr>
          <a:xfrm>
            <a:off x="806604" y="302190"/>
            <a:ext cx="9650989" cy="716142"/>
          </a:xfrm>
        </p:spPr>
        <p:txBody>
          <a:bodyPr/>
          <a:lstStyle/>
          <a:p>
            <a:r>
              <a:rPr lang="en-US" dirty="0">
                <a:latin typeface="+mj-lt"/>
              </a:rPr>
              <a:t>Limitations of K-Means: Handling non-Globular Shapes</a:t>
            </a:r>
          </a:p>
        </p:txBody>
      </p:sp>
      <p:pic>
        <p:nvPicPr>
          <p:cNvPr id="5122" name="Picture 2" descr="Output image">
            <a:extLst>
              <a:ext uri="{FF2B5EF4-FFF2-40B4-BE49-F238E27FC236}">
                <a16:creationId xmlns:a16="http://schemas.microsoft.com/office/drawing/2014/main" id="{EFF422D7-7FC0-D1EE-24FE-0B08763DE6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145"/>
          <a:stretch/>
        </p:blipFill>
        <p:spPr bwMode="auto">
          <a:xfrm>
            <a:off x="6061585" y="1791252"/>
            <a:ext cx="4604894" cy="2296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Output image">
            <a:extLst>
              <a:ext uri="{FF2B5EF4-FFF2-40B4-BE49-F238E27FC236}">
                <a16:creationId xmlns:a16="http://schemas.microsoft.com/office/drawing/2014/main" id="{920E5E5F-C54F-8684-4D49-0B4D793107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145"/>
          <a:stretch/>
        </p:blipFill>
        <p:spPr bwMode="auto">
          <a:xfrm>
            <a:off x="6129338" y="4326573"/>
            <a:ext cx="4469389" cy="22292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DE785E9-E084-EDF4-6FDA-F93D7AD71EF6}"/>
              </a:ext>
            </a:extLst>
          </p:cNvPr>
          <p:cNvSpPr txBox="1"/>
          <p:nvPr/>
        </p:nvSpPr>
        <p:spPr>
          <a:xfrm>
            <a:off x="689373" y="1791252"/>
            <a:ext cx="5081577" cy="4154984"/>
          </a:xfrm>
          <a:prstGeom prst="rect">
            <a:avLst/>
          </a:prstGeom>
          <a:noFill/>
        </p:spPr>
        <p:txBody>
          <a:bodyPr wrap="square">
            <a:spAutoFit/>
          </a:bodyPr>
          <a:lstStyle/>
          <a:p>
            <a:r>
              <a:rPr lang="en-US" sz="2400" dirty="0">
                <a:solidFill>
                  <a:schemeClr val="tx1">
                    <a:lumMod val="65000"/>
                    <a:lumOff val="35000"/>
                  </a:schemeClr>
                </a:solidFill>
              </a:rPr>
              <a:t>K-Means relies on </a:t>
            </a:r>
            <a:r>
              <a:rPr lang="en-US" sz="2400" b="1" dirty="0">
                <a:solidFill>
                  <a:schemeClr val="tx1">
                    <a:lumMod val="65000"/>
                    <a:lumOff val="35000"/>
                  </a:schemeClr>
                </a:solidFill>
              </a:rPr>
              <a:t>Euclidean distance</a:t>
            </a:r>
            <a:r>
              <a:rPr lang="en-US" sz="2400" dirty="0">
                <a:solidFill>
                  <a:schemeClr val="tx1">
                    <a:lumMod val="65000"/>
                    <a:lumOff val="35000"/>
                  </a:schemeClr>
                </a:solidFill>
              </a:rPr>
              <a:t> to measure similarity, which causes problems when:</a:t>
            </a:r>
          </a:p>
          <a:p>
            <a:endParaRPr lang="en-US" sz="2400" dirty="0">
              <a:solidFill>
                <a:schemeClr val="tx1">
                  <a:lumMod val="65000"/>
                  <a:lumOff val="35000"/>
                </a:schemeClr>
              </a:solidFill>
            </a:endParaRPr>
          </a:p>
          <a:p>
            <a:pPr>
              <a:buFont typeface="+mj-lt"/>
              <a:buAutoNum type="arabicPeriod"/>
            </a:pPr>
            <a:r>
              <a:rPr lang="en-US" sz="2400" dirty="0">
                <a:solidFill>
                  <a:schemeClr val="tx1">
                    <a:lumMod val="65000"/>
                    <a:lumOff val="35000"/>
                  </a:schemeClr>
                </a:solidFill>
              </a:rPr>
              <a:t> Clusters have irregular shapes (e.g., concentric circles, spirals)</a:t>
            </a:r>
          </a:p>
          <a:p>
            <a:pPr>
              <a:buFont typeface="+mj-lt"/>
              <a:buAutoNum type="arabicPeriod"/>
            </a:pPr>
            <a:endParaRPr lang="en-US" sz="2400" dirty="0">
              <a:solidFill>
                <a:schemeClr val="tx1">
                  <a:lumMod val="65000"/>
                  <a:lumOff val="35000"/>
                </a:schemeClr>
              </a:solidFill>
            </a:endParaRPr>
          </a:p>
          <a:p>
            <a:pPr>
              <a:buFont typeface="+mj-lt"/>
              <a:buAutoNum type="arabicPeriod"/>
            </a:pPr>
            <a:r>
              <a:rPr lang="en-US" sz="2400" dirty="0">
                <a:solidFill>
                  <a:schemeClr val="tx1">
                    <a:lumMod val="65000"/>
                    <a:lumOff val="35000"/>
                  </a:schemeClr>
                </a:solidFill>
              </a:rPr>
              <a:t>Clusters are connected by curved or non-linear boundaries</a:t>
            </a:r>
          </a:p>
          <a:p>
            <a:pPr>
              <a:buFont typeface="+mj-lt"/>
              <a:buAutoNum type="arabicPeriod"/>
            </a:pPr>
            <a:endParaRPr lang="en-US" sz="2400" dirty="0">
              <a:solidFill>
                <a:schemeClr val="tx1">
                  <a:lumMod val="65000"/>
                  <a:lumOff val="35000"/>
                </a:schemeClr>
              </a:solidFill>
            </a:endParaRPr>
          </a:p>
          <a:p>
            <a:pPr>
              <a:buFont typeface="+mj-lt"/>
              <a:buAutoNum type="arabicPeriod"/>
            </a:pPr>
            <a:r>
              <a:rPr lang="en-US" sz="2400" dirty="0">
                <a:solidFill>
                  <a:schemeClr val="tx1">
                    <a:lumMod val="65000"/>
                    <a:lumOff val="35000"/>
                  </a:schemeClr>
                </a:solidFill>
              </a:rPr>
              <a:t>Clusters have varying densities.</a:t>
            </a:r>
          </a:p>
        </p:txBody>
      </p:sp>
    </p:spTree>
    <p:extLst>
      <p:ext uri="{BB962C8B-B14F-4D97-AF65-F5344CB8AC3E}">
        <p14:creationId xmlns:p14="http://schemas.microsoft.com/office/powerpoint/2010/main" val="2805345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DB4D-1F1A-15BF-9B6B-B3968A1DF8E0}"/>
              </a:ext>
            </a:extLst>
          </p:cNvPr>
          <p:cNvSpPr>
            <a:spLocks noGrp="1"/>
          </p:cNvSpPr>
          <p:nvPr>
            <p:ph type="title"/>
          </p:nvPr>
        </p:nvSpPr>
        <p:spPr>
          <a:xfrm>
            <a:off x="947738" y="342144"/>
            <a:ext cx="9472971" cy="716142"/>
          </a:xfrm>
        </p:spPr>
        <p:txBody>
          <a:bodyPr/>
          <a:lstStyle/>
          <a:p>
            <a:r>
              <a:rPr lang="en-US" b="1" dirty="0">
                <a:latin typeface="+mj-lt"/>
              </a:rPr>
              <a:t>Alternatives to K-Means for Non-Globular Clusters</a:t>
            </a:r>
            <a:br>
              <a:rPr lang="en-US" b="1" dirty="0"/>
            </a:br>
            <a:endParaRPr lang="en-US" dirty="0"/>
          </a:p>
        </p:txBody>
      </p:sp>
      <p:pic>
        <p:nvPicPr>
          <p:cNvPr id="5" name="Content Placeholder 4" descr="A screenshot of a white sheet&#10;&#10;AI-generated content may be incorrect.">
            <a:extLst>
              <a:ext uri="{FF2B5EF4-FFF2-40B4-BE49-F238E27FC236}">
                <a16:creationId xmlns:a16="http://schemas.microsoft.com/office/drawing/2014/main" id="{E4F6321E-1904-1627-FDC6-26CE65A3BE7B}"/>
              </a:ext>
            </a:extLst>
          </p:cNvPr>
          <p:cNvPicPr>
            <a:picLocks noGrp="1" noChangeAspect="1"/>
          </p:cNvPicPr>
          <p:nvPr>
            <p:ph sz="quarter" idx="13"/>
          </p:nvPr>
        </p:nvPicPr>
        <p:blipFill>
          <a:blip r:embed="rId3"/>
          <a:srcRect b="18608"/>
          <a:stretch/>
        </p:blipFill>
        <p:spPr>
          <a:xfrm>
            <a:off x="707198" y="1343891"/>
            <a:ext cx="11050439" cy="3931494"/>
          </a:xfrm>
        </p:spPr>
      </p:pic>
    </p:spTree>
    <p:extLst>
      <p:ext uri="{BB962C8B-B14F-4D97-AF65-F5344CB8AC3E}">
        <p14:creationId xmlns:p14="http://schemas.microsoft.com/office/powerpoint/2010/main" val="2859297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F979A-9277-1305-FDC6-8A11D209D8CB}"/>
              </a:ext>
            </a:extLst>
          </p:cNvPr>
          <p:cNvSpPr>
            <a:spLocks noGrp="1"/>
          </p:cNvSpPr>
          <p:nvPr>
            <p:ph type="title"/>
          </p:nvPr>
        </p:nvSpPr>
        <p:spPr>
          <a:xfrm>
            <a:off x="443646" y="268576"/>
            <a:ext cx="11162200" cy="1149916"/>
          </a:xfrm>
        </p:spPr>
        <p:txBody>
          <a:bodyPr/>
          <a:lstStyle/>
          <a:p>
            <a:r>
              <a:rPr lang="en-US" dirty="0">
                <a:latin typeface="+mj-lt"/>
              </a:rPr>
              <a:t>DBSCAN (</a:t>
            </a:r>
            <a:r>
              <a:rPr lang="en-US" b="0" i="0" dirty="0">
                <a:solidFill>
                  <a:srgbClr val="111111"/>
                </a:solidFill>
                <a:effectLst/>
                <a:latin typeface="+mj-lt"/>
              </a:rPr>
              <a:t>Density-Based Spatial Clustering of Applications with Noise)</a:t>
            </a:r>
            <a:endParaRPr lang="en-US" dirty="0">
              <a:latin typeface="+mj-lt"/>
            </a:endParaRPr>
          </a:p>
        </p:txBody>
      </p:sp>
      <p:sp>
        <p:nvSpPr>
          <p:cNvPr id="4" name="Content Placeholder 2">
            <a:extLst>
              <a:ext uri="{FF2B5EF4-FFF2-40B4-BE49-F238E27FC236}">
                <a16:creationId xmlns:a16="http://schemas.microsoft.com/office/drawing/2014/main" id="{114542ED-7AA4-6B07-FEF0-7257F6E98309}"/>
              </a:ext>
            </a:extLst>
          </p:cNvPr>
          <p:cNvSpPr txBox="1">
            <a:spLocks/>
          </p:cNvSpPr>
          <p:nvPr/>
        </p:nvSpPr>
        <p:spPr>
          <a:xfrm>
            <a:off x="736723" y="1746573"/>
            <a:ext cx="9472971"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n-lt"/>
              </a:rPr>
              <a:t>DBSCAN is a density-based algorithm</a:t>
            </a:r>
          </a:p>
          <a:p>
            <a:pPr marL="0" indent="0">
              <a:buFont typeface="Arial" panose="020B0604020202020204" pitchFamily="34" charset="0"/>
              <a:buNone/>
            </a:pPr>
            <a:endParaRPr lang="en-US" sz="2400" dirty="0">
              <a:latin typeface="+mn-lt"/>
            </a:endParaRPr>
          </a:p>
          <a:p>
            <a:r>
              <a:rPr lang="en-US" sz="2400" b="1" dirty="0">
                <a:latin typeface="+mn-lt"/>
              </a:rPr>
              <a:t>Density =</a:t>
            </a:r>
            <a:r>
              <a:rPr lang="en-US" sz="2400" dirty="0">
                <a:latin typeface="+mn-lt"/>
              </a:rPr>
              <a:t> number of points within a specified radius (Eps)</a:t>
            </a:r>
          </a:p>
          <a:p>
            <a:pPr marL="0" indent="0">
              <a:buFont typeface="Arial" panose="020B0604020202020204" pitchFamily="34" charset="0"/>
              <a:buNone/>
            </a:pPr>
            <a:endParaRPr lang="en-US" sz="2400" dirty="0">
              <a:latin typeface="+mn-lt"/>
            </a:endParaRPr>
          </a:p>
          <a:p>
            <a:r>
              <a:rPr lang="en-US" sz="2400" dirty="0">
                <a:latin typeface="+mn-lt"/>
              </a:rPr>
              <a:t>A point is a </a:t>
            </a:r>
            <a:r>
              <a:rPr lang="en-US" sz="2400" b="1" dirty="0">
                <a:latin typeface="+mn-lt"/>
              </a:rPr>
              <a:t>core point </a:t>
            </a:r>
            <a:r>
              <a:rPr lang="en-US" sz="2400" dirty="0">
                <a:latin typeface="+mn-lt"/>
              </a:rPr>
              <a:t>if it has at least a specified number of points </a:t>
            </a:r>
            <a:r>
              <a:rPr lang="en-US" sz="2400" b="1" dirty="0">
                <a:latin typeface="+mn-lt"/>
              </a:rPr>
              <a:t>(</a:t>
            </a:r>
            <a:r>
              <a:rPr lang="en-US" sz="2400" b="1" dirty="0" err="1">
                <a:latin typeface="+mn-lt"/>
              </a:rPr>
              <a:t>MinPts</a:t>
            </a:r>
            <a:r>
              <a:rPr lang="en-US" sz="2400" dirty="0">
                <a:latin typeface="+mn-lt"/>
              </a:rPr>
              <a:t>) </a:t>
            </a:r>
            <a:r>
              <a:rPr lang="en-US" sz="2400" b="1" dirty="0">
                <a:latin typeface="+mn-lt"/>
              </a:rPr>
              <a:t>within Eps</a:t>
            </a:r>
          </a:p>
          <a:p>
            <a:pPr lvl="1"/>
            <a:r>
              <a:rPr lang="en-US" sz="2200" dirty="0">
                <a:latin typeface="+mn-lt"/>
              </a:rPr>
              <a:t>These are points that are at the interior of a cluster</a:t>
            </a:r>
            <a:endParaRPr lang="en-US" sz="2400" dirty="0">
              <a:latin typeface="+mn-lt"/>
            </a:endParaRPr>
          </a:p>
          <a:p>
            <a:pPr lvl="1"/>
            <a:r>
              <a:rPr lang="en-US" sz="2200" dirty="0">
                <a:latin typeface="+mn-lt"/>
              </a:rPr>
              <a:t>Counts the point itself</a:t>
            </a:r>
          </a:p>
          <a:p>
            <a:pPr marL="457200" lvl="1" indent="0">
              <a:buFont typeface="Arial" panose="020B0604020202020204" pitchFamily="34" charset="0"/>
              <a:buNone/>
            </a:pPr>
            <a:endParaRPr lang="en-US" sz="2200" dirty="0">
              <a:latin typeface="+mn-lt"/>
            </a:endParaRPr>
          </a:p>
          <a:p>
            <a:r>
              <a:rPr lang="en-US" sz="2400" dirty="0">
                <a:latin typeface="+mn-lt"/>
              </a:rPr>
              <a:t>A </a:t>
            </a:r>
            <a:r>
              <a:rPr lang="en-US" sz="2400" b="1" dirty="0">
                <a:latin typeface="+mn-lt"/>
              </a:rPr>
              <a:t>border point </a:t>
            </a:r>
            <a:r>
              <a:rPr lang="en-US" sz="2400" dirty="0">
                <a:latin typeface="+mn-lt"/>
              </a:rPr>
              <a:t>is not a core point but is close to a core point</a:t>
            </a:r>
          </a:p>
          <a:p>
            <a:endParaRPr lang="en-US" sz="2400" dirty="0">
              <a:latin typeface="+mn-lt"/>
            </a:endParaRPr>
          </a:p>
          <a:p>
            <a:r>
              <a:rPr lang="en-US" sz="2400" dirty="0">
                <a:latin typeface="+mn-lt"/>
              </a:rPr>
              <a:t>A </a:t>
            </a:r>
            <a:r>
              <a:rPr lang="en-US" sz="2400" b="1" dirty="0">
                <a:latin typeface="+mn-lt"/>
              </a:rPr>
              <a:t>noise point </a:t>
            </a:r>
            <a:r>
              <a:rPr lang="en-US" sz="2400" dirty="0">
                <a:latin typeface="+mn-lt"/>
              </a:rPr>
              <a:t>is any point that is </a:t>
            </a:r>
            <a:r>
              <a:rPr lang="en-US" sz="2400" b="1" dirty="0">
                <a:latin typeface="+mn-lt"/>
              </a:rPr>
              <a:t>not a core point </a:t>
            </a:r>
            <a:r>
              <a:rPr lang="en-US" sz="2400" dirty="0">
                <a:latin typeface="+mn-lt"/>
              </a:rPr>
              <a:t>or </a:t>
            </a:r>
            <a:r>
              <a:rPr lang="en-US" sz="2400" b="1" dirty="0">
                <a:latin typeface="+mn-lt"/>
              </a:rPr>
              <a:t>a border point</a:t>
            </a:r>
          </a:p>
        </p:txBody>
      </p:sp>
    </p:spTree>
    <p:extLst>
      <p:ext uri="{BB962C8B-B14F-4D97-AF65-F5344CB8AC3E}">
        <p14:creationId xmlns:p14="http://schemas.microsoft.com/office/powerpoint/2010/main" val="258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BCFD-D27E-A2D1-5E78-D73369A398CE}"/>
              </a:ext>
            </a:extLst>
          </p:cNvPr>
          <p:cNvSpPr>
            <a:spLocks noGrp="1"/>
          </p:cNvSpPr>
          <p:nvPr>
            <p:ph type="title"/>
          </p:nvPr>
        </p:nvSpPr>
        <p:spPr>
          <a:xfrm>
            <a:off x="760169" y="344244"/>
            <a:ext cx="9472971" cy="716142"/>
          </a:xfrm>
        </p:spPr>
        <p:txBody>
          <a:bodyPr anchor="t">
            <a:normAutofit/>
          </a:bodyPr>
          <a:lstStyle/>
          <a:p>
            <a:r>
              <a:rPr lang="en-US" dirty="0">
                <a:latin typeface="+mj-lt"/>
              </a:rPr>
              <a:t>DBSCAN: Core, Border and Noise</a:t>
            </a:r>
          </a:p>
        </p:txBody>
      </p:sp>
      <p:pic>
        <p:nvPicPr>
          <p:cNvPr id="6148" name="Picture 4">
            <a:extLst>
              <a:ext uri="{FF2B5EF4-FFF2-40B4-BE49-F238E27FC236}">
                <a16:creationId xmlns:a16="http://schemas.microsoft.com/office/drawing/2014/main" id="{1AF3CD00-22C4-F19A-C63B-CCB6D0BEC8C7}"/>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tretch>
            <a:fillRect/>
          </a:stretch>
        </p:blipFill>
        <p:spPr bwMode="auto">
          <a:xfrm>
            <a:off x="2200256" y="2039650"/>
            <a:ext cx="7861067" cy="4244974"/>
          </a:xfrm>
          <a:prstGeom prst="rect">
            <a:avLst/>
          </a:prstGeom>
          <a:solidFill>
            <a:srgbClr val="FFFFFF"/>
          </a:solidFill>
        </p:spPr>
      </p:pic>
      <p:sp>
        <p:nvSpPr>
          <p:cNvPr id="4" name="TextBox 3">
            <a:extLst>
              <a:ext uri="{FF2B5EF4-FFF2-40B4-BE49-F238E27FC236}">
                <a16:creationId xmlns:a16="http://schemas.microsoft.com/office/drawing/2014/main" id="{79197945-2287-9D45-AC17-9A3C7DA23A00}"/>
              </a:ext>
            </a:extLst>
          </p:cNvPr>
          <p:cNvSpPr txBox="1"/>
          <p:nvPr/>
        </p:nvSpPr>
        <p:spPr>
          <a:xfrm>
            <a:off x="945647" y="2216727"/>
            <a:ext cx="1181477" cy="369332"/>
          </a:xfrm>
          <a:prstGeom prst="rect">
            <a:avLst/>
          </a:prstGeom>
          <a:noFill/>
        </p:spPr>
        <p:txBody>
          <a:bodyPr wrap="none" rtlCol="0">
            <a:spAutoFit/>
          </a:bodyPr>
          <a:lstStyle/>
          <a:p>
            <a:r>
              <a:rPr lang="en-US" dirty="0" err="1"/>
              <a:t>MinPts</a:t>
            </a:r>
            <a:r>
              <a:rPr lang="en-US" dirty="0"/>
              <a:t> = 7</a:t>
            </a:r>
          </a:p>
        </p:txBody>
      </p:sp>
    </p:spTree>
    <p:extLst>
      <p:ext uri="{BB962C8B-B14F-4D97-AF65-F5344CB8AC3E}">
        <p14:creationId xmlns:p14="http://schemas.microsoft.com/office/powerpoint/2010/main" val="3719337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C629F-49B2-B005-E457-6910B1EC0BD4}"/>
              </a:ext>
            </a:extLst>
          </p:cNvPr>
          <p:cNvSpPr>
            <a:spLocks noGrp="1"/>
          </p:cNvSpPr>
          <p:nvPr>
            <p:ph type="title"/>
          </p:nvPr>
        </p:nvSpPr>
        <p:spPr>
          <a:xfrm>
            <a:off x="947737" y="478542"/>
            <a:ext cx="9472971" cy="716142"/>
          </a:xfrm>
        </p:spPr>
        <p:txBody>
          <a:bodyPr/>
          <a:lstStyle/>
          <a:p>
            <a:r>
              <a:rPr lang="en-US" dirty="0">
                <a:latin typeface="+mj-lt"/>
              </a:rPr>
              <a:t>Example</a:t>
            </a:r>
          </a:p>
        </p:txBody>
      </p:sp>
      <p:sp>
        <p:nvSpPr>
          <p:cNvPr id="3" name="Content Placeholder 2">
            <a:extLst>
              <a:ext uri="{FF2B5EF4-FFF2-40B4-BE49-F238E27FC236}">
                <a16:creationId xmlns:a16="http://schemas.microsoft.com/office/drawing/2014/main" id="{3549EFC8-16A6-62EB-6563-78483BBD47AF}"/>
              </a:ext>
            </a:extLst>
          </p:cNvPr>
          <p:cNvSpPr>
            <a:spLocks noGrp="1"/>
          </p:cNvSpPr>
          <p:nvPr>
            <p:ph sz="quarter" idx="13"/>
          </p:nvPr>
        </p:nvSpPr>
        <p:spPr/>
        <p:txBody>
          <a:bodyPr/>
          <a:lstStyle/>
          <a:p>
            <a:r>
              <a:rPr lang="en-US" sz="2400" dirty="0"/>
              <a:t>Given 9 Datapoints in a 2D space</a:t>
            </a:r>
          </a:p>
        </p:txBody>
      </p:sp>
      <p:pic>
        <p:nvPicPr>
          <p:cNvPr id="5" name="Picture 4" descr="A table with numbers and letters&#10;&#10;AI-generated content may be incorrect.">
            <a:extLst>
              <a:ext uri="{FF2B5EF4-FFF2-40B4-BE49-F238E27FC236}">
                <a16:creationId xmlns:a16="http://schemas.microsoft.com/office/drawing/2014/main" id="{91551A08-F679-C49A-841D-4E9A2A3C8BF5}"/>
              </a:ext>
            </a:extLst>
          </p:cNvPr>
          <p:cNvPicPr>
            <a:picLocks noChangeAspect="1"/>
          </p:cNvPicPr>
          <p:nvPr/>
        </p:nvPicPr>
        <p:blipFill>
          <a:blip r:embed="rId2"/>
          <a:stretch>
            <a:fillRect/>
          </a:stretch>
        </p:blipFill>
        <p:spPr>
          <a:xfrm>
            <a:off x="743264" y="2205606"/>
            <a:ext cx="9677445" cy="4389158"/>
          </a:xfrm>
          <a:prstGeom prst="rect">
            <a:avLst/>
          </a:prstGeom>
        </p:spPr>
      </p:pic>
    </p:spTree>
    <p:extLst>
      <p:ext uri="{BB962C8B-B14F-4D97-AF65-F5344CB8AC3E}">
        <p14:creationId xmlns:p14="http://schemas.microsoft.com/office/powerpoint/2010/main" val="2571512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25C8-BC08-E2FB-0BA0-0A68D0E84223}"/>
              </a:ext>
            </a:extLst>
          </p:cNvPr>
          <p:cNvSpPr>
            <a:spLocks noGrp="1"/>
          </p:cNvSpPr>
          <p:nvPr>
            <p:ph type="title"/>
          </p:nvPr>
        </p:nvSpPr>
        <p:spPr>
          <a:xfrm>
            <a:off x="947738" y="368452"/>
            <a:ext cx="9472971" cy="716142"/>
          </a:xfrm>
        </p:spPr>
        <p:txBody>
          <a:bodyPr/>
          <a:lstStyle/>
          <a:p>
            <a:r>
              <a:rPr lang="en-US" dirty="0">
                <a:latin typeface="+mj-lt"/>
              </a:rPr>
              <a:t>Compute Pair-wise Distance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1CEBA2-FC26-8914-6D7E-D47D6CD6EDA7}"/>
                  </a:ext>
                </a:extLst>
              </p:cNvPr>
              <p:cNvSpPr>
                <a:spLocks noGrp="1"/>
              </p:cNvSpPr>
              <p:nvPr>
                <p:ph sz="quarter" idx="13"/>
              </p:nvPr>
            </p:nvSpPr>
            <p:spPr>
              <a:xfrm>
                <a:off x="947738" y="1776413"/>
                <a:ext cx="10828626" cy="4244974"/>
              </a:xfrm>
            </p:spPr>
            <p:txBody>
              <a:bodyPr/>
              <a:lstStyle/>
              <a:p>
                <a:r>
                  <a:rPr lang="en-US" sz="2400" dirty="0"/>
                  <a:t>Useing the Euclidean distance </a:t>
                </a:r>
                <a14:m>
                  <m:oMath xmlns:m="http://schemas.openxmlformats.org/officeDocument/2006/math">
                    <m:r>
                      <a:rPr lang="sv-SE" sz="2400" b="0" i="1" smtClean="0">
                        <a:latin typeface="Cambria Math" panose="02040503050406030204" pitchFamily="18" charset="0"/>
                      </a:rPr>
                      <m:t>𝑑</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𝐴</m:t>
                        </m:r>
                        <m:r>
                          <a:rPr lang="sv-SE" sz="2400" b="0" i="1" smtClean="0">
                            <a:latin typeface="Cambria Math" panose="02040503050406030204" pitchFamily="18" charset="0"/>
                          </a:rPr>
                          <m:t>,</m:t>
                        </m:r>
                        <m:r>
                          <a:rPr lang="sv-SE" sz="2400" b="0" i="1" smtClean="0">
                            <a:latin typeface="Cambria Math" panose="02040503050406030204" pitchFamily="18" charset="0"/>
                          </a:rPr>
                          <m:t>𝐵</m:t>
                        </m:r>
                      </m:e>
                    </m:d>
                    <m:r>
                      <a:rPr lang="sv-SE" sz="2400" b="0" i="1" smtClean="0">
                        <a:latin typeface="Cambria Math" panose="02040503050406030204" pitchFamily="18" charset="0"/>
                      </a:rPr>
                      <m:t>= </m:t>
                    </m:r>
                    <m:rad>
                      <m:radPr>
                        <m:degHide m:val="on"/>
                        <m:ctrlPr>
                          <a:rPr lang="sv-SE" sz="2400" b="0" i="1" smtClean="0">
                            <a:latin typeface="Cambria Math" panose="02040503050406030204" pitchFamily="18" charset="0"/>
                          </a:rPr>
                        </m:ctrlPr>
                      </m:radPr>
                      <m:deg/>
                      <m:e>
                        <m:sSup>
                          <m:sSupPr>
                            <m:ctrlPr>
                              <a:rPr lang="sv-SE" sz="2400" b="0" i="1" smtClean="0">
                                <a:latin typeface="Cambria Math" panose="02040503050406030204" pitchFamily="18" charset="0"/>
                              </a:rPr>
                            </m:ctrlPr>
                          </m:sSupPr>
                          <m:e>
                            <m:d>
                              <m:dPr>
                                <m:ctrlPr>
                                  <a:rPr lang="sv-SE" sz="2400" b="0" i="1" smtClean="0">
                                    <a:latin typeface="Cambria Math" panose="02040503050406030204" pitchFamily="18" charset="0"/>
                                  </a:rPr>
                                </m:ctrlPr>
                              </m:dPr>
                              <m:e>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𝑋</m:t>
                                    </m:r>
                                  </m:e>
                                  <m:sub>
                                    <m:r>
                                      <a:rPr lang="sv-SE" sz="2400" b="0" i="1" smtClean="0">
                                        <a:latin typeface="Cambria Math" panose="02040503050406030204" pitchFamily="18" charset="0"/>
                                      </a:rPr>
                                      <m:t>𝐴</m:t>
                                    </m:r>
                                  </m:sub>
                                </m:sSub>
                                <m:r>
                                  <a:rPr lang="sv-SE" sz="2400" b="0" i="1" smtClean="0">
                                    <a:latin typeface="Cambria Math" panose="02040503050406030204" pitchFamily="18" charset="0"/>
                                  </a:rPr>
                                  <m:t>−</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𝑋</m:t>
                                    </m:r>
                                  </m:e>
                                  <m:sub>
                                    <m:r>
                                      <a:rPr lang="sv-SE" sz="2400" b="0" i="1" smtClean="0">
                                        <a:latin typeface="Cambria Math" panose="02040503050406030204" pitchFamily="18" charset="0"/>
                                      </a:rPr>
                                      <m:t>𝐵</m:t>
                                    </m:r>
                                  </m:sub>
                                </m:sSub>
                              </m:e>
                            </m:d>
                          </m:e>
                          <m:sup>
                            <m:r>
                              <a:rPr lang="sv-SE" sz="2400" b="0" i="1" smtClean="0">
                                <a:latin typeface="Cambria Math" panose="02040503050406030204" pitchFamily="18" charset="0"/>
                              </a:rPr>
                              <m:t>2</m:t>
                            </m:r>
                          </m:sup>
                        </m:sSup>
                        <m:r>
                          <a:rPr lang="sv-SE" sz="2400" b="0" i="1" smtClean="0">
                            <a:latin typeface="Cambria Math" panose="02040503050406030204" pitchFamily="18" charset="0"/>
                          </a:rPr>
                          <m:t>+</m:t>
                        </m:r>
                        <m:sSup>
                          <m:sSupPr>
                            <m:ctrlPr>
                              <a:rPr lang="sv-SE" sz="2400" b="0" i="1" smtClean="0">
                                <a:latin typeface="Cambria Math" panose="02040503050406030204" pitchFamily="18" charset="0"/>
                              </a:rPr>
                            </m:ctrlPr>
                          </m:sSupPr>
                          <m:e>
                            <m:d>
                              <m:dPr>
                                <m:ctrlPr>
                                  <a:rPr lang="sv-SE" sz="2400" b="0" i="1" smtClean="0">
                                    <a:latin typeface="Cambria Math" panose="02040503050406030204" pitchFamily="18" charset="0"/>
                                  </a:rPr>
                                </m:ctrlPr>
                              </m:dPr>
                              <m:e>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𝑌</m:t>
                                    </m:r>
                                  </m:e>
                                  <m:sub>
                                    <m:r>
                                      <a:rPr lang="sv-SE" sz="2400" b="0" i="1" smtClean="0">
                                        <a:latin typeface="Cambria Math" panose="02040503050406030204" pitchFamily="18" charset="0"/>
                                      </a:rPr>
                                      <m:t>𝐴</m:t>
                                    </m:r>
                                  </m:sub>
                                </m:sSub>
                                <m:r>
                                  <a:rPr lang="sv-SE" sz="2400" b="0" i="1" smtClean="0">
                                    <a:latin typeface="Cambria Math" panose="02040503050406030204" pitchFamily="18" charset="0"/>
                                  </a:rPr>
                                  <m:t>−</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𝑌</m:t>
                                    </m:r>
                                  </m:e>
                                  <m:sub>
                                    <m:r>
                                      <a:rPr lang="sv-SE" sz="2400" b="0" i="1" smtClean="0">
                                        <a:latin typeface="Cambria Math" panose="02040503050406030204" pitchFamily="18" charset="0"/>
                                      </a:rPr>
                                      <m:t>𝐵</m:t>
                                    </m:r>
                                  </m:sub>
                                </m:sSub>
                              </m:e>
                            </m:d>
                          </m:e>
                          <m:sup>
                            <m:r>
                              <a:rPr lang="sv-SE" sz="2400" b="0" i="1" smtClean="0">
                                <a:latin typeface="Cambria Math" panose="02040503050406030204" pitchFamily="18" charset="0"/>
                              </a:rPr>
                              <m:t>2</m:t>
                            </m:r>
                          </m:sup>
                        </m:sSup>
                      </m:e>
                    </m:rad>
                    <m:r>
                      <a:rPr lang="sv-SE" sz="2400" b="0" i="1" smtClean="0">
                        <a:latin typeface="Cambria Math" panose="02040503050406030204" pitchFamily="18" charset="0"/>
                      </a:rPr>
                      <m:t> </m:t>
                    </m:r>
                  </m:oMath>
                </a14:m>
                <a:endParaRPr lang="en-US" sz="2400" dirty="0"/>
              </a:p>
            </p:txBody>
          </p:sp>
        </mc:Choice>
        <mc:Fallback xmlns="">
          <p:sp>
            <p:nvSpPr>
              <p:cNvPr id="3" name="Content Placeholder 2">
                <a:extLst>
                  <a:ext uri="{FF2B5EF4-FFF2-40B4-BE49-F238E27FC236}">
                    <a16:creationId xmlns:a16="http://schemas.microsoft.com/office/drawing/2014/main" id="{F11CEBA2-FC26-8914-6D7E-D47D6CD6EDA7}"/>
                  </a:ext>
                </a:extLst>
              </p:cNvPr>
              <p:cNvSpPr>
                <a:spLocks noGrp="1" noRot="1" noChangeAspect="1" noMove="1" noResize="1" noEditPoints="1" noAdjustHandles="1" noChangeArrowheads="1" noChangeShapeType="1" noTextEdit="1"/>
              </p:cNvSpPr>
              <p:nvPr>
                <p:ph sz="quarter" idx="13"/>
              </p:nvPr>
            </p:nvSpPr>
            <p:spPr>
              <a:xfrm>
                <a:off x="947738" y="1776413"/>
                <a:ext cx="10828626" cy="4244974"/>
              </a:xfrm>
              <a:blipFill>
                <a:blip r:embed="rId2"/>
                <a:stretch>
                  <a:fillRect l="-703" t="-2976"/>
                </a:stretch>
              </a:blipFill>
            </p:spPr>
            <p:txBody>
              <a:bodyPr/>
              <a:lstStyle/>
              <a:p>
                <a:r>
                  <a:rPr lang="en-US">
                    <a:noFill/>
                  </a:rPr>
                  <a:t> </a:t>
                </a:r>
              </a:p>
            </p:txBody>
          </p:sp>
        </mc:Fallback>
      </mc:AlternateContent>
      <p:pic>
        <p:nvPicPr>
          <p:cNvPr id="5" name="Picture 4" descr="A table with numbers and letters&#10;&#10;AI-generated content may be incorrect.">
            <a:extLst>
              <a:ext uri="{FF2B5EF4-FFF2-40B4-BE49-F238E27FC236}">
                <a16:creationId xmlns:a16="http://schemas.microsoft.com/office/drawing/2014/main" id="{83E9BE49-C856-30E5-B46F-A71189FA0DA2}"/>
              </a:ext>
            </a:extLst>
          </p:cNvPr>
          <p:cNvPicPr>
            <a:picLocks noChangeAspect="1"/>
          </p:cNvPicPr>
          <p:nvPr/>
        </p:nvPicPr>
        <p:blipFill>
          <a:blip r:embed="rId3"/>
          <a:stretch>
            <a:fillRect/>
          </a:stretch>
        </p:blipFill>
        <p:spPr>
          <a:xfrm>
            <a:off x="1238683" y="2244575"/>
            <a:ext cx="9345790" cy="4244973"/>
          </a:xfrm>
          <a:prstGeom prst="rect">
            <a:avLst/>
          </a:prstGeom>
        </p:spPr>
      </p:pic>
    </p:spTree>
    <p:extLst>
      <p:ext uri="{BB962C8B-B14F-4D97-AF65-F5344CB8AC3E}">
        <p14:creationId xmlns:p14="http://schemas.microsoft.com/office/powerpoint/2010/main" val="289396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3897-A3C6-05F4-3EF5-10F275A8B4D7}"/>
              </a:ext>
            </a:extLst>
          </p:cNvPr>
          <p:cNvSpPr>
            <a:spLocks noGrp="1"/>
          </p:cNvSpPr>
          <p:nvPr>
            <p:ph type="title"/>
          </p:nvPr>
        </p:nvSpPr>
        <p:spPr>
          <a:xfrm>
            <a:off x="947737" y="332521"/>
            <a:ext cx="9472971" cy="716142"/>
          </a:xfrm>
        </p:spPr>
        <p:txBody>
          <a:bodyPr/>
          <a:lstStyle/>
          <a:p>
            <a:r>
              <a:rPr lang="en-US" dirty="0">
                <a:latin typeface="+mj-lt"/>
              </a:rPr>
              <a:t>Identify Core, Border, and Noise Points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F47186-F67A-F93D-7BFC-92E62AD00253}"/>
                  </a:ext>
                </a:extLst>
              </p:cNvPr>
              <p:cNvSpPr>
                <a:spLocks noGrp="1"/>
              </p:cNvSpPr>
              <p:nvPr>
                <p:ph sz="quarter" idx="13"/>
              </p:nvPr>
            </p:nvSpPr>
            <p:spPr/>
            <p:txBody>
              <a:bodyPr/>
              <a:lstStyle/>
              <a:p>
                <a:r>
                  <a:rPr lang="en-US" sz="2400" dirty="0"/>
                  <a:t>Core Points (At least </a:t>
                </a:r>
                <a:r>
                  <a:rPr lang="en-US" sz="2400" b="1" dirty="0" err="1"/>
                  <a:t>MinPts</a:t>
                </a:r>
                <a:r>
                  <a:rPr lang="en-US" sz="2400" dirty="0"/>
                  <a:t> = 3 neighbors within </a:t>
                </a:r>
                <a14:m>
                  <m:oMath xmlns:m="http://schemas.openxmlformats.org/officeDocument/2006/math">
                    <m:r>
                      <a:rPr lang="el-GR" sz="2400" b="1" i="1" dirty="0" smtClean="0">
                        <a:latin typeface="Cambria Math" panose="02040503050406030204" pitchFamily="18" charset="0"/>
                        <a:ea typeface="Cambria Math" panose="02040503050406030204" pitchFamily="18" charset="0"/>
                      </a:rPr>
                      <m:t>𝜺</m:t>
                    </m:r>
                    <m:r>
                      <a:rPr lang="sv-SE" sz="2400" b="0" i="1" dirty="0" smtClean="0">
                        <a:latin typeface="Cambria Math" panose="02040503050406030204" pitchFamily="18" charset="0"/>
                        <a:ea typeface="Cambria Math" panose="02040503050406030204" pitchFamily="18" charset="0"/>
                      </a:rPr>
                      <m:t>=0.25</m:t>
                    </m:r>
                  </m:oMath>
                </a14:m>
                <a:r>
                  <a:rPr lang="el-GR" sz="2400"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7F47186-F67A-F93D-7BFC-92E62AD00253}"/>
                  </a:ext>
                </a:extLst>
              </p:cNvPr>
              <p:cNvSpPr>
                <a:spLocks noGrp="1" noRot="1" noChangeAspect="1" noMove="1" noResize="1" noEditPoints="1" noAdjustHandles="1" noChangeArrowheads="1" noChangeShapeType="1" noTextEdit="1"/>
              </p:cNvSpPr>
              <p:nvPr>
                <p:ph sz="quarter" idx="13"/>
              </p:nvPr>
            </p:nvSpPr>
            <p:spPr>
              <a:blipFill>
                <a:blip r:embed="rId3"/>
                <a:stretch>
                  <a:fillRect l="-803" t="-2976"/>
                </a:stretch>
              </a:blipFill>
            </p:spPr>
            <p:txBody>
              <a:bodyPr/>
              <a:lstStyle/>
              <a:p>
                <a:r>
                  <a:rPr lang="en-US">
                    <a:noFill/>
                  </a:rPr>
                  <a:t> </a:t>
                </a:r>
              </a:p>
            </p:txBody>
          </p:sp>
        </mc:Fallback>
      </mc:AlternateContent>
      <p:pic>
        <p:nvPicPr>
          <p:cNvPr id="13" name="Picture 12" descr="A screenshot of a math test&#10;&#10;AI-generated content may be incorrect.">
            <a:extLst>
              <a:ext uri="{FF2B5EF4-FFF2-40B4-BE49-F238E27FC236}">
                <a16:creationId xmlns:a16="http://schemas.microsoft.com/office/drawing/2014/main" id="{215F8CED-4F10-902F-400D-8BC3D51EAB68}"/>
              </a:ext>
            </a:extLst>
          </p:cNvPr>
          <p:cNvPicPr>
            <a:picLocks noChangeAspect="1"/>
          </p:cNvPicPr>
          <p:nvPr/>
        </p:nvPicPr>
        <p:blipFill>
          <a:blip r:embed="rId4"/>
          <a:stretch>
            <a:fillRect/>
          </a:stretch>
        </p:blipFill>
        <p:spPr>
          <a:xfrm>
            <a:off x="947737" y="2108892"/>
            <a:ext cx="9889457" cy="4555143"/>
          </a:xfrm>
          <a:prstGeom prst="rect">
            <a:avLst/>
          </a:prstGeom>
        </p:spPr>
      </p:pic>
    </p:spTree>
    <p:extLst>
      <p:ext uri="{BB962C8B-B14F-4D97-AF65-F5344CB8AC3E}">
        <p14:creationId xmlns:p14="http://schemas.microsoft.com/office/powerpoint/2010/main" val="1268709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4A4EC-9187-B48A-1830-AB4776D74281}"/>
              </a:ext>
            </a:extLst>
          </p:cNvPr>
          <p:cNvSpPr>
            <a:spLocks noGrp="1"/>
          </p:cNvSpPr>
          <p:nvPr>
            <p:ph type="title"/>
          </p:nvPr>
        </p:nvSpPr>
        <p:spPr>
          <a:xfrm>
            <a:off x="947738" y="426305"/>
            <a:ext cx="9472971" cy="716142"/>
          </a:xfrm>
        </p:spPr>
        <p:txBody>
          <a:bodyPr/>
          <a:lstStyle/>
          <a:p>
            <a:r>
              <a:rPr lang="en-US" dirty="0">
                <a:latin typeface="+mj-lt"/>
              </a:rPr>
              <a:t>Cluster Formation</a:t>
            </a:r>
          </a:p>
        </p:txBody>
      </p:sp>
      <p:sp>
        <p:nvSpPr>
          <p:cNvPr id="3" name="Content Placeholder 2">
            <a:extLst>
              <a:ext uri="{FF2B5EF4-FFF2-40B4-BE49-F238E27FC236}">
                <a16:creationId xmlns:a16="http://schemas.microsoft.com/office/drawing/2014/main" id="{FE3EA9D7-0550-2050-C42B-E2DBFABE7540}"/>
              </a:ext>
            </a:extLst>
          </p:cNvPr>
          <p:cNvSpPr>
            <a:spLocks noGrp="1"/>
          </p:cNvSpPr>
          <p:nvPr>
            <p:ph sz="quarter" idx="13"/>
          </p:nvPr>
        </p:nvSpPr>
        <p:spPr>
          <a:xfrm>
            <a:off x="947738" y="1776412"/>
            <a:ext cx="8916698" cy="3211223"/>
          </a:xfrm>
        </p:spPr>
        <p:txBody>
          <a:bodyPr/>
          <a:lstStyle/>
          <a:p>
            <a:r>
              <a:rPr lang="en-US" sz="2400" dirty="0">
                <a:latin typeface="+mn-lt"/>
              </a:rPr>
              <a:t>Cluster 1 (centered around B): </a:t>
            </a:r>
          </a:p>
          <a:p>
            <a:pPr lvl="1"/>
            <a:r>
              <a:rPr lang="en-US" sz="2400" dirty="0">
                <a:latin typeface="+mn-lt"/>
              </a:rPr>
              <a:t>B (core),</a:t>
            </a:r>
          </a:p>
          <a:p>
            <a:pPr lvl="1"/>
            <a:r>
              <a:rPr lang="en-US" sz="2400" dirty="0">
                <a:latin typeface="+mn-lt"/>
              </a:rPr>
              <a:t> A (border),</a:t>
            </a:r>
          </a:p>
          <a:p>
            <a:pPr lvl="1"/>
            <a:r>
              <a:rPr lang="en-US" sz="2400" dirty="0">
                <a:latin typeface="+mn-lt"/>
              </a:rPr>
              <a:t> C (border)</a:t>
            </a:r>
          </a:p>
          <a:p>
            <a:pPr marL="457200" lvl="1" indent="0">
              <a:buNone/>
            </a:pPr>
            <a:endParaRPr lang="en-US" sz="2400" dirty="0">
              <a:latin typeface="+mn-lt"/>
            </a:endParaRPr>
          </a:p>
          <a:p>
            <a:r>
              <a:rPr lang="en-US" sz="2400" dirty="0">
                <a:latin typeface="+mn-lt"/>
              </a:rPr>
              <a:t>Cluster 2 (centered around H):</a:t>
            </a:r>
          </a:p>
          <a:p>
            <a:pPr lvl="1"/>
            <a:r>
              <a:rPr lang="en-US" sz="2400" dirty="0">
                <a:latin typeface="+mn-lt"/>
              </a:rPr>
              <a:t>H (core), </a:t>
            </a:r>
          </a:p>
          <a:p>
            <a:pPr lvl="1"/>
            <a:r>
              <a:rPr lang="en-US" sz="2400" dirty="0">
                <a:latin typeface="+mn-lt"/>
              </a:rPr>
              <a:t>G (border), </a:t>
            </a:r>
          </a:p>
          <a:p>
            <a:pPr lvl="1"/>
            <a:r>
              <a:rPr lang="en-US" sz="2400" dirty="0">
                <a:latin typeface="+mn-lt"/>
              </a:rPr>
              <a:t>I (border)}</a:t>
            </a:r>
          </a:p>
          <a:p>
            <a:pPr marL="457200" lvl="1" indent="0">
              <a:buNone/>
            </a:pPr>
            <a:endParaRPr lang="en-US" sz="2200" dirty="0">
              <a:latin typeface="+mn-lt"/>
            </a:endParaRPr>
          </a:p>
          <a:p>
            <a:r>
              <a:rPr lang="en-US" sz="2400" dirty="0">
                <a:latin typeface="+mn-lt"/>
              </a:rPr>
              <a:t>Noise: {D, E, F}</a:t>
            </a:r>
          </a:p>
          <a:p>
            <a:pPr lvl="1"/>
            <a:endParaRPr lang="en-US" dirty="0"/>
          </a:p>
        </p:txBody>
      </p:sp>
    </p:spTree>
    <p:extLst>
      <p:ext uri="{BB962C8B-B14F-4D97-AF65-F5344CB8AC3E}">
        <p14:creationId xmlns:p14="http://schemas.microsoft.com/office/powerpoint/2010/main" val="25557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ECB4-A1AB-67E9-E145-FF3073F51164}"/>
              </a:ext>
            </a:extLst>
          </p:cNvPr>
          <p:cNvSpPr>
            <a:spLocks noGrp="1"/>
          </p:cNvSpPr>
          <p:nvPr>
            <p:ph type="title"/>
          </p:nvPr>
        </p:nvSpPr>
        <p:spPr/>
        <p:txBody>
          <a:bodyPr/>
          <a:lstStyle/>
          <a:p>
            <a:r>
              <a:rPr lang="en-US" dirty="0">
                <a:latin typeface="+mj-lt"/>
              </a:rPr>
              <a:t>DBSCAN: Determining EPS and </a:t>
            </a:r>
            <a:r>
              <a:rPr lang="en-US" dirty="0" err="1">
                <a:latin typeface="+mj-lt"/>
              </a:rPr>
              <a:t>MinPts</a:t>
            </a:r>
            <a:br>
              <a:rPr lang="en-US" dirty="0">
                <a:latin typeface="+mj-lt"/>
              </a:rPr>
            </a:br>
            <a:br>
              <a:rPr lang="en-US" dirty="0">
                <a:latin typeface="+mj-lt"/>
              </a:rPr>
            </a:br>
            <a:endParaRPr lang="en-US" dirty="0">
              <a:latin typeface="+mj-lt"/>
            </a:endParaRPr>
          </a:p>
        </p:txBody>
      </p:sp>
      <p:sp>
        <p:nvSpPr>
          <p:cNvPr id="3" name="Content Placeholder 2">
            <a:extLst>
              <a:ext uri="{FF2B5EF4-FFF2-40B4-BE49-F238E27FC236}">
                <a16:creationId xmlns:a16="http://schemas.microsoft.com/office/drawing/2014/main" id="{DCF3EA72-A5E3-500A-BFDC-8291C7E5619A}"/>
              </a:ext>
            </a:extLst>
          </p:cNvPr>
          <p:cNvSpPr>
            <a:spLocks noGrp="1"/>
          </p:cNvSpPr>
          <p:nvPr>
            <p:ph sz="quarter" idx="13"/>
          </p:nvPr>
        </p:nvSpPr>
        <p:spPr/>
        <p:txBody>
          <a:bodyPr/>
          <a:lstStyle/>
          <a:p>
            <a:r>
              <a:rPr lang="en-US" sz="2400" dirty="0" err="1">
                <a:latin typeface="+mn-lt"/>
              </a:rPr>
              <a:t>MinPts</a:t>
            </a:r>
            <a:endParaRPr lang="en-US" sz="2400" dirty="0">
              <a:latin typeface="+mn-lt"/>
            </a:endParaRPr>
          </a:p>
          <a:p>
            <a:pPr lvl="1"/>
            <a:r>
              <a:rPr lang="en-US" sz="2400" dirty="0">
                <a:latin typeface="+mn-lt"/>
              </a:rPr>
              <a:t>If D is the dimension of dataset,  D+1  ≤  </a:t>
            </a:r>
            <a:r>
              <a:rPr lang="en-US" sz="2400" dirty="0" err="1">
                <a:latin typeface="+mn-lt"/>
              </a:rPr>
              <a:t>MinPts</a:t>
            </a:r>
            <a:r>
              <a:rPr lang="en-US" sz="2400" dirty="0">
                <a:latin typeface="+mn-lt"/>
              </a:rPr>
              <a:t>  ≤  2D</a:t>
            </a:r>
          </a:p>
          <a:p>
            <a:pPr lvl="1"/>
            <a:r>
              <a:rPr lang="en-US" sz="2400" dirty="0">
                <a:latin typeface="+mn-lt"/>
              </a:rPr>
              <a:t>If data is noisy choose values close to 2D</a:t>
            </a:r>
          </a:p>
          <a:p>
            <a:r>
              <a:rPr lang="en-US" sz="2400" dirty="0">
                <a:latin typeface="+mn-lt"/>
              </a:rPr>
              <a:t>Eps</a:t>
            </a:r>
          </a:p>
          <a:p>
            <a:pPr lvl="1"/>
            <a:r>
              <a:rPr lang="en-US" sz="2200" b="1" dirty="0">
                <a:latin typeface="+mn-lt"/>
              </a:rPr>
              <a:t>Smaller EPS </a:t>
            </a:r>
            <a:r>
              <a:rPr lang="en-US" sz="2200" dirty="0">
                <a:latin typeface="+mn-lt"/>
              </a:rPr>
              <a:t>→ Many points are considered noise.</a:t>
            </a:r>
          </a:p>
          <a:p>
            <a:pPr lvl="1"/>
            <a:r>
              <a:rPr lang="en-US" sz="2200" b="1" dirty="0">
                <a:latin typeface="+mn-lt"/>
              </a:rPr>
              <a:t>Larger EPS</a:t>
            </a:r>
            <a:r>
              <a:rPr lang="en-US" sz="2200" dirty="0">
                <a:latin typeface="+mn-lt"/>
              </a:rPr>
              <a:t> → Different clusters may merge incorrectly</a:t>
            </a:r>
          </a:p>
          <a:p>
            <a:pPr lvl="1"/>
            <a:r>
              <a:rPr lang="en-US" sz="2400" dirty="0">
                <a:latin typeface="+mn-lt"/>
              </a:rPr>
              <a:t>As soon as you choose </a:t>
            </a:r>
            <a:r>
              <a:rPr lang="en-US" sz="2400" dirty="0" err="1">
                <a:latin typeface="+mn-lt"/>
              </a:rPr>
              <a:t>MinPts</a:t>
            </a:r>
            <a:r>
              <a:rPr lang="en-US" sz="2400" dirty="0">
                <a:latin typeface="+mn-lt"/>
              </a:rPr>
              <a:t>’ value, then you can estimate a good value for Eps using Elbow method. </a:t>
            </a:r>
          </a:p>
          <a:p>
            <a:endParaRPr lang="en-US" dirty="0"/>
          </a:p>
        </p:txBody>
      </p:sp>
    </p:spTree>
    <p:extLst>
      <p:ext uri="{BB962C8B-B14F-4D97-AF65-F5344CB8AC3E}">
        <p14:creationId xmlns:p14="http://schemas.microsoft.com/office/powerpoint/2010/main" val="3384765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77D12-0333-0F09-1254-D96238048A3E}"/>
              </a:ext>
            </a:extLst>
          </p:cNvPr>
          <p:cNvSpPr>
            <a:spLocks noGrp="1"/>
          </p:cNvSpPr>
          <p:nvPr>
            <p:ph type="title"/>
          </p:nvPr>
        </p:nvSpPr>
        <p:spPr/>
        <p:txBody>
          <a:bodyPr/>
          <a:lstStyle/>
          <a:p>
            <a:r>
              <a:rPr lang="en-US" dirty="0">
                <a:latin typeface="+mj-lt"/>
              </a:rPr>
              <a:t>DBSCAN: Determining EPS and </a:t>
            </a:r>
            <a:r>
              <a:rPr lang="en-US" dirty="0" err="1">
                <a:latin typeface="+mj-lt"/>
              </a:rPr>
              <a:t>MinPts</a:t>
            </a:r>
            <a:br>
              <a:rPr lang="en-US" dirty="0">
                <a:latin typeface="+mj-lt"/>
              </a:rPr>
            </a:br>
            <a:br>
              <a:rPr lang="en-US" dirty="0">
                <a:latin typeface="+mj-lt"/>
              </a:rPr>
            </a:br>
            <a:endParaRPr lang="en-US" dirty="0">
              <a:latin typeface="+mj-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32789A-A688-C493-40A0-C42483EB19D3}"/>
                  </a:ext>
                </a:extLst>
              </p:cNvPr>
              <p:cNvSpPr>
                <a:spLocks noGrp="1"/>
              </p:cNvSpPr>
              <p:nvPr>
                <p:ph sz="quarter" idx="13"/>
              </p:nvPr>
            </p:nvSpPr>
            <p:spPr>
              <a:xfrm>
                <a:off x="947739" y="1776413"/>
                <a:ext cx="6977062" cy="4244974"/>
              </a:xfrm>
            </p:spPr>
            <p:txBody>
              <a:bodyPr/>
              <a:lstStyle/>
              <a:p>
                <a:r>
                  <a:rPr lang="en-US" sz="2400" dirty="0">
                    <a:latin typeface="+mn-lt"/>
                  </a:rPr>
                  <a:t>Elbow Method for EPS</a:t>
                </a:r>
              </a:p>
              <a:p>
                <a:pPr lvl="1"/>
                <a:r>
                  <a:rPr lang="en-US" sz="2400" b="1" dirty="0">
                    <a:latin typeface="+mn-lt"/>
                  </a:rPr>
                  <a:t>The K-Distance </a:t>
                </a:r>
                <a:r>
                  <a:rPr lang="en-US" sz="2400" dirty="0">
                    <a:latin typeface="+mn-lt"/>
                  </a:rPr>
                  <a:t>Plot helps determine EPS by plotting the sorted distance to the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𝑘</m:t>
                        </m:r>
                      </m:e>
                      <m:sup>
                        <m:r>
                          <a:rPr lang="sv-SE" sz="2400" b="0" i="1" dirty="0" smtClean="0">
                            <a:latin typeface="Cambria Math" panose="02040503050406030204" pitchFamily="18" charset="0"/>
                          </a:rPr>
                          <m:t>𝑡h</m:t>
                        </m:r>
                      </m:sup>
                    </m:sSup>
                    <m:r>
                      <a:rPr lang="en-US" sz="2400" i="1" dirty="0" smtClean="0">
                        <a:latin typeface="Cambria Math" panose="02040503050406030204" pitchFamily="18" charset="0"/>
                      </a:rPr>
                      <m:t> </m:t>
                    </m:r>
                  </m:oMath>
                </a14:m>
                <a:r>
                  <a:rPr lang="en-US" sz="2400" dirty="0">
                    <a:latin typeface="+mn-lt"/>
                  </a:rPr>
                  <a:t>nearest neighbor (where </a:t>
                </a:r>
                <a14:m>
                  <m:oMath xmlns:m="http://schemas.openxmlformats.org/officeDocument/2006/math">
                    <m:r>
                      <a:rPr lang="en-US" sz="2400" i="1" dirty="0" smtClean="0">
                        <a:latin typeface="Cambria Math" panose="02040503050406030204" pitchFamily="18" charset="0"/>
                      </a:rPr>
                      <m:t>𝑘</m:t>
                    </m:r>
                    <m:r>
                      <a:rPr lang="en-US" sz="2400" i="1" dirty="0" smtClean="0">
                        <a:latin typeface="Cambria Math" panose="02040503050406030204" pitchFamily="18" charset="0"/>
                      </a:rPr>
                      <m:t>= </m:t>
                    </m:r>
                    <m:r>
                      <a:rPr lang="en-US" sz="2400" i="1" dirty="0" err="1" smtClean="0">
                        <a:latin typeface="Cambria Math" panose="02040503050406030204" pitchFamily="18" charset="0"/>
                      </a:rPr>
                      <m:t>𝑀𝑖𝑛𝑃𝑡𝑠</m:t>
                    </m:r>
                  </m:oMath>
                </a14:m>
                <a:r>
                  <a:rPr lang="en-US" sz="2400" dirty="0">
                    <a:latin typeface="+mn-lt"/>
                  </a:rPr>
                  <a:t>).</a:t>
                </a:r>
              </a:p>
              <a:p>
                <a:r>
                  <a:rPr lang="en-US" sz="2400" b="1" dirty="0">
                    <a:latin typeface="+mn-lt"/>
                  </a:rPr>
                  <a:t>Steps:</a:t>
                </a:r>
              </a:p>
              <a:p>
                <a:pPr lvl="1">
                  <a:buFont typeface="+mj-lt"/>
                  <a:buAutoNum type="arabicPeriod"/>
                </a:pPr>
                <a:r>
                  <a:rPr lang="en-US" sz="2400" dirty="0">
                    <a:latin typeface="+mn-lt"/>
                  </a:rPr>
                  <a:t>For each point, compute the distance to its </a:t>
                </a:r>
                <a14:m>
                  <m:oMath xmlns:m="http://schemas.openxmlformats.org/officeDocument/2006/math">
                    <m:sSup>
                      <m:sSupPr>
                        <m:ctrlPr>
                          <a:rPr lang="en-US" sz="2400" i="1" dirty="0">
                            <a:latin typeface="Cambria Math" panose="02040503050406030204" pitchFamily="18" charset="0"/>
                          </a:rPr>
                        </m:ctrlPr>
                      </m:sSupPr>
                      <m:e>
                        <m:r>
                          <a:rPr lang="en-US" sz="2400" i="1" dirty="0">
                            <a:latin typeface="Cambria Math" panose="02040503050406030204" pitchFamily="18" charset="0"/>
                          </a:rPr>
                          <m:t>𝑘</m:t>
                        </m:r>
                      </m:e>
                      <m:sup>
                        <m:r>
                          <a:rPr lang="sv-SE" sz="2400" i="1" dirty="0">
                            <a:latin typeface="Cambria Math" panose="02040503050406030204" pitchFamily="18" charset="0"/>
                          </a:rPr>
                          <m:t>𝑡h</m:t>
                        </m:r>
                      </m:sup>
                    </m:sSup>
                  </m:oMath>
                </a14:m>
                <a:r>
                  <a:rPr lang="en-US" sz="2400" dirty="0">
                    <a:latin typeface="+mn-lt"/>
                  </a:rPr>
                  <a:t> nearest neighbor (</a:t>
                </a:r>
                <a14:m>
                  <m:oMath xmlns:m="http://schemas.openxmlformats.org/officeDocument/2006/math">
                    <m:r>
                      <a:rPr lang="en-US" sz="2400" i="1" dirty="0" smtClean="0">
                        <a:latin typeface="Cambria Math" panose="02040503050406030204" pitchFamily="18" charset="0"/>
                      </a:rPr>
                      <m:t>𝑘</m:t>
                    </m:r>
                    <m:r>
                      <a:rPr lang="en-US" sz="2400" i="1" dirty="0" smtClean="0">
                        <a:latin typeface="Cambria Math" panose="02040503050406030204" pitchFamily="18" charset="0"/>
                      </a:rPr>
                      <m:t>= </m:t>
                    </m:r>
                    <m:r>
                      <a:rPr lang="en-US" sz="2400" i="1" dirty="0" err="1" smtClean="0">
                        <a:latin typeface="Cambria Math" panose="02040503050406030204" pitchFamily="18" charset="0"/>
                      </a:rPr>
                      <m:t>𝑀𝑖𝑛𝑃𝑡𝑠</m:t>
                    </m:r>
                  </m:oMath>
                </a14:m>
                <a:r>
                  <a:rPr lang="en-US" sz="2400" dirty="0">
                    <a:latin typeface="+mn-lt"/>
                  </a:rPr>
                  <a:t>).</a:t>
                </a:r>
              </a:p>
              <a:p>
                <a:pPr lvl="1">
                  <a:buFont typeface="+mj-lt"/>
                  <a:buAutoNum type="arabicPeriod"/>
                </a:pPr>
                <a:r>
                  <a:rPr lang="en-US" sz="2400" dirty="0">
                    <a:latin typeface="+mn-lt"/>
                  </a:rPr>
                  <a:t>Sort the distances in ascending order.</a:t>
                </a:r>
              </a:p>
              <a:p>
                <a:pPr lvl="1">
                  <a:buFont typeface="+mj-lt"/>
                  <a:buAutoNum type="arabicPeriod"/>
                </a:pPr>
                <a:r>
                  <a:rPr lang="en-US" sz="2400" dirty="0">
                    <a:latin typeface="+mn-lt"/>
                  </a:rPr>
                  <a:t>Plot the distances → Look for the "elbow point" where the curve flattens.</a:t>
                </a:r>
              </a:p>
              <a:p>
                <a:pPr lvl="1">
                  <a:buFont typeface="+mj-lt"/>
                  <a:buAutoNum type="arabicPeriod"/>
                </a:pPr>
                <a:r>
                  <a:rPr lang="en-US" sz="2400" dirty="0">
                    <a:latin typeface="+mn-lt"/>
                  </a:rPr>
                  <a:t>EPS is chosen at the elbow (where distance starts increasing rapidly).</a:t>
                </a:r>
              </a:p>
              <a:p>
                <a:endParaRPr lang="en-US" dirty="0"/>
              </a:p>
            </p:txBody>
          </p:sp>
        </mc:Choice>
        <mc:Fallback xmlns="">
          <p:sp>
            <p:nvSpPr>
              <p:cNvPr id="3" name="Content Placeholder 2">
                <a:extLst>
                  <a:ext uri="{FF2B5EF4-FFF2-40B4-BE49-F238E27FC236}">
                    <a16:creationId xmlns:a16="http://schemas.microsoft.com/office/drawing/2014/main" id="{1C32789A-A688-C493-40A0-C42483EB19D3}"/>
                  </a:ext>
                </a:extLst>
              </p:cNvPr>
              <p:cNvSpPr>
                <a:spLocks noGrp="1" noRot="1" noChangeAspect="1" noMove="1" noResize="1" noEditPoints="1" noAdjustHandles="1" noChangeArrowheads="1" noChangeShapeType="1" noTextEdit="1"/>
              </p:cNvSpPr>
              <p:nvPr>
                <p:ph sz="quarter" idx="13"/>
              </p:nvPr>
            </p:nvSpPr>
            <p:spPr>
              <a:xfrm>
                <a:off x="947739" y="1776413"/>
                <a:ext cx="6977062" cy="4244974"/>
              </a:xfrm>
              <a:blipFill>
                <a:blip r:embed="rId2"/>
                <a:stretch>
                  <a:fillRect l="-1091" t="-2679" r="-2000" b="-4167"/>
                </a:stretch>
              </a:blipFill>
            </p:spPr>
            <p:txBody>
              <a:bodyPr/>
              <a:lstStyle/>
              <a:p>
                <a:r>
                  <a:rPr lang="en-US">
                    <a:noFill/>
                  </a:rPr>
                  <a:t> </a:t>
                </a:r>
              </a:p>
            </p:txBody>
          </p:sp>
        </mc:Fallback>
      </mc:AlternateContent>
      <p:pic>
        <p:nvPicPr>
          <p:cNvPr id="8194" name="Picture 2" descr="Output image">
            <a:extLst>
              <a:ext uri="{FF2B5EF4-FFF2-40B4-BE49-F238E27FC236}">
                <a16:creationId xmlns:a16="http://schemas.microsoft.com/office/drawing/2014/main" id="{7CA4BC81-EF60-57C4-D35C-49BFE1B25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3964" y="1776413"/>
            <a:ext cx="4241656" cy="3352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750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37F9-666B-1E1B-33AD-C5DFB4BC5497}"/>
              </a:ext>
            </a:extLst>
          </p:cNvPr>
          <p:cNvSpPr>
            <a:spLocks noGrp="1"/>
          </p:cNvSpPr>
          <p:nvPr>
            <p:ph type="title"/>
          </p:nvPr>
        </p:nvSpPr>
        <p:spPr/>
        <p:txBody>
          <a:bodyPr/>
          <a:lstStyle/>
          <a:p>
            <a:r>
              <a:rPr lang="en-US" dirty="0">
                <a:latin typeface="+mj-lt"/>
              </a:rPr>
              <a:t>DBSCAN vs K-Means</a:t>
            </a:r>
          </a:p>
        </p:txBody>
      </p:sp>
      <p:sp>
        <p:nvSpPr>
          <p:cNvPr id="3" name="Content Placeholder 2">
            <a:extLst>
              <a:ext uri="{FF2B5EF4-FFF2-40B4-BE49-F238E27FC236}">
                <a16:creationId xmlns:a16="http://schemas.microsoft.com/office/drawing/2014/main" id="{67CC9A85-B2A3-B718-8F9F-98AC5E9D57EC}"/>
              </a:ext>
            </a:extLst>
          </p:cNvPr>
          <p:cNvSpPr>
            <a:spLocks noGrp="1"/>
          </p:cNvSpPr>
          <p:nvPr>
            <p:ph sz="quarter" idx="13"/>
          </p:nvPr>
        </p:nvSpPr>
        <p:spPr/>
        <p:txBody>
          <a:bodyPr/>
          <a:lstStyle/>
          <a:p>
            <a:endParaRPr lang="en-US"/>
          </a:p>
        </p:txBody>
      </p:sp>
      <p:pic>
        <p:nvPicPr>
          <p:cNvPr id="3074" name="Picture 2" descr="p12">
            <a:extLst>
              <a:ext uri="{FF2B5EF4-FFF2-40B4-BE49-F238E27FC236}">
                <a16:creationId xmlns:a16="http://schemas.microsoft.com/office/drawing/2014/main" id="{6E31959A-DF2C-829C-4FB8-165CE4572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1038" y="1615780"/>
            <a:ext cx="8068408" cy="4405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78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D3F7-390E-BBDE-74D5-14AAE7D8946C}"/>
              </a:ext>
            </a:extLst>
          </p:cNvPr>
          <p:cNvSpPr>
            <a:spLocks noGrp="1"/>
          </p:cNvSpPr>
          <p:nvPr>
            <p:ph type="title"/>
          </p:nvPr>
        </p:nvSpPr>
        <p:spPr/>
        <p:txBody>
          <a:bodyPr/>
          <a:lstStyle/>
          <a:p>
            <a:r>
              <a:rPr lang="en-US" dirty="0">
                <a:latin typeface="+mj-lt"/>
              </a:rPr>
              <a:t>DBSCAN Vs K-Means</a:t>
            </a:r>
          </a:p>
        </p:txBody>
      </p:sp>
      <p:graphicFrame>
        <p:nvGraphicFramePr>
          <p:cNvPr id="4" name="Content Placeholder 3">
            <a:extLst>
              <a:ext uri="{FF2B5EF4-FFF2-40B4-BE49-F238E27FC236}">
                <a16:creationId xmlns:a16="http://schemas.microsoft.com/office/drawing/2014/main" id="{41FCC213-2822-8AB3-9841-C923D1003958}"/>
              </a:ext>
            </a:extLst>
          </p:cNvPr>
          <p:cNvGraphicFramePr>
            <a:graphicFrameLocks noGrp="1"/>
          </p:cNvGraphicFramePr>
          <p:nvPr>
            <p:ph sz="quarter" idx="13"/>
            <p:extLst>
              <p:ext uri="{D42A27DB-BD31-4B8C-83A1-F6EECF244321}">
                <p14:modId xmlns:p14="http://schemas.microsoft.com/office/powerpoint/2010/main" val="76328525"/>
              </p:ext>
            </p:extLst>
          </p:nvPr>
        </p:nvGraphicFramePr>
        <p:xfrm>
          <a:off x="947379" y="1852247"/>
          <a:ext cx="9814406" cy="4605840"/>
        </p:xfrm>
        <a:graphic>
          <a:graphicData uri="http://schemas.openxmlformats.org/drawingml/2006/table">
            <a:tbl>
              <a:tblPr/>
              <a:tblGrid>
                <a:gridCol w="4822485">
                  <a:extLst>
                    <a:ext uri="{9D8B030D-6E8A-4147-A177-3AD203B41FA5}">
                      <a16:colId xmlns:a16="http://schemas.microsoft.com/office/drawing/2014/main" val="2165202546"/>
                    </a:ext>
                  </a:extLst>
                </a:gridCol>
                <a:gridCol w="4991921">
                  <a:extLst>
                    <a:ext uri="{9D8B030D-6E8A-4147-A177-3AD203B41FA5}">
                      <a16:colId xmlns:a16="http://schemas.microsoft.com/office/drawing/2014/main" val="2399476697"/>
                    </a:ext>
                  </a:extLst>
                </a:gridCol>
              </a:tblGrid>
              <a:tr h="638352">
                <a:tc>
                  <a:txBody>
                    <a:bodyPr/>
                    <a:lstStyle/>
                    <a:p>
                      <a:pPr marL="0" indent="0" algn="l" fontAlgn="base">
                        <a:buFont typeface="Arial" panose="020B0604020202020204" pitchFamily="34" charset="0"/>
                        <a:buNone/>
                      </a:pPr>
                      <a:r>
                        <a:rPr lang="en-US" sz="2400" b="1" dirty="0">
                          <a:effectLst/>
                          <a:latin typeface="+mn-lt"/>
                        </a:rPr>
                        <a:t>                        DBSCAN                             </a:t>
                      </a:r>
                    </a:p>
                  </a:txBody>
                  <a:tcPr marL="32839" marR="32839" marT="82097" marB="8209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marL="0" indent="0" algn="l" fontAlgn="base">
                        <a:buFont typeface="Arial" panose="020B0604020202020204" pitchFamily="34" charset="0"/>
                        <a:buNone/>
                      </a:pPr>
                      <a:r>
                        <a:rPr lang="en-US" sz="2400" b="1" dirty="0">
                          <a:effectLst/>
                          <a:latin typeface="+mn-lt"/>
                        </a:rPr>
                        <a:t>                         K-Means                            </a:t>
                      </a:r>
                    </a:p>
                  </a:txBody>
                  <a:tcPr marL="82097" marR="82097" marT="82097" marB="8209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819886206"/>
                  </a:ext>
                </a:extLst>
              </a:tr>
              <a:tr h="958556">
                <a:tc>
                  <a:txBody>
                    <a:bodyPr/>
                    <a:lstStyle/>
                    <a:p>
                      <a:pPr marL="342900" indent="-342900" algn="l" rtl="0" fontAlgn="base">
                        <a:spcAft>
                          <a:spcPts val="750"/>
                        </a:spcAft>
                        <a:buFont typeface="Arial" panose="020B0604020202020204" pitchFamily="34" charset="0"/>
                        <a:buChar char="•"/>
                      </a:pPr>
                      <a:r>
                        <a:rPr lang="en-US" sz="2000" b="0" dirty="0">
                          <a:effectLst/>
                          <a:latin typeface="+mn-lt"/>
                        </a:rPr>
                        <a:t>In DBSCAN we need not specify the number of clusters.</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marL="342900" indent="-342900" algn="l" rtl="0" fontAlgn="base">
                        <a:spcAft>
                          <a:spcPts val="750"/>
                        </a:spcAft>
                        <a:buFont typeface="Arial" panose="020B0604020202020204" pitchFamily="34" charset="0"/>
                        <a:buChar char="•"/>
                      </a:pPr>
                      <a:r>
                        <a:rPr lang="en-US" sz="2000" b="0">
                          <a:effectLst/>
                          <a:latin typeface="+mn-lt"/>
                        </a:rPr>
                        <a:t>It is very sensitive to the number of clusters (k), which must be specified in advance.</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41290628"/>
                  </a:ext>
                </a:extLst>
              </a:tr>
              <a:tr h="689480">
                <a:tc>
                  <a:txBody>
                    <a:bodyPr/>
                    <a:lstStyle/>
                    <a:p>
                      <a:pPr marL="342900" indent="-342900" algn="l" fontAlgn="ctr">
                        <a:buFont typeface="Arial" panose="020B0604020202020204" pitchFamily="34" charset="0"/>
                        <a:buChar char="•"/>
                      </a:pPr>
                      <a:r>
                        <a:rPr lang="en-US" sz="2000" b="0" dirty="0">
                          <a:effectLst/>
                          <a:latin typeface="+mn-lt"/>
                        </a:rPr>
                        <a:t>Clusters formed in DBSCAN can be of any arbitrary shape.</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marL="342900" indent="-342900" algn="l" rtl="0" fontAlgn="base">
                        <a:spcAft>
                          <a:spcPts val="750"/>
                        </a:spcAft>
                        <a:buFont typeface="Arial" panose="020B0604020202020204" pitchFamily="34" charset="0"/>
                        <a:buChar char="•"/>
                      </a:pPr>
                      <a:r>
                        <a:rPr lang="en-US" sz="2000" b="0" dirty="0">
                          <a:effectLst/>
                          <a:latin typeface="+mn-lt"/>
                        </a:rPr>
                        <a:t>Clusters formed are spherical or convex in shape</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46548048"/>
                  </a:ext>
                </a:extLst>
              </a:tr>
              <a:tr h="1004780">
                <a:tc>
                  <a:txBody>
                    <a:bodyPr/>
                    <a:lstStyle/>
                    <a:p>
                      <a:pPr marL="342900" indent="-342900" algn="l" fontAlgn="ctr">
                        <a:buFont typeface="Arial" panose="020B0604020202020204" pitchFamily="34" charset="0"/>
                        <a:buChar char="•"/>
                      </a:pPr>
                      <a:r>
                        <a:rPr lang="en-US" sz="2000" b="0">
                          <a:effectLst/>
                          <a:latin typeface="+mn-lt"/>
                        </a:rPr>
                        <a:t>It can work well with datasets having noise and outliers</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marL="342900" indent="-342900" algn="l" rtl="0" fontAlgn="base">
                        <a:spcAft>
                          <a:spcPts val="750"/>
                        </a:spcAft>
                        <a:buFont typeface="Arial" panose="020B0604020202020204" pitchFamily="34" charset="0"/>
                        <a:buChar char="•"/>
                      </a:pPr>
                      <a:r>
                        <a:rPr lang="en-US" sz="2000" b="0" dirty="0">
                          <a:effectLst/>
                          <a:latin typeface="+mn-lt"/>
                        </a:rPr>
                        <a:t>It does not work well with outliers data. Outliers can skew the clusters in K-Means to a very large extent. </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86229320"/>
                  </a:ext>
                </a:extLst>
              </a:tr>
              <a:tr h="728983">
                <a:tc>
                  <a:txBody>
                    <a:bodyPr/>
                    <a:lstStyle/>
                    <a:p>
                      <a:pPr marL="342900" indent="-342900" algn="l" fontAlgn="ctr">
                        <a:buFont typeface="Arial" panose="020B0604020202020204" pitchFamily="34" charset="0"/>
                        <a:buChar char="•"/>
                      </a:pPr>
                      <a:r>
                        <a:rPr lang="en-US" sz="2000" b="0">
                          <a:effectLst/>
                          <a:latin typeface="+mn-lt"/>
                        </a:rPr>
                        <a:t>In DBSCAN two parameters are required for training the Model</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marL="342900" indent="-342900" algn="l" rtl="0" fontAlgn="base">
                        <a:spcAft>
                          <a:spcPts val="750"/>
                        </a:spcAft>
                        <a:buFont typeface="Arial" panose="020B0604020202020204" pitchFamily="34" charset="0"/>
                        <a:buChar char="•"/>
                      </a:pPr>
                      <a:r>
                        <a:rPr lang="en-US" sz="2000" b="0" dirty="0">
                          <a:effectLst/>
                          <a:latin typeface="+mn-lt"/>
                        </a:rPr>
                        <a:t>In K-Means only one parameter is required is for training the model</a:t>
                      </a:r>
                    </a:p>
                  </a:txBody>
                  <a:tcPr marL="82097" marR="82097" marT="114936" marB="11493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73682543"/>
                  </a:ext>
                </a:extLst>
              </a:tr>
            </a:tbl>
          </a:graphicData>
        </a:graphic>
      </p:graphicFrame>
    </p:spTree>
    <p:extLst>
      <p:ext uri="{BB962C8B-B14F-4D97-AF65-F5344CB8AC3E}">
        <p14:creationId xmlns:p14="http://schemas.microsoft.com/office/powerpoint/2010/main" val="1355883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D7E45-4845-314B-C542-26B0F6156E66}"/>
              </a:ext>
            </a:extLst>
          </p:cNvPr>
          <p:cNvSpPr>
            <a:spLocks noGrp="1"/>
          </p:cNvSpPr>
          <p:nvPr>
            <p:ph type="title"/>
          </p:nvPr>
        </p:nvSpPr>
        <p:spPr/>
        <p:txBody>
          <a:bodyPr/>
          <a:lstStyle/>
          <a:p>
            <a:r>
              <a:rPr lang="en-US" dirty="0">
                <a:latin typeface="+mj-lt"/>
              </a:rPr>
              <a:t>Hierarchical clustering</a:t>
            </a:r>
            <a:br>
              <a:rPr lang="en-US" dirty="0">
                <a:latin typeface="+mj-lt"/>
              </a:rPr>
            </a:br>
            <a:endParaRPr lang="en-US" dirty="0">
              <a:latin typeface="+mj-lt"/>
            </a:endParaRPr>
          </a:p>
        </p:txBody>
      </p:sp>
      <p:sp>
        <p:nvSpPr>
          <p:cNvPr id="3" name="Content Placeholder 2">
            <a:extLst>
              <a:ext uri="{FF2B5EF4-FFF2-40B4-BE49-F238E27FC236}">
                <a16:creationId xmlns:a16="http://schemas.microsoft.com/office/drawing/2014/main" id="{FF126938-33CE-0AD7-07D4-0F1B61DBBFAB}"/>
              </a:ext>
            </a:extLst>
          </p:cNvPr>
          <p:cNvSpPr>
            <a:spLocks noGrp="1"/>
          </p:cNvSpPr>
          <p:nvPr>
            <p:ph sz="quarter" idx="13"/>
          </p:nvPr>
        </p:nvSpPr>
        <p:spPr>
          <a:xfrm>
            <a:off x="947739" y="1776413"/>
            <a:ext cx="4748974" cy="4244974"/>
          </a:xfrm>
        </p:spPr>
        <p:txBody>
          <a:bodyPr/>
          <a:lstStyle/>
          <a:p>
            <a:r>
              <a:rPr lang="en-US" sz="2400" dirty="0">
                <a:latin typeface="+mn-lt"/>
              </a:rPr>
              <a:t>Building "hierarchy" or a tree of clusters</a:t>
            </a:r>
          </a:p>
          <a:p>
            <a:pPr marL="0" indent="0">
              <a:buNone/>
            </a:pPr>
            <a:endParaRPr lang="en-US" sz="2400" dirty="0">
              <a:latin typeface="+mn-lt"/>
            </a:endParaRPr>
          </a:p>
          <a:p>
            <a:r>
              <a:rPr lang="en-US" sz="2400" dirty="0">
                <a:latin typeface="+mn-lt"/>
              </a:rPr>
              <a:t>Unlike K-Means or DBSCAN, which just hand you a final set of flat groupings, hierarchical clustering shows you the exact step-by-step relationship between every single data point</a:t>
            </a:r>
          </a:p>
        </p:txBody>
      </p:sp>
      <p:pic>
        <p:nvPicPr>
          <p:cNvPr id="5122" name="Picture 2" descr="Scatter plot of points A to F on the left and the resulting dendrogram tree structure on the right">
            <a:extLst>
              <a:ext uri="{FF2B5EF4-FFF2-40B4-BE49-F238E27FC236}">
                <a16:creationId xmlns:a16="http://schemas.microsoft.com/office/drawing/2014/main" id="{10E9FE60-BA67-0343-08B0-27F65C4C4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58815"/>
            <a:ext cx="5679179" cy="3194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240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956E3-B55F-37F8-027F-5F23F771205B}"/>
              </a:ext>
            </a:extLst>
          </p:cNvPr>
          <p:cNvSpPr>
            <a:spLocks noGrp="1"/>
          </p:cNvSpPr>
          <p:nvPr>
            <p:ph type="title"/>
          </p:nvPr>
        </p:nvSpPr>
        <p:spPr/>
        <p:txBody>
          <a:bodyPr/>
          <a:lstStyle/>
          <a:p>
            <a:r>
              <a:rPr lang="en-US" dirty="0" err="1">
                <a:latin typeface="+mj-lt"/>
              </a:rPr>
              <a:t>Dendogram</a:t>
            </a:r>
            <a:endParaRPr lang="en-US" dirty="0">
              <a:latin typeface="+mj-lt"/>
            </a:endParaRPr>
          </a:p>
        </p:txBody>
      </p:sp>
      <p:sp>
        <p:nvSpPr>
          <p:cNvPr id="3" name="Content Placeholder 2">
            <a:extLst>
              <a:ext uri="{FF2B5EF4-FFF2-40B4-BE49-F238E27FC236}">
                <a16:creationId xmlns:a16="http://schemas.microsoft.com/office/drawing/2014/main" id="{4EF12915-F37A-6F90-44A0-353E845B1CD9}"/>
              </a:ext>
            </a:extLst>
          </p:cNvPr>
          <p:cNvSpPr>
            <a:spLocks noGrp="1"/>
          </p:cNvSpPr>
          <p:nvPr>
            <p:ph sz="quarter" idx="13"/>
          </p:nvPr>
        </p:nvSpPr>
        <p:spPr>
          <a:xfrm>
            <a:off x="947738" y="1776413"/>
            <a:ext cx="3811831" cy="4244974"/>
          </a:xfrm>
        </p:spPr>
        <p:txBody>
          <a:bodyPr/>
          <a:lstStyle/>
          <a:p>
            <a:r>
              <a:rPr lang="en-US" sz="2400" dirty="0">
                <a:latin typeface="+mn-lt"/>
              </a:rPr>
              <a:t>A tree show how clusters merged step-by-step.</a:t>
            </a:r>
          </a:p>
          <a:p>
            <a:endParaRPr lang="en-US" sz="2400" dirty="0">
              <a:latin typeface="+mn-lt"/>
            </a:endParaRPr>
          </a:p>
          <a:p>
            <a:r>
              <a:rPr lang="en-US" sz="2400" dirty="0">
                <a:latin typeface="+mn-lt"/>
              </a:rPr>
              <a:t>We cut the </a:t>
            </a:r>
            <a:r>
              <a:rPr lang="en-US" sz="2400" dirty="0" err="1">
                <a:latin typeface="+mn-lt"/>
              </a:rPr>
              <a:t>dendogram</a:t>
            </a:r>
            <a:r>
              <a:rPr lang="en-US" sz="2400" dirty="0">
                <a:latin typeface="+mn-lt"/>
              </a:rPr>
              <a:t> at a certain height to form final clusters.</a:t>
            </a:r>
          </a:p>
        </p:txBody>
      </p:sp>
      <p:pic>
        <p:nvPicPr>
          <p:cNvPr id="8196" name="Picture 4" descr="What-is-a-Dendrogram_.webp">
            <a:extLst>
              <a:ext uri="{FF2B5EF4-FFF2-40B4-BE49-F238E27FC236}">
                <a16:creationId xmlns:a16="http://schemas.microsoft.com/office/drawing/2014/main" id="{B953167E-A50C-4256-E75F-EDE4D8BEE9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256" t="33616" r="46424" b="6689"/>
          <a:stretch>
            <a:fillRect/>
          </a:stretch>
        </p:blipFill>
        <p:spPr bwMode="auto">
          <a:xfrm>
            <a:off x="7432433" y="322955"/>
            <a:ext cx="3136392" cy="27463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What-is-a-Dendrogram_.webp">
            <a:extLst>
              <a:ext uri="{FF2B5EF4-FFF2-40B4-BE49-F238E27FC236}">
                <a16:creationId xmlns:a16="http://schemas.microsoft.com/office/drawing/2014/main" id="{42C47106-FA71-5A6A-7BA1-B9F9CA75AD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778" t="31968" r="9093" b="6153"/>
          <a:stretch>
            <a:fillRect/>
          </a:stretch>
        </p:blipFill>
        <p:spPr bwMode="auto">
          <a:xfrm>
            <a:off x="7432432" y="3270503"/>
            <a:ext cx="3136391" cy="2846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7284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4148-C8A3-8D92-96DA-7622F0549766}"/>
              </a:ext>
            </a:extLst>
          </p:cNvPr>
          <p:cNvSpPr>
            <a:spLocks noGrp="1"/>
          </p:cNvSpPr>
          <p:nvPr>
            <p:ph type="title"/>
          </p:nvPr>
        </p:nvSpPr>
        <p:spPr>
          <a:xfrm>
            <a:off x="947739" y="95949"/>
            <a:ext cx="9472971" cy="716142"/>
          </a:xfrm>
        </p:spPr>
        <p:txBody>
          <a:bodyPr/>
          <a:lstStyle/>
          <a:p>
            <a:r>
              <a:rPr lang="en-US" dirty="0">
                <a:latin typeface="+mj-lt"/>
              </a:rPr>
              <a:t>Approaches</a:t>
            </a:r>
          </a:p>
        </p:txBody>
      </p:sp>
      <p:sp>
        <p:nvSpPr>
          <p:cNvPr id="3" name="Content Placeholder 2">
            <a:extLst>
              <a:ext uri="{FF2B5EF4-FFF2-40B4-BE49-F238E27FC236}">
                <a16:creationId xmlns:a16="http://schemas.microsoft.com/office/drawing/2014/main" id="{26813713-AA7B-E0DE-1F72-CEA05456AC43}"/>
              </a:ext>
            </a:extLst>
          </p:cNvPr>
          <p:cNvSpPr>
            <a:spLocks noGrp="1"/>
          </p:cNvSpPr>
          <p:nvPr>
            <p:ph sz="quarter" idx="13"/>
          </p:nvPr>
        </p:nvSpPr>
        <p:spPr>
          <a:xfrm>
            <a:off x="386611" y="880301"/>
            <a:ext cx="5297613" cy="2548699"/>
          </a:xfrm>
        </p:spPr>
        <p:txBody>
          <a:bodyPr/>
          <a:lstStyle/>
          <a:p>
            <a:r>
              <a:rPr lang="en-US" altLang="en-US" sz="2400" b="1" dirty="0">
                <a:solidFill>
                  <a:schemeClr val="tx1"/>
                </a:solidFill>
                <a:latin typeface="+mn-lt"/>
              </a:rPr>
              <a:t>Agglomerative (Bottom-Up):</a:t>
            </a:r>
            <a:r>
              <a:rPr lang="en-US" altLang="en-US" sz="2400" dirty="0">
                <a:solidFill>
                  <a:schemeClr val="tx1"/>
                </a:solidFill>
                <a:latin typeface="+mn-lt"/>
              </a:rPr>
              <a:t> </a:t>
            </a:r>
          </a:p>
          <a:p>
            <a:pPr lvl="1"/>
            <a:r>
              <a:rPr lang="en-US" altLang="en-US" sz="2200" dirty="0">
                <a:solidFill>
                  <a:schemeClr val="tx1"/>
                </a:solidFill>
                <a:latin typeface="+mn-lt"/>
              </a:rPr>
              <a:t>It starts by treating every single data point as its own individual cluster.</a:t>
            </a:r>
          </a:p>
          <a:p>
            <a:pPr lvl="1"/>
            <a:r>
              <a:rPr lang="en-US" altLang="en-US" sz="2200" dirty="0">
                <a:solidFill>
                  <a:schemeClr val="tx1"/>
                </a:solidFill>
                <a:latin typeface="+mn-lt"/>
              </a:rPr>
              <a:t>Then, it finds the two closest clusters and merges them into one. </a:t>
            </a:r>
          </a:p>
          <a:p>
            <a:pPr lvl="1"/>
            <a:r>
              <a:rPr lang="en-US" altLang="en-US" sz="2200" dirty="0">
                <a:solidFill>
                  <a:schemeClr val="tx1"/>
                </a:solidFill>
                <a:latin typeface="+mn-lt"/>
              </a:rPr>
              <a:t>It repeats this process over and over until all points are merged into a single, giant cluster.</a:t>
            </a:r>
          </a:p>
          <a:p>
            <a:endParaRPr lang="en-US" sz="2400" dirty="0">
              <a:latin typeface="+mn-lt"/>
            </a:endParaRPr>
          </a:p>
        </p:txBody>
      </p:sp>
      <p:sp>
        <p:nvSpPr>
          <p:cNvPr id="6" name="TextBox 5">
            <a:extLst>
              <a:ext uri="{FF2B5EF4-FFF2-40B4-BE49-F238E27FC236}">
                <a16:creationId xmlns:a16="http://schemas.microsoft.com/office/drawing/2014/main" id="{B1633406-B3B4-CD49-6AC4-853683069DB3}"/>
              </a:ext>
            </a:extLst>
          </p:cNvPr>
          <p:cNvSpPr txBox="1"/>
          <p:nvPr/>
        </p:nvSpPr>
        <p:spPr>
          <a:xfrm>
            <a:off x="6092952" y="300027"/>
            <a:ext cx="6099048" cy="2369880"/>
          </a:xfrm>
          <a:prstGeom prst="rect">
            <a:avLst/>
          </a:prstGeom>
          <a:noFill/>
        </p:spPr>
        <p:txBody>
          <a:bodyPr wrap="square">
            <a:spAutoFit/>
          </a:bodyPr>
          <a:lstStyle/>
          <a:p>
            <a:pPr marL="342900" indent="-342900">
              <a:buFont typeface="Arial" panose="020B0604020202020204" pitchFamily="34" charset="0"/>
              <a:buChar char="•"/>
            </a:pPr>
            <a:r>
              <a:rPr lang="en-US" altLang="en-US" sz="2400" b="1" dirty="0">
                <a:solidFill>
                  <a:schemeClr val="tx1"/>
                </a:solidFill>
                <a:latin typeface="+mn-lt"/>
              </a:rPr>
              <a:t>Divisive (Top-Down):</a:t>
            </a:r>
            <a:r>
              <a:rPr lang="en-US" altLang="en-US" sz="2400" dirty="0">
                <a:solidFill>
                  <a:schemeClr val="tx1"/>
                </a:solidFill>
                <a:latin typeface="+mn-lt"/>
              </a:rPr>
              <a:t> </a:t>
            </a:r>
          </a:p>
          <a:p>
            <a:pPr marL="800100" lvl="1" indent="-342900">
              <a:buFont typeface="Arial" panose="020B0604020202020204" pitchFamily="34" charset="0"/>
              <a:buChar char="•"/>
            </a:pPr>
            <a:r>
              <a:rPr lang="en-US" altLang="en-US" sz="2200" dirty="0">
                <a:solidFill>
                  <a:schemeClr val="tx1"/>
                </a:solidFill>
                <a:latin typeface="+mn-lt"/>
              </a:rPr>
              <a:t>It starts with all data points in one massive cluster. </a:t>
            </a:r>
          </a:p>
          <a:p>
            <a:pPr marL="800100" lvl="1" indent="-342900">
              <a:buFont typeface="Arial" panose="020B0604020202020204" pitchFamily="34" charset="0"/>
              <a:buChar char="•"/>
            </a:pPr>
            <a:r>
              <a:rPr lang="en-US" altLang="en-US" sz="2000" dirty="0">
                <a:solidFill>
                  <a:schemeClr val="tx1"/>
                </a:solidFill>
                <a:latin typeface="+mn-lt"/>
              </a:rPr>
              <a:t>It then finds the best way to split that cluster into two,</a:t>
            </a:r>
          </a:p>
          <a:p>
            <a:pPr marL="800100" lvl="1" indent="-342900">
              <a:buFont typeface="Arial" panose="020B0604020202020204" pitchFamily="34" charset="0"/>
              <a:buChar char="•"/>
            </a:pPr>
            <a:r>
              <a:rPr lang="en-US" altLang="en-US" sz="2000" dirty="0">
                <a:solidFill>
                  <a:schemeClr val="tx1"/>
                </a:solidFill>
                <a:latin typeface="+mn-lt"/>
              </a:rPr>
              <a:t> keeps splitting the sub-clusters until every data point is entirely on its own.</a:t>
            </a:r>
          </a:p>
        </p:txBody>
      </p:sp>
      <p:pic>
        <p:nvPicPr>
          <p:cNvPr id="7" name="Picture 2" descr="bc">
            <a:extLst>
              <a:ext uri="{FF2B5EF4-FFF2-40B4-BE49-F238E27FC236}">
                <a16:creationId xmlns:a16="http://schemas.microsoft.com/office/drawing/2014/main" id="{6384FD9E-B58E-7A66-323C-2688D6D22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26" y="3654287"/>
            <a:ext cx="5097398" cy="254869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a">
            <a:extLst>
              <a:ext uri="{FF2B5EF4-FFF2-40B4-BE49-F238E27FC236}">
                <a16:creationId xmlns:a16="http://schemas.microsoft.com/office/drawing/2014/main" id="{69AC8C24-1981-C258-013F-7909354E8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3777" y="2873985"/>
            <a:ext cx="5097398" cy="2548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047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BDD75-75C1-1072-ECCC-0A834B26676F}"/>
              </a:ext>
            </a:extLst>
          </p:cNvPr>
          <p:cNvSpPr>
            <a:spLocks noGrp="1"/>
          </p:cNvSpPr>
          <p:nvPr>
            <p:ph type="title"/>
          </p:nvPr>
        </p:nvSpPr>
        <p:spPr>
          <a:xfrm>
            <a:off x="307658" y="60438"/>
            <a:ext cx="9472971" cy="716142"/>
          </a:xfrm>
        </p:spPr>
        <p:txBody>
          <a:bodyPr/>
          <a:lstStyle/>
          <a:p>
            <a:r>
              <a:rPr lang="en-US" dirty="0">
                <a:latin typeface="+mj-lt"/>
              </a:rPr>
              <a:t>How Do We Measure "Closest"? (Linkage Criteria)</a:t>
            </a:r>
          </a:p>
        </p:txBody>
      </p:sp>
      <p:pic>
        <p:nvPicPr>
          <p:cNvPr id="9218" name="Picture 2" descr="_distance_metrics_in_hierarchical_clustering.webp">
            <a:extLst>
              <a:ext uri="{FF2B5EF4-FFF2-40B4-BE49-F238E27FC236}">
                <a16:creationId xmlns:a16="http://schemas.microsoft.com/office/drawing/2014/main" id="{7C2BD5CB-A079-E4BE-9005-02368D1A98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052" r="54289" b="46954"/>
          <a:stretch>
            <a:fillRect/>
          </a:stretch>
        </p:blipFill>
        <p:spPr bwMode="auto">
          <a:xfrm>
            <a:off x="6830646" y="764272"/>
            <a:ext cx="4587807" cy="1354602"/>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450E9DC8-9B31-A62B-33D2-17654A106FA3}"/>
              </a:ext>
            </a:extLst>
          </p:cNvPr>
          <p:cNvSpPr>
            <a:spLocks noGrp="1" noChangeArrowheads="1"/>
          </p:cNvSpPr>
          <p:nvPr>
            <p:ph sz="quarter" idx="13"/>
          </p:nvPr>
        </p:nvSpPr>
        <p:spPr bwMode="auto">
          <a:xfrm>
            <a:off x="307657" y="1228398"/>
            <a:ext cx="637306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mn-lt"/>
              </a:rPr>
              <a:t>Single Linkage:</a:t>
            </a:r>
            <a:r>
              <a:rPr kumimoji="0" lang="en-US" altLang="en-US" sz="2000" b="0" i="0" u="none" strike="noStrike" cap="none" normalizeH="0" baseline="0" dirty="0">
                <a:ln>
                  <a:noFill/>
                </a:ln>
                <a:solidFill>
                  <a:schemeClr val="tx1"/>
                </a:solidFill>
                <a:effectLst/>
                <a:latin typeface="+mn-lt"/>
              </a:rPr>
              <a:t> Measures the distance between the </a:t>
            </a:r>
            <a:r>
              <a:rPr kumimoji="0" lang="en-US" altLang="en-US" sz="2000" b="0" i="1" u="none" strike="noStrike" cap="none" normalizeH="0" baseline="0" dirty="0">
                <a:ln>
                  <a:noFill/>
                </a:ln>
                <a:solidFill>
                  <a:schemeClr val="tx1"/>
                </a:solidFill>
                <a:effectLst/>
                <a:latin typeface="+mn-lt"/>
              </a:rPr>
              <a:t>closest</a:t>
            </a:r>
            <a:r>
              <a:rPr kumimoji="0" lang="en-US" altLang="en-US" sz="2000" b="0" i="0" u="none" strike="noStrike" cap="none" normalizeH="0" baseline="0" dirty="0">
                <a:ln>
                  <a:noFill/>
                </a:ln>
                <a:solidFill>
                  <a:schemeClr val="tx1"/>
                </a:solidFill>
                <a:effectLst/>
                <a:latin typeface="+mn-lt"/>
              </a:rPr>
              <a:t> two points in each cluster. (Tends to create long, chaining clusters)</a:t>
            </a:r>
          </a:p>
          <a:p>
            <a:pPr eaLnBrk="0" fontAlgn="base" hangingPunct="0">
              <a:lnSpc>
                <a:spcPct val="100000"/>
              </a:lnSpc>
              <a:spcBef>
                <a:spcPct val="0"/>
              </a:spcBef>
              <a:spcAft>
                <a:spcPct val="0"/>
              </a:spcAft>
            </a:pPr>
            <a:endParaRPr lang="en-US" altLang="en-US" sz="2000" dirty="0">
              <a:solidFill>
                <a:schemeClr val="tx1"/>
              </a:solidFill>
              <a:latin typeface="+mn-lt"/>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mn-lt"/>
              </a:rPr>
              <a:t>Complete Linkage:</a:t>
            </a:r>
            <a:r>
              <a:rPr kumimoji="0" lang="en-US" altLang="en-US" sz="2000" b="0" i="0" u="none" strike="noStrike" cap="none" normalizeH="0" baseline="0" dirty="0">
                <a:ln>
                  <a:noFill/>
                </a:ln>
                <a:solidFill>
                  <a:schemeClr val="tx1"/>
                </a:solidFill>
                <a:effectLst/>
                <a:latin typeface="+mn-lt"/>
              </a:rPr>
              <a:t> Measures the distance between the </a:t>
            </a:r>
            <a:r>
              <a:rPr kumimoji="0" lang="en-US" altLang="en-US" sz="2000" b="0" i="1" u="none" strike="noStrike" cap="none" normalizeH="0" baseline="0" dirty="0">
                <a:ln>
                  <a:noFill/>
                </a:ln>
                <a:solidFill>
                  <a:schemeClr val="tx1"/>
                </a:solidFill>
                <a:effectLst/>
                <a:latin typeface="+mn-lt"/>
              </a:rPr>
              <a:t>furthest</a:t>
            </a:r>
            <a:r>
              <a:rPr kumimoji="0" lang="en-US" altLang="en-US" sz="2000" b="0" i="0" u="none" strike="noStrike" cap="none" normalizeH="0" baseline="0" dirty="0">
                <a:ln>
                  <a:noFill/>
                </a:ln>
                <a:solidFill>
                  <a:schemeClr val="tx1"/>
                </a:solidFill>
                <a:effectLst/>
                <a:latin typeface="+mn-lt"/>
              </a:rPr>
              <a:t> two points in each cluster. (Tends to create tight, spherical clusters).</a:t>
            </a:r>
          </a:p>
          <a:p>
            <a:pPr eaLnBrk="0" fontAlgn="base" hangingPunct="0">
              <a:lnSpc>
                <a:spcPct val="100000"/>
              </a:lnSpc>
              <a:spcBef>
                <a:spcPct val="0"/>
              </a:spcBef>
              <a:spcAft>
                <a:spcPct val="0"/>
              </a:spcAft>
            </a:pPr>
            <a:endParaRPr lang="en-US" altLang="en-US" sz="2000" dirty="0">
              <a:solidFill>
                <a:schemeClr val="tx1"/>
              </a:solidFill>
              <a:latin typeface="+mn-lt"/>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mn-lt"/>
              </a:rPr>
              <a:t>Average Linkage:</a:t>
            </a:r>
            <a:r>
              <a:rPr kumimoji="0" lang="en-US" altLang="en-US" sz="2000" b="0" i="0" u="none" strike="noStrike" cap="none" normalizeH="0" baseline="0" dirty="0">
                <a:ln>
                  <a:noFill/>
                </a:ln>
                <a:solidFill>
                  <a:schemeClr val="tx1"/>
                </a:solidFill>
                <a:effectLst/>
                <a:latin typeface="+mn-lt"/>
              </a:rPr>
              <a:t> Calculates the average distance between all points in cluster A and all points in cluster B.</a:t>
            </a:r>
          </a:p>
          <a:p>
            <a:pPr eaLnBrk="0" fontAlgn="base" hangingPunct="0">
              <a:lnSpc>
                <a:spcPct val="100000"/>
              </a:lnSpc>
              <a:spcBef>
                <a:spcPct val="0"/>
              </a:spcBef>
              <a:spcAft>
                <a:spcPct val="0"/>
              </a:spcAft>
            </a:pPr>
            <a:endParaRPr lang="en-US" altLang="en-US" sz="2000" dirty="0">
              <a:solidFill>
                <a:schemeClr val="tx1"/>
              </a:solidFill>
              <a:latin typeface="+mn-lt"/>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mn-lt"/>
              </a:rPr>
              <a:t>Ward's Method:</a:t>
            </a:r>
            <a:r>
              <a:rPr kumimoji="0" lang="en-US" altLang="en-US" sz="2000" b="0" i="0" u="none" strike="noStrike" cap="none" normalizeH="0" baseline="0" dirty="0">
                <a:ln>
                  <a:noFill/>
                </a:ln>
                <a:solidFill>
                  <a:schemeClr val="tx1"/>
                </a:solidFill>
                <a:effectLst/>
                <a:latin typeface="+mn-lt"/>
              </a:rPr>
              <a:t> Merges clusters in a way that minimizes the total variance within the new cluster (very similar to the WCSS objective in K-Means).</a:t>
            </a:r>
          </a:p>
        </p:txBody>
      </p:sp>
      <p:pic>
        <p:nvPicPr>
          <p:cNvPr id="5" name="Picture 2" descr="_distance_metrics_in_hierarchical_clustering.webp">
            <a:extLst>
              <a:ext uri="{FF2B5EF4-FFF2-40B4-BE49-F238E27FC236}">
                <a16:creationId xmlns:a16="http://schemas.microsoft.com/office/drawing/2014/main" id="{B631B608-58CA-350A-18A6-2B66B7E324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850" t="26776" r="4439" b="46231"/>
          <a:stretch>
            <a:fillRect/>
          </a:stretch>
        </p:blipFill>
        <p:spPr bwMode="auto">
          <a:xfrm>
            <a:off x="6975230" y="2134258"/>
            <a:ext cx="4587807" cy="13546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_distance_metrics_in_hierarchical_clustering.webp">
            <a:extLst>
              <a:ext uri="{FF2B5EF4-FFF2-40B4-BE49-F238E27FC236}">
                <a16:creationId xmlns:a16="http://schemas.microsoft.com/office/drawing/2014/main" id="{73252187-AA78-86AD-DBAF-1F406FA40B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5214" r="54289" b="11248"/>
          <a:stretch>
            <a:fillRect/>
          </a:stretch>
        </p:blipFill>
        <p:spPr bwMode="auto">
          <a:xfrm>
            <a:off x="6493844" y="3429000"/>
            <a:ext cx="5261409" cy="135460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_distance_metrics_in_hierarchical_clustering.webp">
            <a:extLst>
              <a:ext uri="{FF2B5EF4-FFF2-40B4-BE49-F238E27FC236}">
                <a16:creationId xmlns:a16="http://schemas.microsoft.com/office/drawing/2014/main" id="{E7ADBC81-77A1-8E82-32AD-9FA72B65FB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1" t="62400" b="7840"/>
          <a:stretch>
            <a:fillRect/>
          </a:stretch>
        </p:blipFill>
        <p:spPr bwMode="auto">
          <a:xfrm>
            <a:off x="6583007" y="4613670"/>
            <a:ext cx="4835446" cy="1438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906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ECE93-8A27-11BE-FC4A-EE6DB34BD629}"/>
              </a:ext>
            </a:extLst>
          </p:cNvPr>
          <p:cNvSpPr>
            <a:spLocks noGrp="1"/>
          </p:cNvSpPr>
          <p:nvPr>
            <p:ph type="title"/>
          </p:nvPr>
        </p:nvSpPr>
        <p:spPr>
          <a:xfrm>
            <a:off x="291246" y="169468"/>
            <a:ext cx="9472971" cy="716142"/>
          </a:xfrm>
        </p:spPr>
        <p:txBody>
          <a:bodyPr/>
          <a:lstStyle/>
          <a:p>
            <a:r>
              <a:rPr lang="en-US" dirty="0">
                <a:latin typeface="+mj-lt"/>
              </a:rPr>
              <a:t>Example</a:t>
            </a:r>
            <a:br>
              <a:rPr lang="en-US" dirty="0">
                <a:latin typeface="+mj-lt"/>
              </a:rPr>
            </a:br>
            <a:endParaRPr lang="en-US" dirty="0">
              <a:latin typeface="+mj-lt"/>
            </a:endParaRPr>
          </a:p>
        </p:txBody>
      </p:sp>
      <p:sp>
        <p:nvSpPr>
          <p:cNvPr id="3" name="Content Placeholder 2">
            <a:extLst>
              <a:ext uri="{FF2B5EF4-FFF2-40B4-BE49-F238E27FC236}">
                <a16:creationId xmlns:a16="http://schemas.microsoft.com/office/drawing/2014/main" id="{69DA82A6-38FA-A91D-BBED-4FA534281BF8}"/>
              </a:ext>
            </a:extLst>
          </p:cNvPr>
          <p:cNvSpPr>
            <a:spLocks noGrp="1"/>
          </p:cNvSpPr>
          <p:nvPr>
            <p:ph sz="quarter" idx="13"/>
          </p:nvPr>
        </p:nvSpPr>
        <p:spPr>
          <a:xfrm>
            <a:off x="291246" y="1038892"/>
            <a:ext cx="6179893" cy="5291570"/>
          </a:xfrm>
        </p:spPr>
        <p:txBody>
          <a:bodyPr/>
          <a:lstStyle/>
          <a:p>
            <a:r>
              <a:rPr lang="en-US" sz="1800" dirty="0"/>
              <a:t>A = 2, B = 5, C = 6</a:t>
            </a:r>
          </a:p>
          <a:p>
            <a:r>
              <a:rPr lang="en-US" sz="1800" dirty="0"/>
              <a:t>Starting  WCSS = 0</a:t>
            </a:r>
          </a:p>
          <a:p>
            <a:r>
              <a:rPr lang="en-US" sz="1800" b="1" dirty="0"/>
              <a:t>Scenario 1: What if we merge A (2) and B (5)?</a:t>
            </a:r>
          </a:p>
          <a:p>
            <a:r>
              <a:rPr lang="en-US" sz="1800" b="1" dirty="0"/>
              <a:t>The new center:</a:t>
            </a:r>
            <a:r>
              <a:rPr lang="en-US" sz="1800" dirty="0"/>
              <a:t> The average of 2 and 5 is </a:t>
            </a:r>
            <a:r>
              <a:rPr lang="en-US" sz="1800" b="1" dirty="0"/>
              <a:t>3.5</a:t>
            </a:r>
            <a:r>
              <a:rPr lang="en-US" sz="1800" dirty="0"/>
              <a:t>.</a:t>
            </a:r>
          </a:p>
          <a:p>
            <a:r>
              <a:rPr lang="en-US" sz="1800" b="1" dirty="0"/>
              <a:t>The spread (WCSS):</a:t>
            </a:r>
            <a:r>
              <a:rPr lang="en-US" sz="1800" dirty="0"/>
              <a:t> How far are A and B from 3.5?</a:t>
            </a:r>
          </a:p>
          <a:p>
            <a:pPr lvl="1"/>
            <a:r>
              <a:rPr lang="en-US" sz="1800" dirty="0"/>
              <a:t>Distance from 2 to 3.5 is 1.5. Squared = 2.25.</a:t>
            </a:r>
          </a:p>
          <a:p>
            <a:pPr lvl="1"/>
            <a:r>
              <a:rPr lang="en-US" sz="1800" dirty="0"/>
              <a:t>Distance from 5 to 3.5 is 1.5. Squared = 2.25.</a:t>
            </a:r>
          </a:p>
          <a:p>
            <a:pPr lvl="1"/>
            <a:r>
              <a:rPr lang="en-US" sz="1800" i="1" dirty="0"/>
              <a:t>Total WCSS for this merge = 2.25 + 2.25 =</a:t>
            </a:r>
            <a:r>
              <a:rPr lang="en-US" sz="1800" dirty="0"/>
              <a:t> </a:t>
            </a:r>
            <a:r>
              <a:rPr lang="en-US" sz="1800" b="1" dirty="0"/>
              <a:t>4.5</a:t>
            </a:r>
            <a:endParaRPr lang="en-US" sz="1800" dirty="0"/>
          </a:p>
          <a:p>
            <a:endParaRPr lang="en-US" sz="1800" dirty="0"/>
          </a:p>
          <a:p>
            <a:r>
              <a:rPr lang="en-US" sz="1800" b="1" dirty="0"/>
              <a:t>Scenario 2: What if we merge A (2) and C (6)?</a:t>
            </a:r>
          </a:p>
          <a:p>
            <a:r>
              <a:rPr lang="en-US" sz="1800" b="1" dirty="0"/>
              <a:t>The new center:</a:t>
            </a:r>
            <a:r>
              <a:rPr lang="en-US" sz="1800" dirty="0"/>
              <a:t> The average of 2 and 6 is </a:t>
            </a:r>
            <a:r>
              <a:rPr lang="en-US" sz="1800" b="1" dirty="0"/>
              <a:t>4</a:t>
            </a:r>
            <a:r>
              <a:rPr lang="en-US" sz="1800" dirty="0"/>
              <a:t>.</a:t>
            </a:r>
          </a:p>
          <a:p>
            <a:r>
              <a:rPr lang="en-US" sz="1800" b="1" dirty="0"/>
              <a:t>The spread (WCSS):</a:t>
            </a:r>
            <a:r>
              <a:rPr lang="en-US" sz="1800" dirty="0"/>
              <a:t> How far are A and C from 4?</a:t>
            </a:r>
          </a:p>
          <a:p>
            <a:pPr lvl="1"/>
            <a:r>
              <a:rPr lang="en-US" sz="1800" dirty="0"/>
              <a:t>Distance from 2 to 4 is 2. Squared = 4.</a:t>
            </a:r>
          </a:p>
          <a:p>
            <a:pPr lvl="1"/>
            <a:r>
              <a:rPr lang="en-US" sz="1800" dirty="0"/>
              <a:t>Distance from 6 to 4 is 2. Squared = 4.</a:t>
            </a:r>
          </a:p>
          <a:p>
            <a:pPr lvl="1"/>
            <a:r>
              <a:rPr lang="en-US" sz="1800" i="1" dirty="0"/>
              <a:t>Total WCSS for this merge = 4 + 4 =</a:t>
            </a:r>
            <a:r>
              <a:rPr lang="en-US" sz="1800" dirty="0"/>
              <a:t> </a:t>
            </a:r>
            <a:r>
              <a:rPr lang="en-US" sz="1800" b="1" dirty="0"/>
              <a:t>8.0</a:t>
            </a:r>
            <a:endParaRPr lang="en-US" sz="1800" dirty="0"/>
          </a:p>
          <a:p>
            <a:endParaRPr lang="en-US" dirty="0"/>
          </a:p>
        </p:txBody>
      </p:sp>
      <p:sp>
        <p:nvSpPr>
          <p:cNvPr id="4" name="Content Placeholder 2">
            <a:extLst>
              <a:ext uri="{FF2B5EF4-FFF2-40B4-BE49-F238E27FC236}">
                <a16:creationId xmlns:a16="http://schemas.microsoft.com/office/drawing/2014/main" id="{8D5AF88E-F41B-4EEB-386D-8A1C0F87918A}"/>
              </a:ext>
            </a:extLst>
          </p:cNvPr>
          <p:cNvSpPr txBox="1">
            <a:spLocks/>
          </p:cNvSpPr>
          <p:nvPr/>
        </p:nvSpPr>
        <p:spPr>
          <a:xfrm>
            <a:off x="6201508" y="322749"/>
            <a:ext cx="5793031" cy="4554049"/>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latin typeface="+mn-lt"/>
              </a:rPr>
              <a:t>Scenario 3: What if we merge B (5) and C (6)?</a:t>
            </a:r>
          </a:p>
          <a:p>
            <a:r>
              <a:rPr lang="en-US" sz="1800" dirty="0">
                <a:latin typeface="+mn-lt"/>
              </a:rPr>
              <a:t>The new center: The average of 5 and 6 is 5.5.</a:t>
            </a:r>
          </a:p>
          <a:p>
            <a:r>
              <a:rPr lang="en-US" sz="1800" dirty="0">
                <a:latin typeface="+mn-lt"/>
              </a:rPr>
              <a:t>The spread (WCSS): How far are B and C from 5.5?</a:t>
            </a:r>
          </a:p>
          <a:p>
            <a:pPr lvl="1"/>
            <a:r>
              <a:rPr lang="en-US" sz="1800" dirty="0">
                <a:latin typeface="+mn-lt"/>
              </a:rPr>
              <a:t>Distance from 5 to 5.5 is 0.5. Squared = 0.25.</a:t>
            </a:r>
          </a:p>
          <a:p>
            <a:pPr lvl="1"/>
            <a:r>
              <a:rPr lang="en-US" sz="1800" dirty="0">
                <a:latin typeface="+mn-lt"/>
              </a:rPr>
              <a:t>Distance from 6 to 5.5 is 0.5. Squared = 0.25.</a:t>
            </a:r>
          </a:p>
          <a:p>
            <a:pPr lvl="1"/>
            <a:r>
              <a:rPr lang="en-US" sz="1800" i="1" dirty="0">
                <a:latin typeface="+mn-lt"/>
              </a:rPr>
              <a:t>Total WCSS for this merge = 0.25 + 0.25 =</a:t>
            </a:r>
            <a:r>
              <a:rPr lang="en-US" sz="1800" dirty="0">
                <a:latin typeface="+mn-lt"/>
              </a:rPr>
              <a:t> 0.5</a:t>
            </a:r>
          </a:p>
          <a:p>
            <a:endParaRPr lang="en-US" dirty="0"/>
          </a:p>
        </p:txBody>
      </p:sp>
      <p:sp>
        <p:nvSpPr>
          <p:cNvPr id="5" name="Content Placeholder 2">
            <a:extLst>
              <a:ext uri="{FF2B5EF4-FFF2-40B4-BE49-F238E27FC236}">
                <a16:creationId xmlns:a16="http://schemas.microsoft.com/office/drawing/2014/main" id="{1F66DC3B-0A0B-0DCB-5BC4-ACD4DE3F1A5B}"/>
              </a:ext>
            </a:extLst>
          </p:cNvPr>
          <p:cNvSpPr txBox="1">
            <a:spLocks/>
          </p:cNvSpPr>
          <p:nvPr/>
        </p:nvSpPr>
        <p:spPr>
          <a:xfrm>
            <a:off x="6399885" y="2699936"/>
            <a:ext cx="5665908" cy="529157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Ward's method looks at the results of these three hypothetical scenarios:</a:t>
            </a:r>
          </a:p>
          <a:p>
            <a:r>
              <a:rPr lang="en-US" dirty="0"/>
              <a:t>Merging A &amp; B increases WCSS by 4.5</a:t>
            </a:r>
          </a:p>
          <a:p>
            <a:r>
              <a:rPr lang="en-US" dirty="0"/>
              <a:t>Merging A &amp; C increases WCSS by 8.0</a:t>
            </a:r>
          </a:p>
          <a:p>
            <a:r>
              <a:rPr lang="en-US" b="1" dirty="0"/>
              <a:t>Merging B &amp; C increases WCSS by only 0.5</a:t>
            </a:r>
            <a:endParaRPr lang="en-US" dirty="0"/>
          </a:p>
          <a:p>
            <a:r>
              <a:rPr lang="en-US" dirty="0"/>
              <a:t>Because Ward's method strictly wants to keep clusters as tight and compact as possible, it chooses the merge that adds the least amount of variance. </a:t>
            </a:r>
            <a:r>
              <a:rPr lang="en-US" b="1" dirty="0"/>
              <a:t>Therefore, it merges points B and C first.</a:t>
            </a:r>
            <a:r>
              <a:rPr lang="en-US" dirty="0"/>
              <a:t> </a:t>
            </a:r>
          </a:p>
          <a:p>
            <a:endParaRPr lang="en-US" dirty="0"/>
          </a:p>
        </p:txBody>
      </p:sp>
    </p:spTree>
    <p:extLst>
      <p:ext uri="{BB962C8B-B14F-4D97-AF65-F5344CB8AC3E}">
        <p14:creationId xmlns:p14="http://schemas.microsoft.com/office/powerpoint/2010/main" val="3895705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2C814-5C50-72FE-8663-582A066858B5}"/>
              </a:ext>
            </a:extLst>
          </p:cNvPr>
          <p:cNvSpPr>
            <a:spLocks noGrp="1"/>
          </p:cNvSpPr>
          <p:nvPr>
            <p:ph type="title"/>
          </p:nvPr>
        </p:nvSpPr>
        <p:spPr/>
        <p:txBody>
          <a:bodyPr/>
          <a:lstStyle/>
          <a:p>
            <a:r>
              <a:rPr lang="en-US" dirty="0">
                <a:latin typeface="+mj-lt"/>
              </a:rPr>
              <a:t>Pros and cons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EB8558-B92A-51A9-ABA0-CC82E7E08F08}"/>
                  </a:ext>
                </a:extLst>
              </p:cNvPr>
              <p:cNvSpPr>
                <a:spLocks noGrp="1"/>
              </p:cNvSpPr>
              <p:nvPr>
                <p:ph sz="quarter" idx="13"/>
              </p:nvPr>
            </p:nvSpPr>
            <p:spPr/>
            <p:txBody>
              <a:bodyPr/>
              <a:lstStyle/>
              <a:p>
                <a:r>
                  <a:rPr lang="en-US" sz="2400" b="1" dirty="0">
                    <a:latin typeface="+mn-lt"/>
                  </a:rPr>
                  <a:t>Pros: </a:t>
                </a:r>
              </a:p>
              <a:p>
                <a:pPr lvl="1"/>
                <a:r>
                  <a:rPr lang="en-US" sz="2400" dirty="0">
                    <a:latin typeface="+mn-lt"/>
                  </a:rPr>
                  <a:t>Do not need to pre-define the number of clusters. </a:t>
                </a:r>
              </a:p>
              <a:p>
                <a:pPr lvl="1"/>
                <a:r>
                  <a:rPr lang="en-US" sz="2400" dirty="0">
                    <a:latin typeface="+mn-lt"/>
                  </a:rPr>
                  <a:t>The dendrogram provides an incredible visual explanation of the data's structure. It is deterministic (unlike standard K-Means, it gives the exact same result every time).</a:t>
                </a:r>
              </a:p>
              <a:p>
                <a:pPr marL="0" indent="0">
                  <a:buNone/>
                </a:pPr>
                <a:endParaRPr lang="en-US" sz="2400" dirty="0">
                  <a:latin typeface="+mn-lt"/>
                </a:endParaRPr>
              </a:p>
              <a:p>
                <a:r>
                  <a:rPr lang="en-US" sz="2400" b="1" dirty="0">
                    <a:latin typeface="+mn-lt"/>
                  </a:rPr>
                  <a:t>Cons: </a:t>
                </a:r>
              </a:p>
              <a:p>
                <a:pPr lvl="1"/>
                <a:r>
                  <a:rPr lang="en-US" sz="2400" dirty="0">
                    <a:latin typeface="+mn-lt"/>
                  </a:rPr>
                  <a:t>It is computationally very expensive.</a:t>
                </a:r>
              </a:p>
              <a:p>
                <a:pPr lvl="1"/>
                <a:r>
                  <a:rPr lang="en-US" sz="2400" dirty="0">
                    <a:latin typeface="+mn-lt"/>
                  </a:rPr>
                  <a:t>A time complexity of roughly</a:t>
                </a:r>
                <a14:m>
                  <m:oMath xmlns:m="http://schemas.openxmlformats.org/officeDocument/2006/math">
                    <m:r>
                      <a:rPr lang="en-US" sz="2400" i="1" dirty="0" smtClean="0">
                        <a:latin typeface="+mn-lt"/>
                      </a:rPr>
                      <m:t> </m:t>
                    </m:r>
                    <m:r>
                      <a:rPr lang="en-US" sz="2400" i="1" dirty="0" smtClean="0">
                        <a:latin typeface="+mn-lt"/>
                      </a:rPr>
                      <m:t>𝑂</m:t>
                    </m:r>
                    <m:r>
                      <a:rPr lang="en-US" sz="2400" i="1" dirty="0">
                        <a:latin typeface="+mn-lt"/>
                      </a:rPr>
                      <m:t>(</m:t>
                    </m:r>
                    <m:sSup>
                      <m:sSupPr>
                        <m:ctrlPr>
                          <a:rPr lang="en-US" sz="2400" i="1" dirty="0" smtClean="0">
                            <a:latin typeface="+mn-lt"/>
                          </a:rPr>
                        </m:ctrlPr>
                      </m:sSupPr>
                      <m:e>
                        <m:r>
                          <a:rPr lang="en-US" sz="2400" i="1" dirty="0">
                            <a:latin typeface="+mn-lt"/>
                          </a:rPr>
                          <m:t>𝑁</m:t>
                        </m:r>
                      </m:e>
                      <m:sup>
                        <m:r>
                          <a:rPr lang="en-US" sz="2400" i="1" dirty="0">
                            <a:latin typeface="+mn-lt"/>
                          </a:rPr>
                          <m:t>3</m:t>
                        </m:r>
                      </m:sup>
                    </m:sSup>
                    <m:r>
                      <a:rPr lang="en-US" sz="2400" i="1" dirty="0" smtClean="0">
                        <a:latin typeface="+mn-lt"/>
                      </a:rPr>
                      <m:t>) </m:t>
                    </m:r>
                  </m:oMath>
                </a14:m>
                <a:r>
                  <a:rPr lang="en-US" sz="2400" dirty="0">
                    <a:latin typeface="+mn-lt"/>
                  </a:rPr>
                  <a:t>or </a:t>
                </a:r>
                <a14:m>
                  <m:oMath xmlns:m="http://schemas.openxmlformats.org/officeDocument/2006/math">
                    <m:r>
                      <a:rPr lang="en-US" sz="2400" i="1" dirty="0" smtClean="0">
                        <a:latin typeface="+mn-lt"/>
                      </a:rPr>
                      <m:t>𝑂</m:t>
                    </m:r>
                    <m:d>
                      <m:dPr>
                        <m:ctrlPr>
                          <a:rPr lang="en-US" sz="2400" i="1" dirty="0" smtClean="0">
                            <a:latin typeface="+mn-lt"/>
                          </a:rPr>
                        </m:ctrlPr>
                      </m:dPr>
                      <m:e>
                        <m:sSup>
                          <m:sSupPr>
                            <m:ctrlPr>
                              <a:rPr lang="en-US" sz="2400" i="1" dirty="0" smtClean="0">
                                <a:latin typeface="+mn-lt"/>
                              </a:rPr>
                            </m:ctrlPr>
                          </m:sSupPr>
                          <m:e>
                            <m:r>
                              <a:rPr lang="en-US" sz="2400" i="1" dirty="0">
                                <a:latin typeface="+mn-lt"/>
                              </a:rPr>
                              <m:t>𝑁</m:t>
                            </m:r>
                          </m:e>
                          <m:sup>
                            <m:r>
                              <a:rPr lang="en-US" sz="2400" i="1" dirty="0">
                                <a:latin typeface="+mn-lt"/>
                              </a:rPr>
                              <m:t>2</m:t>
                            </m:r>
                          </m:sup>
                        </m:sSup>
                        <m:r>
                          <a:rPr lang="en-US" sz="2400" i="1" dirty="0">
                            <a:latin typeface="+mn-lt"/>
                          </a:rPr>
                          <m:t> </m:t>
                        </m:r>
                        <m:r>
                          <m:rPr>
                            <m:sty m:val="p"/>
                          </m:rPr>
                          <a:rPr lang="en-US" sz="2400" i="1" dirty="0">
                            <a:latin typeface="+mn-lt"/>
                          </a:rPr>
                          <m:t>log</m:t>
                        </m:r>
                        <m:r>
                          <a:rPr lang="en-US" sz="2400" i="1" dirty="0">
                            <a:latin typeface="+mn-lt"/>
                          </a:rPr>
                          <m:t> </m:t>
                        </m:r>
                        <m:r>
                          <a:rPr lang="en-US" sz="2400" i="1" dirty="0">
                            <a:latin typeface="+mn-lt"/>
                          </a:rPr>
                          <m:t>𝑁</m:t>
                        </m:r>
                      </m:e>
                    </m:d>
                    <m:r>
                      <a:rPr lang="en-US" sz="2400" i="1" dirty="0" smtClean="0">
                        <a:latin typeface="+mn-lt"/>
                      </a:rPr>
                      <m:t>, </m:t>
                    </m:r>
                  </m:oMath>
                </a14:m>
                <a:endParaRPr lang="sv-SE" sz="2400" dirty="0">
                  <a:latin typeface="+mn-lt"/>
                </a:endParaRPr>
              </a:p>
              <a:p>
                <a:pPr lvl="1"/>
                <a:r>
                  <a:rPr lang="en-US" sz="2400" dirty="0">
                    <a:latin typeface="+mn-lt"/>
                  </a:rPr>
                  <a:t>Making it incredibly slow and memory-heavy for large datasets</a:t>
                </a:r>
              </a:p>
            </p:txBody>
          </p:sp>
        </mc:Choice>
        <mc:Fallback>
          <p:sp>
            <p:nvSpPr>
              <p:cNvPr id="3" name="Content Placeholder 2">
                <a:extLst>
                  <a:ext uri="{FF2B5EF4-FFF2-40B4-BE49-F238E27FC236}">
                    <a16:creationId xmlns:a16="http://schemas.microsoft.com/office/drawing/2014/main" id="{F7EB8558-B92A-51A9-ABA0-CC82E7E08F08}"/>
                  </a:ext>
                </a:extLst>
              </p:cNvPr>
              <p:cNvSpPr>
                <a:spLocks noGrp="1" noRot="1" noChangeAspect="1" noMove="1" noResize="1" noEditPoints="1" noAdjustHandles="1" noChangeArrowheads="1" noChangeShapeType="1" noTextEdit="1"/>
              </p:cNvSpPr>
              <p:nvPr>
                <p:ph sz="quarter" idx="13"/>
              </p:nvPr>
            </p:nvSpPr>
            <p:spPr>
              <a:blipFill>
                <a:blip r:embed="rId2"/>
                <a:stretch>
                  <a:fillRect l="-803" t="-2679"/>
                </a:stretch>
              </a:blipFill>
            </p:spPr>
            <p:txBody>
              <a:bodyPr/>
              <a:lstStyle/>
              <a:p>
                <a:r>
                  <a:rPr lang="en-US">
                    <a:noFill/>
                  </a:rPr>
                  <a:t> </a:t>
                </a:r>
              </a:p>
            </p:txBody>
          </p:sp>
        </mc:Fallback>
      </mc:AlternateContent>
    </p:spTree>
    <p:extLst>
      <p:ext uri="{BB962C8B-B14F-4D97-AF65-F5344CB8AC3E}">
        <p14:creationId xmlns:p14="http://schemas.microsoft.com/office/powerpoint/2010/main" val="544438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79F0-B909-E04B-9EE8-3FEFE7AC0D58}"/>
              </a:ext>
            </a:extLst>
          </p:cNvPr>
          <p:cNvSpPr>
            <a:spLocks noGrp="1"/>
          </p:cNvSpPr>
          <p:nvPr>
            <p:ph type="title"/>
          </p:nvPr>
        </p:nvSpPr>
        <p:spPr>
          <a:xfrm>
            <a:off x="326415" y="122575"/>
            <a:ext cx="9472971" cy="716142"/>
          </a:xfrm>
        </p:spPr>
        <p:txBody>
          <a:bodyPr/>
          <a:lstStyle/>
          <a:p>
            <a:r>
              <a:rPr lang="en-US" dirty="0">
                <a:latin typeface="+mj-lt"/>
              </a:rPr>
              <a:t>Computation </a:t>
            </a:r>
            <a:br>
              <a:rPr lang="en-US" dirty="0">
                <a:latin typeface="+mj-lt"/>
              </a:rPr>
            </a:br>
            <a:r>
              <a:rPr lang="en-US" dirty="0">
                <a:latin typeface="+mj-lt"/>
              </a:rPr>
              <a:t>Complexity</a:t>
            </a:r>
          </a:p>
        </p:txBody>
      </p:sp>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5EA9A0CC-1A52-B74A-B7F1-C824F7809DC8}"/>
                  </a:ext>
                </a:extLst>
              </p:cNvPr>
              <p:cNvGraphicFramePr>
                <a:graphicFrameLocks noGrp="1"/>
              </p:cNvGraphicFramePr>
              <p:nvPr>
                <p:ph sz="quarter" idx="13"/>
                <p:extLst>
                  <p:ext uri="{D42A27DB-BD31-4B8C-83A1-F6EECF244321}">
                    <p14:modId xmlns:p14="http://schemas.microsoft.com/office/powerpoint/2010/main" val="2643912167"/>
                  </p:ext>
                </p:extLst>
              </p:nvPr>
            </p:nvGraphicFramePr>
            <p:xfrm>
              <a:off x="4325816" y="0"/>
              <a:ext cx="7748955" cy="4824599"/>
            </p:xfrm>
            <a:graphic>
              <a:graphicData uri="http://schemas.openxmlformats.org/drawingml/2006/table">
                <a:tbl>
                  <a:tblPr/>
                  <a:tblGrid>
                    <a:gridCol w="2582985">
                      <a:extLst>
                        <a:ext uri="{9D8B030D-6E8A-4147-A177-3AD203B41FA5}">
                          <a16:colId xmlns:a16="http://schemas.microsoft.com/office/drawing/2014/main" val="3514891950"/>
                        </a:ext>
                      </a:extLst>
                    </a:gridCol>
                    <a:gridCol w="2582985">
                      <a:extLst>
                        <a:ext uri="{9D8B030D-6E8A-4147-A177-3AD203B41FA5}">
                          <a16:colId xmlns:a16="http://schemas.microsoft.com/office/drawing/2014/main" val="2289025703"/>
                        </a:ext>
                      </a:extLst>
                    </a:gridCol>
                    <a:gridCol w="2582985">
                      <a:extLst>
                        <a:ext uri="{9D8B030D-6E8A-4147-A177-3AD203B41FA5}">
                          <a16:colId xmlns:a16="http://schemas.microsoft.com/office/drawing/2014/main" val="48325867"/>
                        </a:ext>
                      </a:extLst>
                    </a:gridCol>
                  </a:tblGrid>
                  <a:tr h="1345016">
                    <a:tc>
                      <a:txBody>
                        <a:bodyPr/>
                        <a:lstStyle/>
                        <a:p>
                          <a:pPr>
                            <a:buNone/>
                          </a:pPr>
                          <a:r>
                            <a:rPr lang="en-US" sz="2400" b="1" dirty="0">
                              <a:effectLst/>
                              <a:latin typeface="Google Sans Text"/>
                            </a:rPr>
                            <a:t>Algorithm</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400" b="1" dirty="0">
                              <a:effectLst/>
                              <a:latin typeface="Google Sans Text"/>
                            </a:rPr>
                            <a:t>Time Complexity (Worst Case)</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400" b="1">
                              <a:effectLst/>
                              <a:latin typeface="Google Sans Text"/>
                            </a:rPr>
                            <a:t>Space Complexity</a:t>
                          </a:r>
                          <a:endParaRPr lang="en-US" sz="240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07384267"/>
                      </a:ext>
                    </a:extLst>
                  </a:tr>
                  <a:tr h="917064">
                    <a:tc>
                      <a:txBody>
                        <a:bodyPr/>
                        <a:lstStyle/>
                        <a:p>
                          <a:pPr>
                            <a:buNone/>
                          </a:pPr>
                          <a:r>
                            <a:rPr lang="en-US" sz="2400" b="1" dirty="0">
                              <a:effectLst/>
                              <a:latin typeface="Google Sans Text"/>
                            </a:rPr>
                            <a:t>K-Means</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smtClean="0">
                                    <a:effectLst/>
                                    <a:latin typeface="Cambria Math" panose="02040503050406030204" pitchFamily="18" charset="0"/>
                                  </a:rPr>
                                  <m:t>(</m:t>
                                </m:r>
                                <m:r>
                                  <a:rPr lang="en-US" sz="2400" i="1" dirty="0" smtClean="0">
                                    <a:effectLst/>
                                    <a:latin typeface="Cambria Math" panose="02040503050406030204" pitchFamily="18" charset="0"/>
                                  </a:rPr>
                                  <m:t>𝑛</m:t>
                                </m:r>
                                <m:r>
                                  <a:rPr lang="en-US" sz="2400" i="1" dirty="0" smtClean="0">
                                    <a:effectLst/>
                                    <a:latin typeface="Cambria Math" panose="02040503050406030204" pitchFamily="18" charset="0"/>
                                  </a:rPr>
                                  <m:t>⋅ </m:t>
                                </m:r>
                                <m:r>
                                  <a:rPr lang="en-US" sz="2400" i="1" dirty="0">
                                    <a:effectLst/>
                                    <a:latin typeface="Cambria Math" panose="02040503050406030204" pitchFamily="18" charset="0"/>
                                  </a:rPr>
                                  <m:t>𝑘</m:t>
                                </m:r>
                                <m:r>
                                  <a:rPr lang="en-US" sz="2400" i="1" dirty="0" smtClean="0">
                                    <a:effectLst/>
                                    <a:latin typeface="Cambria Math" panose="02040503050406030204" pitchFamily="18" charset="0"/>
                                  </a:rPr>
                                  <m:t>⋅</m:t>
                                </m:r>
                                <m:r>
                                  <a:rPr lang="en-US" sz="2400" i="1" dirty="0">
                                    <a:effectLst/>
                                    <a:latin typeface="Cambria Math" panose="02040503050406030204" pitchFamily="18" charset="0"/>
                                  </a:rPr>
                                  <m:t> </m:t>
                                </m:r>
                                <m:r>
                                  <a:rPr lang="en-US" sz="2400" i="1" dirty="0" err="1">
                                    <a:effectLst/>
                                    <a:latin typeface="Cambria Math" panose="02040503050406030204" pitchFamily="18" charset="0"/>
                                  </a:rPr>
                                  <m:t>𝑖</m:t>
                                </m:r>
                                <m:r>
                                  <a:rPr lang="en-US" sz="2400" i="1" dirty="0" smtClean="0">
                                    <a:effectLst/>
                                    <a:latin typeface="Cambria Math" panose="02040503050406030204" pitchFamily="18" charset="0"/>
                                  </a:rPr>
                                  <m:t>⋅</m:t>
                                </m:r>
                                <m:r>
                                  <a:rPr lang="en-US" sz="2400" i="1" dirty="0">
                                    <a:effectLst/>
                                    <a:latin typeface="Cambria Math" panose="02040503050406030204" pitchFamily="18" charset="0"/>
                                  </a:rPr>
                                  <m:t> </m:t>
                                </m:r>
                                <m:r>
                                  <a:rPr lang="en-US" sz="2400" i="1" dirty="0">
                                    <a:effectLst/>
                                    <a:latin typeface="Cambria Math" panose="02040503050406030204" pitchFamily="18" charset="0"/>
                                  </a:rPr>
                                  <m:t>𝑑</m:t>
                                </m:r>
                                <m:r>
                                  <a:rPr lang="en-US" sz="2400" i="1" dirty="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sv-SE" sz="2400" b="0" i="1" dirty="0" smtClean="0">
                                    <a:effectLst/>
                                    <a:latin typeface="Cambria Math" panose="02040503050406030204" pitchFamily="18" charset="0"/>
                                  </a:rPr>
                                  <m:t> </m:t>
                                </m:r>
                                <m:r>
                                  <a:rPr lang="en-US" sz="2400" i="1" dirty="0" smtClean="0">
                                    <a:effectLst/>
                                    <a:latin typeface="Cambria Math" panose="02040503050406030204" pitchFamily="18" charset="0"/>
                                  </a:rPr>
                                  <m:t>𝑂</m:t>
                                </m:r>
                                <m:r>
                                  <a:rPr lang="en-US" sz="2400" i="1" dirty="0">
                                    <a:effectLst/>
                                    <a:latin typeface="Cambria Math" panose="02040503050406030204" pitchFamily="18" charset="0"/>
                                  </a:rPr>
                                  <m:t>(</m:t>
                                </m:r>
                                <m:r>
                                  <a:rPr lang="en-US" sz="2400" i="1" dirty="0">
                                    <a:effectLst/>
                                    <a:latin typeface="Cambria Math" panose="02040503050406030204" pitchFamily="18" charset="0"/>
                                  </a:rPr>
                                  <m:t>𝑛</m:t>
                                </m:r>
                                <m:r>
                                  <a:rPr lang="en-US" sz="2400" i="1" dirty="0" smtClean="0">
                                    <a:effectLst/>
                                    <a:latin typeface="Cambria Math" panose="02040503050406030204" pitchFamily="18" charset="0"/>
                                  </a:rPr>
                                  <m:t>⋅</m:t>
                                </m:r>
                                <m:r>
                                  <a:rPr lang="en-US" sz="2400" i="1" dirty="0">
                                    <a:effectLst/>
                                    <a:latin typeface="Cambria Math" panose="02040503050406030204" pitchFamily="18" charset="0"/>
                                  </a:rPr>
                                  <m:t> </m:t>
                                </m:r>
                                <m:r>
                                  <a:rPr lang="en-US" sz="2400" i="1" dirty="0">
                                    <a:effectLst/>
                                    <a:latin typeface="Cambria Math" panose="02040503050406030204" pitchFamily="18" charset="0"/>
                                  </a:rPr>
                                  <m:t>𝑑</m:t>
                                </m:r>
                                <m:r>
                                  <a:rPr lang="en-US" sz="2400" i="1" dirty="0">
                                    <a:effectLst/>
                                    <a:latin typeface="Cambria Math" panose="02040503050406030204" pitchFamily="18" charset="0"/>
                                  </a:rPr>
                                  <m:t> + </m:t>
                                </m:r>
                                <m:r>
                                  <a:rPr lang="en-US" sz="2400" i="1" dirty="0">
                                    <a:effectLst/>
                                    <a:latin typeface="Cambria Math" panose="02040503050406030204" pitchFamily="18" charset="0"/>
                                  </a:rPr>
                                  <m:t>𝑘</m:t>
                                </m:r>
                                <m:r>
                                  <a:rPr lang="en-US" sz="2400" i="1" dirty="0" smtClean="0">
                                    <a:effectLst/>
                                    <a:latin typeface="Cambria Math" panose="02040503050406030204" pitchFamily="18" charset="0"/>
                                  </a:rPr>
                                  <m:t>⋅</m:t>
                                </m:r>
                                <m:r>
                                  <a:rPr lang="en-US" sz="2400" i="1" dirty="0">
                                    <a:effectLst/>
                                    <a:latin typeface="Cambria Math" panose="02040503050406030204" pitchFamily="18" charset="0"/>
                                  </a:rPr>
                                  <m:t> </m:t>
                                </m:r>
                                <m:r>
                                  <a:rPr lang="en-US" sz="2400" i="1" dirty="0">
                                    <a:effectLst/>
                                    <a:latin typeface="Cambria Math" panose="02040503050406030204" pitchFamily="18" charset="0"/>
                                  </a:rPr>
                                  <m:t>𝑑</m:t>
                                </m:r>
                                <m:r>
                                  <a:rPr lang="en-US" sz="2400" i="1" dirty="0" smtClean="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7830988"/>
                      </a:ext>
                    </a:extLst>
                  </a:tr>
                  <a:tr h="709077">
                    <a:tc>
                      <a:txBody>
                        <a:bodyPr/>
                        <a:lstStyle/>
                        <a:p>
                          <a:pPr>
                            <a:buNone/>
                          </a:pPr>
                          <a:r>
                            <a:rPr lang="en-US" sz="2400" b="1" dirty="0">
                              <a:effectLst/>
                              <a:latin typeface="Google Sans Text"/>
                            </a:rPr>
                            <a:t>DBSCAN</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smtClean="0">
                                    <a:effectLst/>
                                    <a:latin typeface="Cambria Math" panose="02040503050406030204" pitchFamily="18" charset="0"/>
                                  </a:rPr>
                                  <m:t>(</m:t>
                                </m:r>
                                <m:sSup>
                                  <m:sSupPr>
                                    <m:ctrlPr>
                                      <a:rPr lang="en-US" sz="2400" i="1" dirty="0" smtClean="0">
                                        <a:effectLst/>
                                        <a:latin typeface="Cambria Math" panose="02040503050406030204" pitchFamily="18" charset="0"/>
                                      </a:rPr>
                                    </m:ctrlPr>
                                  </m:sSupPr>
                                  <m:e>
                                    <m:r>
                                      <a:rPr lang="en-US" sz="2400" i="1" dirty="0" smtClean="0">
                                        <a:effectLst/>
                                        <a:latin typeface="Cambria Math" panose="02040503050406030204" pitchFamily="18" charset="0"/>
                                      </a:rPr>
                                      <m:t>𝑛</m:t>
                                    </m:r>
                                  </m:e>
                                  <m:sup>
                                    <m:r>
                                      <a:rPr lang="sv-SE" sz="2400" b="0" i="1" dirty="0" smtClean="0">
                                        <a:effectLst/>
                                        <a:latin typeface="Cambria Math" panose="02040503050406030204" pitchFamily="18" charset="0"/>
                                      </a:rPr>
                                      <m:t>2</m:t>
                                    </m:r>
                                  </m:sup>
                                </m:sSup>
                                <m:r>
                                  <a:rPr lang="en-US" sz="2400" i="1" dirty="0" smtClean="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a:effectLst/>
                                    <a:latin typeface="Cambria Math" panose="02040503050406030204" pitchFamily="18" charset="0"/>
                                  </a:rPr>
                                  <m:t>(</m:t>
                                </m:r>
                                <m:r>
                                  <a:rPr lang="en-US" sz="2400" i="1" dirty="0">
                                    <a:effectLst/>
                                    <a:latin typeface="Cambria Math" panose="02040503050406030204" pitchFamily="18" charset="0"/>
                                  </a:rPr>
                                  <m:t>𝑛</m:t>
                                </m:r>
                                <m:r>
                                  <a:rPr lang="en-US" sz="2400" i="1" dirty="0" smtClean="0">
                                    <a:effectLst/>
                                    <a:latin typeface="Cambria Math" panose="02040503050406030204" pitchFamily="18" charset="0"/>
                                  </a:rPr>
                                  <m:t>⋅</m:t>
                                </m:r>
                                <m:r>
                                  <a:rPr lang="en-US" sz="2400" i="1" dirty="0">
                                    <a:effectLst/>
                                    <a:latin typeface="Cambria Math" panose="02040503050406030204" pitchFamily="18" charset="0"/>
                                  </a:rPr>
                                  <m:t> </m:t>
                                </m:r>
                                <m:r>
                                  <a:rPr lang="en-US" sz="2400" i="1" dirty="0">
                                    <a:effectLst/>
                                    <a:latin typeface="Cambria Math" panose="02040503050406030204" pitchFamily="18" charset="0"/>
                                  </a:rPr>
                                  <m:t>𝑑</m:t>
                                </m:r>
                                <m:r>
                                  <a:rPr lang="en-US" sz="2400" i="1" dirty="0" smtClean="0">
                                    <a:effectLst/>
                                    <a:latin typeface="Cambria Math" panose="02040503050406030204" pitchFamily="18" charset="0"/>
                                  </a:rPr>
                                  <m:t>)</m:t>
                                </m:r>
                              </m:oMath>
                            </m:oMathPara>
                          </a14:m>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40910372"/>
                      </a:ext>
                    </a:extLst>
                  </a:tr>
                  <a:tr h="926721">
                    <a:tc>
                      <a:txBody>
                        <a:bodyPr/>
                        <a:lstStyle/>
                        <a:p>
                          <a:pPr>
                            <a:buNone/>
                          </a:pPr>
                          <a:r>
                            <a:rPr lang="en-US" sz="2400" b="1" dirty="0">
                              <a:effectLst/>
                              <a:latin typeface="Google Sans Text"/>
                            </a:rPr>
                            <a:t>Agglomerative (Bottom-Up)</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smtClean="0">
                                    <a:effectLst/>
                                    <a:latin typeface="Cambria Math" panose="02040503050406030204" pitchFamily="18" charset="0"/>
                                  </a:rPr>
                                  <m:t>(</m:t>
                                </m:r>
                                <m:sSup>
                                  <m:sSupPr>
                                    <m:ctrlPr>
                                      <a:rPr lang="en-US" sz="2400" i="1" dirty="0" smtClean="0">
                                        <a:effectLst/>
                                        <a:latin typeface="Cambria Math" panose="02040503050406030204" pitchFamily="18" charset="0"/>
                                      </a:rPr>
                                    </m:ctrlPr>
                                  </m:sSupPr>
                                  <m:e>
                                    <m:r>
                                      <a:rPr lang="en-US" sz="2400" i="1" dirty="0" smtClean="0">
                                        <a:effectLst/>
                                        <a:latin typeface="Cambria Math" panose="02040503050406030204" pitchFamily="18" charset="0"/>
                                      </a:rPr>
                                      <m:t>𝑛</m:t>
                                    </m:r>
                                  </m:e>
                                  <m:sup>
                                    <m:r>
                                      <a:rPr lang="en-US" sz="2400" i="1" dirty="0" smtClean="0">
                                        <a:effectLst/>
                                        <a:latin typeface="Cambria Math" panose="02040503050406030204" pitchFamily="18" charset="0"/>
                                      </a:rPr>
                                      <m:t>3</m:t>
                                    </m:r>
                                  </m:sup>
                                </m:sSup>
                                <m:r>
                                  <a:rPr lang="en-US" sz="2400" i="1" dirty="0" smtClean="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a:effectLst/>
                                    <a:latin typeface="Cambria Math" panose="02040503050406030204" pitchFamily="18" charset="0"/>
                                  </a:rPr>
                                  <m:t>(</m:t>
                                </m:r>
                                <m:sSup>
                                  <m:sSupPr>
                                    <m:ctrlPr>
                                      <a:rPr lang="en-US" sz="2400" i="1" dirty="0" smtClean="0">
                                        <a:effectLst/>
                                        <a:latin typeface="Cambria Math" panose="02040503050406030204" pitchFamily="18" charset="0"/>
                                      </a:rPr>
                                    </m:ctrlPr>
                                  </m:sSupPr>
                                  <m:e>
                                    <m:r>
                                      <a:rPr lang="en-US" sz="2400" i="1" dirty="0">
                                        <a:effectLst/>
                                        <a:latin typeface="Cambria Math" panose="02040503050406030204" pitchFamily="18" charset="0"/>
                                      </a:rPr>
                                      <m:t>𝑛</m:t>
                                    </m:r>
                                  </m:e>
                                  <m:sup>
                                    <m:r>
                                      <a:rPr lang="en-US" sz="2400" i="1" dirty="0">
                                        <a:effectLst/>
                                        <a:latin typeface="Cambria Math" panose="02040503050406030204" pitchFamily="18" charset="0"/>
                                      </a:rPr>
                                      <m:t>2</m:t>
                                    </m:r>
                                  </m:sup>
                                </m:sSup>
                                <m:r>
                                  <a:rPr lang="en-US" sz="2400" i="1" dirty="0" smtClean="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02732164"/>
                      </a:ext>
                    </a:extLst>
                  </a:tr>
                  <a:tr h="926721">
                    <a:tc>
                      <a:txBody>
                        <a:bodyPr/>
                        <a:lstStyle/>
                        <a:p>
                          <a:pPr>
                            <a:buNone/>
                          </a:pPr>
                          <a:r>
                            <a:rPr lang="en-US" sz="2400" b="1" dirty="0">
                              <a:effectLst/>
                              <a:latin typeface="Google Sans Text"/>
                            </a:rPr>
                            <a:t>Divisive (Top-Down)</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smtClean="0">
                                    <a:effectLst/>
                                    <a:latin typeface="Cambria Math" panose="02040503050406030204" pitchFamily="18" charset="0"/>
                                  </a:rPr>
                                  <m:t>(</m:t>
                                </m:r>
                                <m:sSup>
                                  <m:sSupPr>
                                    <m:ctrlPr>
                                      <a:rPr lang="en-US" sz="2400" i="1" dirty="0" smtClean="0">
                                        <a:effectLst/>
                                        <a:latin typeface="Cambria Math" panose="02040503050406030204" pitchFamily="18" charset="0"/>
                                      </a:rPr>
                                    </m:ctrlPr>
                                  </m:sSupPr>
                                  <m:e>
                                    <m:r>
                                      <a:rPr lang="en-US" sz="2400" i="1" dirty="0" smtClean="0">
                                        <a:effectLst/>
                                        <a:latin typeface="Cambria Math" panose="02040503050406030204" pitchFamily="18" charset="0"/>
                                      </a:rPr>
                                      <m:t>2</m:t>
                                    </m:r>
                                  </m:e>
                                  <m:sup>
                                    <m:r>
                                      <a:rPr lang="en-US" sz="2400" i="1" dirty="0" smtClean="0">
                                        <a:effectLst/>
                                        <a:latin typeface="Cambria Math" panose="02040503050406030204" pitchFamily="18" charset="0"/>
                                      </a:rPr>
                                      <m:t>𝑛</m:t>
                                    </m:r>
                                  </m:sup>
                                </m:sSup>
                                <m:r>
                                  <a:rPr lang="en-US" sz="2400" i="1" dirty="0" smtClean="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𝑂</m:t>
                                </m:r>
                                <m:r>
                                  <a:rPr lang="en-US" sz="2400" i="1" dirty="0">
                                    <a:effectLst/>
                                    <a:latin typeface="Cambria Math" panose="02040503050406030204" pitchFamily="18" charset="0"/>
                                  </a:rPr>
                                  <m:t>(</m:t>
                                </m:r>
                                <m:r>
                                  <a:rPr lang="en-US" sz="2400" i="1" dirty="0">
                                    <a:effectLst/>
                                    <a:latin typeface="Cambria Math" panose="02040503050406030204" pitchFamily="18" charset="0"/>
                                  </a:rPr>
                                  <m:t>𝑛</m:t>
                                </m:r>
                                <m:r>
                                  <a:rPr lang="en-US" sz="2400" i="1" dirty="0" smtClean="0">
                                    <a:effectLst/>
                                    <a:latin typeface="Cambria Math" panose="02040503050406030204" pitchFamily="18" charset="0"/>
                                  </a:rPr>
                                  <m:t>⋅</m:t>
                                </m:r>
                                <m:r>
                                  <a:rPr lang="en-US" sz="2400" i="1" dirty="0">
                                    <a:effectLst/>
                                    <a:latin typeface="Cambria Math" panose="02040503050406030204" pitchFamily="18" charset="0"/>
                                  </a:rPr>
                                  <m:t> </m:t>
                                </m:r>
                                <m:r>
                                  <a:rPr lang="en-US" sz="2400" i="1" dirty="0">
                                    <a:effectLst/>
                                    <a:latin typeface="Cambria Math" panose="02040503050406030204" pitchFamily="18" charset="0"/>
                                  </a:rPr>
                                  <m:t>𝑑</m:t>
                                </m:r>
                                <m:r>
                                  <a:rPr lang="en-US" sz="2400" i="1" dirty="0" smtClean="0">
                                    <a:effectLst/>
                                    <a:latin typeface="Cambria Math" panose="02040503050406030204" pitchFamily="18" charset="0"/>
                                  </a:rPr>
                                  <m:t>)</m:t>
                                </m:r>
                              </m:oMath>
                            </m:oMathPara>
                          </a14:m>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04167485"/>
                      </a:ext>
                    </a:extLst>
                  </a:tr>
                </a:tbl>
              </a:graphicData>
            </a:graphic>
          </p:graphicFrame>
        </mc:Choice>
        <mc:Fallback>
          <p:graphicFrame>
            <p:nvGraphicFramePr>
              <p:cNvPr id="4" name="Content Placeholder 3">
                <a:extLst>
                  <a:ext uri="{FF2B5EF4-FFF2-40B4-BE49-F238E27FC236}">
                    <a16:creationId xmlns:a16="http://schemas.microsoft.com/office/drawing/2014/main" id="{5EA9A0CC-1A52-B74A-B7F1-C824F7809DC8}"/>
                  </a:ext>
                </a:extLst>
              </p:cNvPr>
              <p:cNvGraphicFramePr>
                <a:graphicFrameLocks noGrp="1"/>
              </p:cNvGraphicFramePr>
              <p:nvPr>
                <p:ph sz="quarter" idx="13"/>
                <p:extLst>
                  <p:ext uri="{D42A27DB-BD31-4B8C-83A1-F6EECF244321}">
                    <p14:modId xmlns:p14="http://schemas.microsoft.com/office/powerpoint/2010/main" val="2643912167"/>
                  </p:ext>
                </p:extLst>
              </p:nvPr>
            </p:nvGraphicFramePr>
            <p:xfrm>
              <a:off x="4325816" y="0"/>
              <a:ext cx="7748955" cy="4824599"/>
            </p:xfrm>
            <a:graphic>
              <a:graphicData uri="http://schemas.openxmlformats.org/drawingml/2006/table">
                <a:tbl>
                  <a:tblPr/>
                  <a:tblGrid>
                    <a:gridCol w="2582985">
                      <a:extLst>
                        <a:ext uri="{9D8B030D-6E8A-4147-A177-3AD203B41FA5}">
                          <a16:colId xmlns:a16="http://schemas.microsoft.com/office/drawing/2014/main" val="3514891950"/>
                        </a:ext>
                      </a:extLst>
                    </a:gridCol>
                    <a:gridCol w="2582985">
                      <a:extLst>
                        <a:ext uri="{9D8B030D-6E8A-4147-A177-3AD203B41FA5}">
                          <a16:colId xmlns:a16="http://schemas.microsoft.com/office/drawing/2014/main" val="2289025703"/>
                        </a:ext>
                      </a:extLst>
                    </a:gridCol>
                    <a:gridCol w="2582985">
                      <a:extLst>
                        <a:ext uri="{9D8B030D-6E8A-4147-A177-3AD203B41FA5}">
                          <a16:colId xmlns:a16="http://schemas.microsoft.com/office/drawing/2014/main" val="48325867"/>
                        </a:ext>
                      </a:extLst>
                    </a:gridCol>
                  </a:tblGrid>
                  <a:tr h="1345016">
                    <a:tc>
                      <a:txBody>
                        <a:bodyPr/>
                        <a:lstStyle/>
                        <a:p>
                          <a:pPr>
                            <a:buNone/>
                          </a:pPr>
                          <a:r>
                            <a:rPr lang="en-US" sz="2400" b="1" dirty="0">
                              <a:effectLst/>
                              <a:latin typeface="Google Sans Text"/>
                            </a:rPr>
                            <a:t>Algorithm</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400" b="1" dirty="0">
                              <a:effectLst/>
                              <a:latin typeface="Google Sans Text"/>
                            </a:rPr>
                            <a:t>Time Complexity (Worst Case)</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400" b="1">
                              <a:effectLst/>
                              <a:latin typeface="Google Sans Text"/>
                            </a:rPr>
                            <a:t>Space Complexity</a:t>
                          </a:r>
                          <a:endParaRPr lang="en-US" sz="240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07384267"/>
                      </a:ext>
                    </a:extLst>
                  </a:tr>
                  <a:tr h="917064">
                    <a:tc>
                      <a:txBody>
                        <a:bodyPr/>
                        <a:lstStyle/>
                        <a:p>
                          <a:pPr>
                            <a:buNone/>
                          </a:pPr>
                          <a:r>
                            <a:rPr lang="en-US" sz="2400" b="1" dirty="0">
                              <a:effectLst/>
                              <a:latin typeface="Google Sans Text"/>
                            </a:rPr>
                            <a:t>K-Means</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100985" t="-148611" r="-100985" b="-290278"/>
                          </a:stretch>
                        </a:blip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200000" t="-148611" r="-490" b="-290278"/>
                          </a:stretch>
                        </a:blipFill>
                      </a:tcPr>
                    </a:tc>
                    <a:extLst>
                      <a:ext uri="{0D108BD9-81ED-4DB2-BD59-A6C34878D82A}">
                        <a16:rowId xmlns:a16="http://schemas.microsoft.com/office/drawing/2014/main" val="3787830988"/>
                      </a:ext>
                    </a:extLst>
                  </a:tr>
                  <a:tr h="709077">
                    <a:tc>
                      <a:txBody>
                        <a:bodyPr/>
                        <a:lstStyle/>
                        <a:p>
                          <a:pPr>
                            <a:buNone/>
                          </a:pPr>
                          <a:r>
                            <a:rPr lang="en-US" sz="2400" b="1" dirty="0">
                              <a:effectLst/>
                              <a:latin typeface="Google Sans Text"/>
                            </a:rPr>
                            <a:t>DBSCAN</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100985" t="-319643" r="-100985" b="-273214"/>
                          </a:stretch>
                        </a:blip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200000" t="-319643" r="-490" b="-273214"/>
                          </a:stretch>
                        </a:blipFill>
                      </a:tcPr>
                    </a:tc>
                    <a:extLst>
                      <a:ext uri="{0D108BD9-81ED-4DB2-BD59-A6C34878D82A}">
                        <a16:rowId xmlns:a16="http://schemas.microsoft.com/office/drawing/2014/main" val="1640910372"/>
                      </a:ext>
                    </a:extLst>
                  </a:tr>
                  <a:tr h="926721">
                    <a:tc>
                      <a:txBody>
                        <a:bodyPr/>
                        <a:lstStyle/>
                        <a:p>
                          <a:pPr>
                            <a:buNone/>
                          </a:pPr>
                          <a:r>
                            <a:rPr lang="en-US" sz="2400" b="1" dirty="0">
                              <a:effectLst/>
                              <a:latin typeface="Google Sans Text"/>
                            </a:rPr>
                            <a:t>Agglomerative (Bottom-Up)</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100985" t="-321918" r="-100985" b="-109589"/>
                          </a:stretch>
                        </a:blip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200000" t="-321918" r="-490" b="-109589"/>
                          </a:stretch>
                        </a:blipFill>
                      </a:tcPr>
                    </a:tc>
                    <a:extLst>
                      <a:ext uri="{0D108BD9-81ED-4DB2-BD59-A6C34878D82A}">
                        <a16:rowId xmlns:a16="http://schemas.microsoft.com/office/drawing/2014/main" val="1602732164"/>
                      </a:ext>
                    </a:extLst>
                  </a:tr>
                  <a:tr h="926721">
                    <a:tc>
                      <a:txBody>
                        <a:bodyPr/>
                        <a:lstStyle/>
                        <a:p>
                          <a:pPr>
                            <a:buNone/>
                          </a:pPr>
                          <a:r>
                            <a:rPr lang="en-US" sz="2400" b="1" dirty="0">
                              <a:effectLst/>
                              <a:latin typeface="Google Sans Text"/>
                            </a:rPr>
                            <a:t>Divisive (Top-Down)</a:t>
                          </a:r>
                          <a:endParaRPr lang="en-US" sz="2400" dirty="0">
                            <a:effectLst/>
                            <a:latin typeface="Google Sans Text"/>
                          </a:endParaRPr>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100985" t="-421918" r="-100985" b="-9589"/>
                          </a:stretch>
                        </a:blipFill>
                      </a:tcPr>
                    </a:tc>
                    <a:tc>
                      <a:txBody>
                        <a:bodyPr/>
                        <a:lstStyle/>
                        <a:p>
                          <a:endParaRPr lang="en-US"/>
                        </a:p>
                      </a:txBody>
                      <a:tcPr marL="78813" marR="78813" marT="39406" marB="39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2"/>
                          <a:stretch>
                            <a:fillRect l="-200000" t="-421918" r="-490" b="-9589"/>
                          </a:stretch>
                        </a:blipFill>
                      </a:tcPr>
                    </a:tc>
                    <a:extLst>
                      <a:ext uri="{0D108BD9-81ED-4DB2-BD59-A6C34878D82A}">
                        <a16:rowId xmlns:a16="http://schemas.microsoft.com/office/drawing/2014/main" val="2704167485"/>
                      </a:ext>
                    </a:extLst>
                  </a:tr>
                </a:tbl>
              </a:graphicData>
            </a:graphic>
          </p:graphicFrame>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D838014-B3BF-27DA-CAF4-D9EA90915FD5}"/>
                  </a:ext>
                </a:extLst>
              </p:cNvPr>
              <p:cNvSpPr txBox="1"/>
              <p:nvPr/>
            </p:nvSpPr>
            <p:spPr>
              <a:xfrm>
                <a:off x="326415" y="2283097"/>
                <a:ext cx="3999401" cy="2215991"/>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14:m/>
              </a:p>
              <a:p>
                <a:pPr marL="342900" indent="-342900" eaLnBrk="0" fontAlgn="base" hangingPunct="0">
                  <a:lnSpc>
                    <a:spcPct val="150000"/>
                  </a:lnSpc>
                  <a:spcBef>
                    <a:spcPct val="0"/>
                  </a:spcBef>
                  <a:spcAft>
                    <a:spcPct val="0"/>
                  </a:spcAft>
                  <a:buFont typeface="Arial" panose="020B0604020202020204" pitchFamily="34" charset="0"/>
                  <a:buChar char="•"/>
                </a:pPr>
                <a:endParaRPr lang="sv-SE" altLang="en-US" sz="2000" i="1" dirty="0">
                  <a:latin typeface="Cambria Math" panose="02040503050406030204" pitchFamily="18" charset="0"/>
                </a:endParaRPr>
              </a:p>
              <a:p>
                <a:pPr marL="342900" indent="-342900" eaLnBrk="0" fontAlgn="base" hangingPunct="0">
                  <a:lnSpc>
                    <a:spcPct val="150000"/>
                  </a:lnSpc>
                  <a:spcBef>
                    <a:spcPct val="0"/>
                  </a:spcBef>
                  <a:spcAft>
                    <a:spcPct val="0"/>
                  </a:spcAft>
                  <a:buFont typeface="Arial" panose="020B0604020202020204" pitchFamily="34" charset="0"/>
                  <a:buChar char="•"/>
                </a:pPr>
                <a14:m/>
              </a:p>
              <a:p>
                <a:pPr marL="342900" indent="-342900" eaLnBrk="0" fontAlgn="base" hangingPunct="0">
                  <a:lnSpc>
                    <a:spcPct val="150000"/>
                  </a:lnSpc>
                  <a:spcBef>
                    <a:spcPct val="0"/>
                  </a:spcBef>
                  <a:spcAft>
                    <a:spcPct val="0"/>
                  </a:spcAft>
                  <a:buFont typeface="Arial" panose="020B0604020202020204" pitchFamily="34" charset="0"/>
                  <a:buChar char="•"/>
                </a:pPr>
              </a:p>
              <a:p>
                <a:pPr lvl="0" eaLnBrk="0" fontAlgn="base" hangingPunct="0">
                  <a:spcBef>
                    <a:spcPct val="0"/>
                  </a:spcBef>
                  <a:spcAft>
                    <a:spcPct val="0"/>
                  </a:spcAft>
                  <a:buFontTx/>
                  <a:buChar char="•"/>
                </a:pPr>
                <a:endParaRPr lang="en-US" altLang="en-US" dirty="0">
                  <a:latin typeface="Google Sans Text"/>
                </a:endParaRPr>
              </a:p>
            </p:txBody>
          </p:sp>
        </mc:Choice>
        <mc:Fallback>
          <p:sp>
            <p:nvSpPr>
              <p:cNvPr id="7" name="TextBox 6">
                <a:extLst>
                  <a:ext uri="{FF2B5EF4-FFF2-40B4-BE49-F238E27FC236}">
                    <a16:creationId xmlns:a16="http://schemas.microsoft.com/office/drawing/2014/main" id="{AD838014-B3BF-27DA-CAF4-D9EA90915FD5}"/>
                  </a:ext>
                </a:extLst>
              </p:cNvPr>
              <p:cNvSpPr txBox="1">
                <a:spLocks noRot="1" noChangeAspect="1" noMove="1" noResize="1" noEditPoints="1" noAdjustHandles="1" noChangeArrowheads="1" noChangeShapeType="1" noTextEdit="1"/>
              </p:cNvSpPr>
              <p:nvPr/>
            </p:nvSpPr>
            <p:spPr>
              <a:xfrm>
                <a:off x="326415" y="2283097"/>
                <a:ext cx="3999401" cy="2215991"/>
              </a:xfrm>
              <a:prstGeom prst="rect">
                <a:avLst/>
              </a:prstGeom>
              <a:blipFill>
                <a:blip r:embed="rId3"/>
                <a:stretch>
                  <a:fillRect l="-1266"/>
                </a:stretch>
              </a:blipFill>
            </p:spPr>
            <p:txBody>
              <a:bodyPr/>
              <a:lstStyle/>
              <a:p>
                <a:r>
                  <a:rPr lang="en-US">
                    <a:noFill/>
                  </a:rPr>
                  <a:t> </a:t>
                </a:r>
              </a:p>
            </p:txBody>
          </p:sp>
        </mc:Fallback>
      </mc:AlternateContent>
    </p:spTree>
    <p:extLst>
      <p:ext uri="{BB962C8B-B14F-4D97-AF65-F5344CB8AC3E}">
        <p14:creationId xmlns:p14="http://schemas.microsoft.com/office/powerpoint/2010/main" val="536413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64A1-DA04-48DD-301C-E427943133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964DF8-234F-37D5-8A12-20D1DA670A0A}"/>
              </a:ext>
            </a:extLst>
          </p:cNvPr>
          <p:cNvSpPr>
            <a:spLocks noGrp="1"/>
          </p:cNvSpPr>
          <p:nvPr>
            <p:ph sz="quarter" idx="13"/>
          </p:nvPr>
        </p:nvSpPr>
        <p:spPr>
          <a:xfrm>
            <a:off x="4128655" y="3135421"/>
            <a:ext cx="3020289" cy="826979"/>
          </a:xfrm>
        </p:spPr>
        <p:txBody>
          <a:bodyPr/>
          <a:lstStyle/>
          <a:p>
            <a:pPr marL="0" indent="0">
              <a:buNone/>
            </a:pPr>
            <a:r>
              <a:rPr lang="en-US" sz="4000" dirty="0"/>
              <a:t>Hands-on</a:t>
            </a:r>
          </a:p>
        </p:txBody>
      </p:sp>
    </p:spTree>
    <p:extLst>
      <p:ext uri="{BB962C8B-B14F-4D97-AF65-F5344CB8AC3E}">
        <p14:creationId xmlns:p14="http://schemas.microsoft.com/office/powerpoint/2010/main" val="1106138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946E6-3D28-79D8-6863-657C112121DF}"/>
              </a:ext>
            </a:extLst>
          </p:cNvPr>
          <p:cNvSpPr>
            <a:spLocks noGrp="1"/>
          </p:cNvSpPr>
          <p:nvPr>
            <p:ph type="title"/>
          </p:nvPr>
        </p:nvSpPr>
        <p:spPr/>
        <p:txBody>
          <a:bodyPr/>
          <a:lstStyle/>
          <a:p>
            <a:r>
              <a:rPr lang="en-US" dirty="0">
                <a:latin typeface="+mj-lt"/>
              </a:rPr>
              <a:t>Some Research Questions</a:t>
            </a:r>
          </a:p>
        </p:txBody>
      </p:sp>
      <p:sp>
        <p:nvSpPr>
          <p:cNvPr id="3" name="Content Placeholder 2">
            <a:extLst>
              <a:ext uri="{FF2B5EF4-FFF2-40B4-BE49-F238E27FC236}">
                <a16:creationId xmlns:a16="http://schemas.microsoft.com/office/drawing/2014/main" id="{87AA9022-0BA8-05FC-1A3A-ACF8CFF9FB9A}"/>
              </a:ext>
            </a:extLst>
          </p:cNvPr>
          <p:cNvSpPr>
            <a:spLocks noGrp="1"/>
          </p:cNvSpPr>
          <p:nvPr>
            <p:ph sz="quarter" idx="13"/>
          </p:nvPr>
        </p:nvSpPr>
        <p:spPr/>
        <p:txBody>
          <a:bodyPr/>
          <a:lstStyle/>
          <a:p>
            <a:pPr lvl="1"/>
            <a:endParaRPr lang="en-US" sz="1600" dirty="0">
              <a:solidFill>
                <a:srgbClr val="000000"/>
              </a:solidFill>
              <a:latin typeface="+mn-lt"/>
            </a:endParaRPr>
          </a:p>
          <a:p>
            <a:r>
              <a:rPr lang="en-US" sz="2400" dirty="0">
                <a:solidFill>
                  <a:srgbClr val="000000"/>
                </a:solidFill>
                <a:latin typeface="+mn-lt"/>
              </a:rPr>
              <a:t>Uploaded in Stadium (Lecture (16/2) - Introduction to Clustering)</a:t>
            </a:r>
            <a:br>
              <a:rPr lang="en-US" sz="2400" b="0" i="0" u="none" strike="noStrike" dirty="0">
                <a:solidFill>
                  <a:srgbClr val="000000"/>
                </a:solidFill>
                <a:effectLst/>
                <a:latin typeface="+mn-lt"/>
              </a:rPr>
            </a:br>
            <a:endParaRPr lang="en-US" sz="2400" dirty="0">
              <a:latin typeface="+mn-lt"/>
            </a:endParaRPr>
          </a:p>
        </p:txBody>
      </p:sp>
    </p:spTree>
    <p:extLst>
      <p:ext uri="{BB962C8B-B14F-4D97-AF65-F5344CB8AC3E}">
        <p14:creationId xmlns:p14="http://schemas.microsoft.com/office/powerpoint/2010/main" val="3845026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6F963-7EA3-24EF-FE5D-1361AC6341E0}"/>
              </a:ext>
            </a:extLst>
          </p:cNvPr>
          <p:cNvSpPr>
            <a:spLocks noGrp="1"/>
          </p:cNvSpPr>
          <p:nvPr>
            <p:ph type="title"/>
          </p:nvPr>
        </p:nvSpPr>
        <p:spPr/>
        <p:txBody>
          <a:bodyPr/>
          <a:lstStyle/>
          <a:p>
            <a:r>
              <a:rPr lang="en-US" dirty="0"/>
              <a:t>A small survey for my Colleague</a:t>
            </a:r>
          </a:p>
        </p:txBody>
      </p:sp>
      <p:sp>
        <p:nvSpPr>
          <p:cNvPr id="3" name="Content Placeholder 2">
            <a:extLst>
              <a:ext uri="{FF2B5EF4-FFF2-40B4-BE49-F238E27FC236}">
                <a16:creationId xmlns:a16="http://schemas.microsoft.com/office/drawing/2014/main" id="{5359DB0A-226B-3881-E4A5-85C1A57A58F7}"/>
              </a:ext>
            </a:extLst>
          </p:cNvPr>
          <p:cNvSpPr>
            <a:spLocks noGrp="1"/>
          </p:cNvSpPr>
          <p:nvPr>
            <p:ph sz="quarter" idx="13"/>
          </p:nvPr>
        </p:nvSpPr>
        <p:spPr/>
        <p:txBody>
          <a:bodyPr/>
          <a:lstStyle/>
          <a:p>
            <a:endParaRPr lang="en-US"/>
          </a:p>
        </p:txBody>
      </p:sp>
      <p:pic>
        <p:nvPicPr>
          <p:cNvPr id="5" name="Picture 4">
            <a:extLst>
              <a:ext uri="{FF2B5EF4-FFF2-40B4-BE49-F238E27FC236}">
                <a16:creationId xmlns:a16="http://schemas.microsoft.com/office/drawing/2014/main" id="{D8054965-4D07-750F-C074-39F2AD04BF2B}"/>
              </a:ext>
            </a:extLst>
          </p:cNvPr>
          <p:cNvPicPr>
            <a:picLocks noChangeAspect="1"/>
          </p:cNvPicPr>
          <p:nvPr/>
        </p:nvPicPr>
        <p:blipFill>
          <a:blip r:embed="rId2"/>
          <a:stretch>
            <a:fillRect/>
          </a:stretch>
        </p:blipFill>
        <p:spPr>
          <a:xfrm>
            <a:off x="3906223" y="2002692"/>
            <a:ext cx="3556000" cy="3556000"/>
          </a:xfrm>
          <a:prstGeom prst="rect">
            <a:avLst/>
          </a:prstGeom>
        </p:spPr>
      </p:pic>
    </p:spTree>
    <p:extLst>
      <p:ext uri="{BB962C8B-B14F-4D97-AF65-F5344CB8AC3E}">
        <p14:creationId xmlns:p14="http://schemas.microsoft.com/office/powerpoint/2010/main" val="1272306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62BB6-6CD1-86D3-32A6-C5B54D29653A}"/>
              </a:ext>
            </a:extLst>
          </p:cNvPr>
          <p:cNvSpPr>
            <a:spLocks noGrp="1"/>
          </p:cNvSpPr>
          <p:nvPr>
            <p:ph sz="quarter" idx="13"/>
          </p:nvPr>
        </p:nvSpPr>
        <p:spPr>
          <a:xfrm>
            <a:off x="4243755" y="3223845"/>
            <a:ext cx="3305908" cy="1172309"/>
          </a:xfrm>
        </p:spPr>
        <p:txBody>
          <a:bodyPr/>
          <a:lstStyle/>
          <a:p>
            <a:pPr marL="0" indent="0">
              <a:buNone/>
            </a:pPr>
            <a:r>
              <a:rPr lang="en-US" sz="4000" b="1" dirty="0">
                <a:latin typeface="+mj-lt"/>
              </a:rPr>
              <a:t>Thank You!</a:t>
            </a:r>
          </a:p>
        </p:txBody>
      </p:sp>
    </p:spTree>
    <p:extLst>
      <p:ext uri="{BB962C8B-B14F-4D97-AF65-F5344CB8AC3E}">
        <p14:creationId xmlns:p14="http://schemas.microsoft.com/office/powerpoint/2010/main" val="3187509780"/>
      </p:ext>
    </p:extLst>
  </p:cSld>
  <p:clrMapOvr>
    <a:masterClrMapping/>
  </p:clrMapOvr>
</p:sld>
</file>

<file path=ppt/theme/theme1.xml><?xml version="1.0" encoding="utf-8"?>
<a:theme xmlns:a="http://schemas.openxmlformats.org/drawingml/2006/main" name="UU theme WHIT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51517022-6A04-3047-861F-6202F67E6C4C}"/>
    </a:ext>
  </a:extLst>
</a:theme>
</file>

<file path=ppt/theme/theme2.xml><?xml version="1.0" encoding="utf-8"?>
<a:theme xmlns:a="http://schemas.openxmlformats.org/drawingml/2006/main" name="UU theme LIGHT GREY">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06400D09-BFF6-9D49-A0E5-E1E12BD6C29E}"/>
    </a:ext>
  </a:extLst>
</a:theme>
</file>

<file path=ppt/theme/theme3.xml><?xml version="1.0" encoding="utf-8"?>
<a:theme xmlns:a="http://schemas.openxmlformats.org/drawingml/2006/main" name="UU theme DARK GREY (NB: for the Humanities Theatr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B4C2C5B9-C070-F341-A63E-5A627FE14C0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UU theme WHITE</Template>
  <TotalTime>5552</TotalTime>
  <Words>2975</Words>
  <Application>Microsoft Macintosh PowerPoint</Application>
  <PresentationFormat>Widescreen</PresentationFormat>
  <Paragraphs>460</Paragraphs>
  <Slides>46</Slides>
  <Notes>4</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46</vt:i4>
      </vt:variant>
    </vt:vector>
  </HeadingPairs>
  <TitlesOfParts>
    <vt:vector size="57" baseType="lpstr">
      <vt:lpstr>Cambria Math</vt:lpstr>
      <vt:lpstr>Google Sans Text</vt:lpstr>
      <vt:lpstr>Calibri</vt:lpstr>
      <vt:lpstr>Work Sans Medium</vt:lpstr>
      <vt:lpstr>Work Sans</vt:lpstr>
      <vt:lpstr>Work Sans SemiBold</vt:lpstr>
      <vt:lpstr>Nunito</vt:lpstr>
      <vt:lpstr>Arial</vt:lpstr>
      <vt:lpstr>UU theme WHITE</vt:lpstr>
      <vt:lpstr>UU theme LIGHT GREY</vt:lpstr>
      <vt:lpstr>UU theme DARK GREY (NB: for the Humanities Theatre)</vt:lpstr>
      <vt:lpstr>Unsupervised Learning:  Clustering</vt:lpstr>
      <vt:lpstr>Intended Learning Outcome</vt:lpstr>
      <vt:lpstr>Supervised vs Unsupervised</vt:lpstr>
      <vt:lpstr>Purpose of Clustering</vt:lpstr>
      <vt:lpstr>Clustering</vt:lpstr>
      <vt:lpstr>Clustering Approaches</vt:lpstr>
      <vt:lpstr>K-Means Clustering</vt:lpstr>
      <vt:lpstr>K-means Clustering</vt:lpstr>
      <vt:lpstr>K-Means Example</vt:lpstr>
      <vt:lpstr>K-Means Example</vt:lpstr>
      <vt:lpstr>Clustering</vt:lpstr>
      <vt:lpstr>Cluster Quality Measurement</vt:lpstr>
      <vt:lpstr>Importance of the Choice of Initial Centroid</vt:lpstr>
      <vt:lpstr>Drawbacks of K-Means Algorithm</vt:lpstr>
      <vt:lpstr>K-Means++</vt:lpstr>
      <vt:lpstr>Example</vt:lpstr>
      <vt:lpstr>Example</vt:lpstr>
      <vt:lpstr>Example</vt:lpstr>
      <vt:lpstr>Example</vt:lpstr>
      <vt:lpstr>K-Means vs K-Means++</vt:lpstr>
      <vt:lpstr>How to Determine K?</vt:lpstr>
      <vt:lpstr>The Elbow Point  </vt:lpstr>
      <vt:lpstr>The Elbow Point  </vt:lpstr>
      <vt:lpstr>Limitations of K-Means: Handling non-Globular Shapes</vt:lpstr>
      <vt:lpstr>Alternatives to K-Means for Non-Globular Clusters </vt:lpstr>
      <vt:lpstr>DBSCAN (Density-Based Spatial Clustering of Applications with Noise)</vt:lpstr>
      <vt:lpstr>DBSCAN: Core, Border and Noise</vt:lpstr>
      <vt:lpstr>Example</vt:lpstr>
      <vt:lpstr>Compute Pair-wise Distance</vt:lpstr>
      <vt:lpstr>Identify Core, Border, and Noise Points</vt:lpstr>
      <vt:lpstr>Cluster Formation</vt:lpstr>
      <vt:lpstr>DBSCAN: Determining EPS and MinPts  </vt:lpstr>
      <vt:lpstr>DBSCAN: Determining EPS and MinPts  </vt:lpstr>
      <vt:lpstr>DBSCAN vs K-Means</vt:lpstr>
      <vt:lpstr>DBSCAN Vs K-Means</vt:lpstr>
      <vt:lpstr>Hierarchical clustering </vt:lpstr>
      <vt:lpstr>Dendogram</vt:lpstr>
      <vt:lpstr>Approaches</vt:lpstr>
      <vt:lpstr>How Do We Measure "Closest"? (Linkage Criteria)</vt:lpstr>
      <vt:lpstr>Example </vt:lpstr>
      <vt:lpstr>Pros and cons </vt:lpstr>
      <vt:lpstr>Computation  Complexity</vt:lpstr>
      <vt:lpstr>PowerPoint Presentation</vt:lpstr>
      <vt:lpstr>Some Research Questions</vt:lpstr>
      <vt:lpstr>A small survey for my Colleague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Sourasekhar Banerjee</dc:creator>
  <cp:lastModifiedBy>Sourasekhar Banerjee</cp:lastModifiedBy>
  <cp:revision>5</cp:revision>
  <dcterms:created xsi:type="dcterms:W3CDTF">2025-02-14T13:13:45Z</dcterms:created>
  <dcterms:modified xsi:type="dcterms:W3CDTF">2026-02-16T12:11:26Z</dcterms:modified>
</cp:coreProperties>
</file>